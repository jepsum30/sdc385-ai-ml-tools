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68" r:id="rId4"/>
  </p:sldMasterIdLst>
  <p:notesMasterIdLst>
    <p:notesMasterId r:id="rId10"/>
  </p:notesMasterIdLst>
  <p:handoutMasterIdLst>
    <p:handoutMasterId r:id="rId11"/>
  </p:handoutMasterIdLst>
  <p:sldIdLst>
    <p:sldId id="2561" r:id="rId5"/>
    <p:sldId id="2563" r:id="rId6"/>
    <p:sldId id="2565" r:id="rId7"/>
    <p:sldId id="2567" r:id="rId8"/>
    <p:sldId id="256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ata Storytelling in Tableau for Different Audiences" id="{75339541-684C-4DBC-8ACF-05C7CD08E47A}">
          <p14:sldIdLst>
            <p14:sldId id="2561"/>
          </p14:sldIdLst>
        </p14:section>
        <p14:section name="Adapting Data Storytelling for Different Audiences" id="{92786219-A978-4E1E-88AB-A8C8D953B3AE}">
          <p14:sldIdLst>
            <p14:sldId id="2563"/>
          </p14:sldIdLst>
        </p14:section>
        <p14:section name="Balancing Visual Appeal with Data Accuracy" id="{7A2A151B-D85C-4D82-8363-F9726F1CC0FA}">
          <p14:sldIdLst>
            <p14:sldId id="2565"/>
          </p14:sldIdLst>
        </p14:section>
        <p14:section name="Ethical Considerations in Data Visualization" id="{DD91D451-1975-4D93-94B8-2C79140B7119}">
          <p14:sldIdLst>
            <p14:sldId id="2567"/>
          </p14:sldIdLst>
        </p14:section>
        <p14:section name="Reducing Miscommunication in Data Stories" id="{4A1BB146-729E-4FFA-895D-72A3407AC4F9}">
          <p14:sldIdLst>
            <p14:sldId id="256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B7F7E2-4BE2-46E7-83D2-9BD232DC13FE}" v="4" dt="2026-03-16T20:20:31.619"/>
    <p1510:client id="{EA03CD95-3A94-D0A4-CE27-49DF3CECA53D}" v="12" dt="2026-03-16T20:14:29.663"/>
    <p1510:client id="{FCD0A2B7-4874-C67A-A1FD-18FF92238FBE}" v="1" dt="2026-03-16T20:16:03.2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16" autoAdjust="0"/>
    <p:restoredTop sz="74092" autoAdjust="0"/>
  </p:normalViewPr>
  <p:slideViewPr>
    <p:cSldViewPr showGuides="1">
      <p:cViewPr varScale="1">
        <p:scale>
          <a:sx n="82" d="100"/>
          <a:sy n="82" d="100"/>
        </p:scale>
        <p:origin x="966" y="84"/>
      </p:cViewPr>
      <p:guideLst>
        <p:guide orient="horz" pos="2160"/>
        <p:guide pos="3840"/>
      </p:guideLst>
    </p:cSldViewPr>
  </p:slideViewPr>
  <p:notesTextViewPr>
    <p:cViewPr>
      <p:scale>
        <a:sx n="1" d="1"/>
        <a:sy n="1" d="1"/>
      </p:scale>
      <p:origin x="0" y="0"/>
    </p:cViewPr>
  </p:notesTextViewPr>
  <p:sorterViewPr>
    <p:cViewPr>
      <p:scale>
        <a:sx n="100" d="100"/>
        <a:sy n="100" d="100"/>
      </p:scale>
      <p:origin x="0" y="-21892"/>
    </p:cViewPr>
  </p:sorterViewPr>
  <p:notesViewPr>
    <p:cSldViewPr>
      <p:cViewPr varScale="1">
        <p:scale>
          <a:sx n="87" d="100"/>
          <a:sy n="87" d="100"/>
        </p:scale>
        <p:origin x="700" y="6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B-Zimmerman-Gibson, Joshua (Virginia Beach)" userId="d08658ba-7f2c-4f82-b12e-30c210e6c7f4" providerId="ADAL" clId="{B7577925-A160-4B5F-A00D-882CCE4A7982}"/>
    <pc:docChg chg="custSel delSld modSld modSection">
      <pc:chgData name="VB-Zimmerman-Gibson, Joshua (Virginia Beach)" userId="d08658ba-7f2c-4f82-b12e-30c210e6c7f4" providerId="ADAL" clId="{B7577925-A160-4B5F-A00D-882CCE4A7982}" dt="2026-03-16T20:20:51.325" v="40" actId="26606"/>
      <pc:docMkLst>
        <pc:docMk/>
      </pc:docMkLst>
      <pc:sldChg chg="addSp modSp mod setBg">
        <pc:chgData name="VB-Zimmerman-Gibson, Joshua (Virginia Beach)" userId="d08658ba-7f2c-4f82-b12e-30c210e6c7f4" providerId="ADAL" clId="{B7577925-A160-4B5F-A00D-882CCE4A7982}" dt="2026-03-16T20:20:51.325" v="40" actId="26606"/>
        <pc:sldMkLst>
          <pc:docMk/>
          <pc:sldMk cId="2760886416" sldId="2561"/>
        </pc:sldMkLst>
        <pc:spChg chg="mod">
          <ac:chgData name="VB-Zimmerman-Gibson, Joshua (Virginia Beach)" userId="d08658ba-7f2c-4f82-b12e-30c210e6c7f4" providerId="ADAL" clId="{B7577925-A160-4B5F-A00D-882CCE4A7982}" dt="2026-03-16T20:20:51.325" v="40" actId="26606"/>
          <ac:spMkLst>
            <pc:docMk/>
            <pc:sldMk cId="2760886416" sldId="2561"/>
            <ac:spMk id="2" creationId="{4101CDD4-CBBC-38E8-9D3C-124FCC206E6C}"/>
          </ac:spMkLst>
        </pc:spChg>
        <pc:spChg chg="mod">
          <ac:chgData name="VB-Zimmerman-Gibson, Joshua (Virginia Beach)" userId="d08658ba-7f2c-4f82-b12e-30c210e6c7f4" providerId="ADAL" clId="{B7577925-A160-4B5F-A00D-882CCE4A7982}" dt="2026-03-16T20:20:51.325" v="40" actId="26606"/>
          <ac:spMkLst>
            <pc:docMk/>
            <pc:sldMk cId="2760886416" sldId="2561"/>
            <ac:spMk id="3" creationId="{52242A54-DCE3-6F8A-D5D8-28477147697D}"/>
          </ac:spMkLst>
        </pc:spChg>
        <pc:spChg chg="mod ord">
          <ac:chgData name="VB-Zimmerman-Gibson, Joshua (Virginia Beach)" userId="d08658ba-7f2c-4f82-b12e-30c210e6c7f4" providerId="ADAL" clId="{B7577925-A160-4B5F-A00D-882CCE4A7982}" dt="2026-03-16T20:20:51.325" v="40" actId="26606"/>
          <ac:spMkLst>
            <pc:docMk/>
            <pc:sldMk cId="2760886416" sldId="2561"/>
            <ac:spMk id="4" creationId="{5D125335-3579-3EB3-DC6F-C574DD072DF0}"/>
          </ac:spMkLst>
        </pc:spChg>
        <pc:spChg chg="mod ord">
          <ac:chgData name="VB-Zimmerman-Gibson, Joshua (Virginia Beach)" userId="d08658ba-7f2c-4f82-b12e-30c210e6c7f4" providerId="ADAL" clId="{B7577925-A160-4B5F-A00D-882CCE4A7982}" dt="2026-03-16T20:20:51.325" v="40" actId="26606"/>
          <ac:spMkLst>
            <pc:docMk/>
            <pc:sldMk cId="2760886416" sldId="2561"/>
            <ac:spMk id="6" creationId="{D15C584D-4B41-45BF-0BC6-3C9199191471}"/>
          </ac:spMkLst>
        </pc:spChg>
        <pc:spChg chg="add">
          <ac:chgData name="VB-Zimmerman-Gibson, Joshua (Virginia Beach)" userId="d08658ba-7f2c-4f82-b12e-30c210e6c7f4" providerId="ADAL" clId="{B7577925-A160-4B5F-A00D-882CCE4A7982}" dt="2026-03-16T20:20:51.325" v="40" actId="26606"/>
          <ac:spMkLst>
            <pc:docMk/>
            <pc:sldMk cId="2760886416" sldId="2561"/>
            <ac:spMk id="12" creationId="{6B25638D-3D06-41D1-8060-4D2707C60AE8}"/>
          </ac:spMkLst>
        </pc:spChg>
        <pc:picChg chg="mod">
          <ac:chgData name="VB-Zimmerman-Gibson, Joshua (Virginia Beach)" userId="d08658ba-7f2c-4f82-b12e-30c210e6c7f4" providerId="ADAL" clId="{B7577925-A160-4B5F-A00D-882CCE4A7982}" dt="2026-03-16T20:20:51.325" v="40" actId="26606"/>
          <ac:picMkLst>
            <pc:docMk/>
            <pc:sldMk cId="2760886416" sldId="2561"/>
            <ac:picMk id="7" creationId="{26DBF30F-A6D6-43FA-9E68-4A5A72E167F3}"/>
          </ac:picMkLst>
        </pc:picChg>
        <pc:picChg chg="add">
          <ac:chgData name="VB-Zimmerman-Gibson, Joshua (Virginia Beach)" userId="d08658ba-7f2c-4f82-b12e-30c210e6c7f4" providerId="ADAL" clId="{B7577925-A160-4B5F-A00D-882CCE4A7982}" dt="2026-03-16T20:20:51.325" v="40" actId="26606"/>
          <ac:picMkLst>
            <pc:docMk/>
            <pc:sldMk cId="2760886416" sldId="2561"/>
            <ac:picMk id="14" creationId="{8161BB1E-0062-4056-AB94-121EF614D5FB}"/>
          </ac:picMkLst>
        </pc:picChg>
        <pc:cxnChg chg="add">
          <ac:chgData name="VB-Zimmerman-Gibson, Joshua (Virginia Beach)" userId="d08658ba-7f2c-4f82-b12e-30c210e6c7f4" providerId="ADAL" clId="{B7577925-A160-4B5F-A00D-882CCE4A7982}" dt="2026-03-16T20:20:51.325" v="40" actId="26606"/>
          <ac:cxnSpMkLst>
            <pc:docMk/>
            <pc:sldMk cId="2760886416" sldId="2561"/>
            <ac:cxnSpMk id="16" creationId="{8FBC01E2-D629-4319-B5CB-BFA461B8CF30}"/>
          </ac:cxnSpMkLst>
        </pc:cxnChg>
      </pc:sldChg>
      <pc:sldChg chg="delSp del mod">
        <pc:chgData name="VB-Zimmerman-Gibson, Joshua (Virginia Beach)" userId="d08658ba-7f2c-4f82-b12e-30c210e6c7f4" providerId="ADAL" clId="{B7577925-A160-4B5F-A00D-882CCE4A7982}" dt="2026-03-16T20:17:41.336" v="2" actId="47"/>
        <pc:sldMkLst>
          <pc:docMk/>
          <pc:sldMk cId="3155399895" sldId="2562"/>
        </pc:sldMkLst>
        <pc:spChg chg="del">
          <ac:chgData name="VB-Zimmerman-Gibson, Joshua (Virginia Beach)" userId="d08658ba-7f2c-4f82-b12e-30c210e6c7f4" providerId="ADAL" clId="{B7577925-A160-4B5F-A00D-882CCE4A7982}" dt="2026-03-16T20:16:58.991" v="0" actId="478"/>
          <ac:spMkLst>
            <pc:docMk/>
            <pc:sldMk cId="3155399895" sldId="2562"/>
            <ac:spMk id="5" creationId="{0333B9AC-19A7-5F52-A148-EAA08B58116B}"/>
          </ac:spMkLst>
        </pc:spChg>
      </pc:sldChg>
      <pc:sldChg chg="addSp delSp modSp mod setBg modNotesTx">
        <pc:chgData name="VB-Zimmerman-Gibson, Joshua (Virginia Beach)" userId="d08658ba-7f2c-4f82-b12e-30c210e6c7f4" providerId="ADAL" clId="{B7577925-A160-4B5F-A00D-882CCE4A7982}" dt="2026-03-16T20:20:42.744" v="39" actId="26606"/>
        <pc:sldMkLst>
          <pc:docMk/>
          <pc:sldMk cId="1155029176" sldId="2563"/>
        </pc:sldMkLst>
        <pc:spChg chg="mod">
          <ac:chgData name="VB-Zimmerman-Gibson, Joshua (Virginia Beach)" userId="d08658ba-7f2c-4f82-b12e-30c210e6c7f4" providerId="ADAL" clId="{B7577925-A160-4B5F-A00D-882CCE4A7982}" dt="2026-03-16T20:20:42.744" v="39" actId="26606"/>
          <ac:spMkLst>
            <pc:docMk/>
            <pc:sldMk cId="1155029176" sldId="2563"/>
            <ac:spMk id="2" creationId="{0FF15B0F-2C45-6AD4-D63F-79C27356E251}"/>
          </ac:spMkLst>
        </pc:spChg>
        <pc:spChg chg="mod">
          <ac:chgData name="VB-Zimmerman-Gibson, Joshua (Virginia Beach)" userId="d08658ba-7f2c-4f82-b12e-30c210e6c7f4" providerId="ADAL" clId="{B7577925-A160-4B5F-A00D-882CCE4A7982}" dt="2026-03-16T20:20:42.744" v="39" actId="26606"/>
          <ac:spMkLst>
            <pc:docMk/>
            <pc:sldMk cId="1155029176" sldId="2563"/>
            <ac:spMk id="3" creationId="{50C805A4-7583-2C34-307A-E53CBEA93B24}"/>
          </ac:spMkLst>
        </pc:spChg>
        <pc:spChg chg="del">
          <ac:chgData name="VB-Zimmerman-Gibson, Joshua (Virginia Beach)" userId="d08658ba-7f2c-4f82-b12e-30c210e6c7f4" providerId="ADAL" clId="{B7577925-A160-4B5F-A00D-882CCE4A7982}" dt="2026-03-16T20:18:14.582" v="7" actId="478"/>
          <ac:spMkLst>
            <pc:docMk/>
            <pc:sldMk cId="1155029176" sldId="2563"/>
            <ac:spMk id="4" creationId="{C59270F2-2493-E2E4-76D1-C3C3B6F66B3E}"/>
          </ac:spMkLst>
        </pc:spChg>
        <pc:spChg chg="mod ord">
          <ac:chgData name="VB-Zimmerman-Gibson, Joshua (Virginia Beach)" userId="d08658ba-7f2c-4f82-b12e-30c210e6c7f4" providerId="ADAL" clId="{B7577925-A160-4B5F-A00D-882CCE4A7982}" dt="2026-03-16T20:20:42.744" v="39" actId="26606"/>
          <ac:spMkLst>
            <pc:docMk/>
            <pc:sldMk cId="1155029176" sldId="2563"/>
            <ac:spMk id="5" creationId="{E423D94B-873A-72AB-9321-C7BCA472344A}"/>
          </ac:spMkLst>
        </pc:spChg>
        <pc:spChg chg="mod">
          <ac:chgData name="VB-Zimmerman-Gibson, Joshua (Virginia Beach)" userId="d08658ba-7f2c-4f82-b12e-30c210e6c7f4" providerId="ADAL" clId="{B7577925-A160-4B5F-A00D-882CCE4A7982}" dt="2026-03-16T20:20:42.744" v="39" actId="26606"/>
          <ac:spMkLst>
            <pc:docMk/>
            <pc:sldMk cId="1155029176" sldId="2563"/>
            <ac:spMk id="7" creationId="{DA54CECB-305C-B3CD-06CB-AD6265C09E0B}"/>
          </ac:spMkLst>
        </pc:spChg>
        <pc:spChg chg="add">
          <ac:chgData name="VB-Zimmerman-Gibson, Joshua (Virginia Beach)" userId="d08658ba-7f2c-4f82-b12e-30c210e6c7f4" providerId="ADAL" clId="{B7577925-A160-4B5F-A00D-882CCE4A7982}" dt="2026-03-16T20:20:42.744" v="39" actId="26606"/>
          <ac:spMkLst>
            <pc:docMk/>
            <pc:sldMk cId="1155029176" sldId="2563"/>
            <ac:spMk id="13" creationId="{6B25638D-3D06-41D1-8060-4D2707C60AE8}"/>
          </ac:spMkLst>
        </pc:spChg>
        <pc:spChg chg="add">
          <ac:chgData name="VB-Zimmerman-Gibson, Joshua (Virginia Beach)" userId="d08658ba-7f2c-4f82-b12e-30c210e6c7f4" providerId="ADAL" clId="{B7577925-A160-4B5F-A00D-882CCE4A7982}" dt="2026-03-16T20:20:42.744" v="39" actId="26606"/>
          <ac:spMkLst>
            <pc:docMk/>
            <pc:sldMk cId="1155029176" sldId="2563"/>
            <ac:spMk id="23" creationId="{BBA14764-1628-4557-885B-37A1F9EA25BD}"/>
          </ac:spMkLst>
        </pc:spChg>
        <pc:grpChg chg="add">
          <ac:chgData name="VB-Zimmerman-Gibson, Joshua (Virginia Beach)" userId="d08658ba-7f2c-4f82-b12e-30c210e6c7f4" providerId="ADAL" clId="{B7577925-A160-4B5F-A00D-882CCE4A7982}" dt="2026-03-16T20:20:42.744" v="39" actId="26606"/>
          <ac:grpSpMkLst>
            <pc:docMk/>
            <pc:sldMk cId="1155029176" sldId="2563"/>
            <ac:grpSpMk id="19" creationId="{09BCA6F7-A3DB-45DF-B6E8-8B7BBB37EC28}"/>
          </ac:grpSpMkLst>
        </pc:grpChg>
        <pc:picChg chg="mod ord">
          <ac:chgData name="VB-Zimmerman-Gibson, Joshua (Virginia Beach)" userId="d08658ba-7f2c-4f82-b12e-30c210e6c7f4" providerId="ADAL" clId="{B7577925-A160-4B5F-A00D-882CCE4A7982}" dt="2026-03-16T20:20:42.744" v="39" actId="26606"/>
          <ac:picMkLst>
            <pc:docMk/>
            <pc:sldMk cId="1155029176" sldId="2563"/>
            <ac:picMk id="8" creationId="{897C4195-60C5-48A4-A7F3-B0FDDAD9CF45}"/>
          </ac:picMkLst>
        </pc:picChg>
        <pc:picChg chg="add">
          <ac:chgData name="VB-Zimmerman-Gibson, Joshua (Virginia Beach)" userId="d08658ba-7f2c-4f82-b12e-30c210e6c7f4" providerId="ADAL" clId="{B7577925-A160-4B5F-A00D-882CCE4A7982}" dt="2026-03-16T20:20:42.744" v="39" actId="26606"/>
          <ac:picMkLst>
            <pc:docMk/>
            <pc:sldMk cId="1155029176" sldId="2563"/>
            <ac:picMk id="15" creationId="{8161BB1E-0062-4056-AB94-121EF614D5FB}"/>
          </ac:picMkLst>
        </pc:picChg>
        <pc:cxnChg chg="add">
          <ac:chgData name="VB-Zimmerman-Gibson, Joshua (Virginia Beach)" userId="d08658ba-7f2c-4f82-b12e-30c210e6c7f4" providerId="ADAL" clId="{B7577925-A160-4B5F-A00D-882CCE4A7982}" dt="2026-03-16T20:20:42.744" v="39" actId="26606"/>
          <ac:cxnSpMkLst>
            <pc:docMk/>
            <pc:sldMk cId="1155029176" sldId="2563"/>
            <ac:cxnSpMk id="17" creationId="{8FBC01E2-D629-4319-B5CB-BFA461B8CF30}"/>
          </ac:cxnSpMkLst>
        </pc:cxnChg>
      </pc:sldChg>
      <pc:sldChg chg="del">
        <pc:chgData name="VB-Zimmerman-Gibson, Joshua (Virginia Beach)" userId="d08658ba-7f2c-4f82-b12e-30c210e6c7f4" providerId="ADAL" clId="{B7577925-A160-4B5F-A00D-882CCE4A7982}" dt="2026-03-16T20:17:45.180" v="3" actId="47"/>
        <pc:sldMkLst>
          <pc:docMk/>
          <pc:sldMk cId="2525830875" sldId="2564"/>
        </pc:sldMkLst>
      </pc:sldChg>
      <pc:sldChg chg="addSp delSp modSp mod setBg modNotesTx">
        <pc:chgData name="VB-Zimmerman-Gibson, Joshua (Virginia Beach)" userId="d08658ba-7f2c-4f82-b12e-30c210e6c7f4" providerId="ADAL" clId="{B7577925-A160-4B5F-A00D-882CCE4A7982}" dt="2026-03-16T20:20:31.619" v="38" actId="255"/>
        <pc:sldMkLst>
          <pc:docMk/>
          <pc:sldMk cId="3224973348" sldId="2565"/>
        </pc:sldMkLst>
        <pc:spChg chg="mod">
          <ac:chgData name="VB-Zimmerman-Gibson, Joshua (Virginia Beach)" userId="d08658ba-7f2c-4f82-b12e-30c210e6c7f4" providerId="ADAL" clId="{B7577925-A160-4B5F-A00D-882CCE4A7982}" dt="2026-03-16T20:20:17.655" v="35" actId="1076"/>
          <ac:spMkLst>
            <pc:docMk/>
            <pc:sldMk cId="3224973348" sldId="2565"/>
            <ac:spMk id="2" creationId="{9839D1FD-B95D-CDA9-CDAF-5EEC747C1BB9}"/>
          </ac:spMkLst>
        </pc:spChg>
        <pc:spChg chg="mod ord">
          <ac:chgData name="VB-Zimmerman-Gibson, Joshua (Virginia Beach)" userId="d08658ba-7f2c-4f82-b12e-30c210e6c7f4" providerId="ADAL" clId="{B7577925-A160-4B5F-A00D-882CCE4A7982}" dt="2026-03-16T20:20:10.410" v="34" actId="26606"/>
          <ac:spMkLst>
            <pc:docMk/>
            <pc:sldMk cId="3224973348" sldId="2565"/>
            <ac:spMk id="3" creationId="{A9A76F3D-C1DB-F9BE-CE57-A1AB2213EE8E}"/>
          </ac:spMkLst>
        </pc:spChg>
        <pc:spChg chg="del mod">
          <ac:chgData name="VB-Zimmerman-Gibson, Joshua (Virginia Beach)" userId="d08658ba-7f2c-4f82-b12e-30c210e6c7f4" providerId="ADAL" clId="{B7577925-A160-4B5F-A00D-882CCE4A7982}" dt="2026-03-16T20:18:19.517" v="9" actId="478"/>
          <ac:spMkLst>
            <pc:docMk/>
            <pc:sldMk cId="3224973348" sldId="2565"/>
            <ac:spMk id="4" creationId="{C99B76BD-5AAD-0481-FE9B-2D831BB81EE1}"/>
          </ac:spMkLst>
        </pc:spChg>
        <pc:spChg chg="mod ord">
          <ac:chgData name="VB-Zimmerman-Gibson, Joshua (Virginia Beach)" userId="d08658ba-7f2c-4f82-b12e-30c210e6c7f4" providerId="ADAL" clId="{B7577925-A160-4B5F-A00D-882CCE4A7982}" dt="2026-03-16T20:20:10.410" v="34" actId="26606"/>
          <ac:spMkLst>
            <pc:docMk/>
            <pc:sldMk cId="3224973348" sldId="2565"/>
            <ac:spMk id="5" creationId="{7E5A0A8A-8A9E-0CD0-7F77-130A0C04925D}"/>
          </ac:spMkLst>
        </pc:spChg>
        <pc:spChg chg="mod">
          <ac:chgData name="VB-Zimmerman-Gibson, Joshua (Virginia Beach)" userId="d08658ba-7f2c-4f82-b12e-30c210e6c7f4" providerId="ADAL" clId="{B7577925-A160-4B5F-A00D-882CCE4A7982}" dt="2026-03-16T20:20:31.619" v="38" actId="255"/>
          <ac:spMkLst>
            <pc:docMk/>
            <pc:sldMk cId="3224973348" sldId="2565"/>
            <ac:spMk id="7" creationId="{6C155A64-70EF-AFB1-966E-1C5101D1EF4C}"/>
          </ac:spMkLst>
        </pc:spChg>
        <pc:spChg chg="add">
          <ac:chgData name="VB-Zimmerman-Gibson, Joshua (Virginia Beach)" userId="d08658ba-7f2c-4f82-b12e-30c210e6c7f4" providerId="ADAL" clId="{B7577925-A160-4B5F-A00D-882CCE4A7982}" dt="2026-03-16T20:20:10.410" v="34" actId="26606"/>
          <ac:spMkLst>
            <pc:docMk/>
            <pc:sldMk cId="3224973348" sldId="2565"/>
            <ac:spMk id="13" creationId="{130B326A-C054-4820-AFCA-FCB009ABC693}"/>
          </ac:spMkLst>
        </pc:spChg>
        <pc:grpChg chg="add">
          <ac:chgData name="VB-Zimmerman-Gibson, Joshua (Virginia Beach)" userId="d08658ba-7f2c-4f82-b12e-30c210e6c7f4" providerId="ADAL" clId="{B7577925-A160-4B5F-A00D-882CCE4A7982}" dt="2026-03-16T20:20:10.410" v="34" actId="26606"/>
          <ac:grpSpMkLst>
            <pc:docMk/>
            <pc:sldMk cId="3224973348" sldId="2565"/>
            <ac:grpSpMk id="19" creationId="{EB69A38F-B342-48D1-884F-03267367F46D}"/>
          </ac:grpSpMkLst>
        </pc:grpChg>
        <pc:picChg chg="mod">
          <ac:chgData name="VB-Zimmerman-Gibson, Joshua (Virginia Beach)" userId="d08658ba-7f2c-4f82-b12e-30c210e6c7f4" providerId="ADAL" clId="{B7577925-A160-4B5F-A00D-882CCE4A7982}" dt="2026-03-16T20:20:10.410" v="34" actId="26606"/>
          <ac:picMkLst>
            <pc:docMk/>
            <pc:sldMk cId="3224973348" sldId="2565"/>
            <ac:picMk id="8" creationId="{B3908AEB-D195-4E9C-98E7-EE66AFA09C58}"/>
          </ac:picMkLst>
        </pc:picChg>
        <pc:picChg chg="add">
          <ac:chgData name="VB-Zimmerman-Gibson, Joshua (Virginia Beach)" userId="d08658ba-7f2c-4f82-b12e-30c210e6c7f4" providerId="ADAL" clId="{B7577925-A160-4B5F-A00D-882CCE4A7982}" dt="2026-03-16T20:20:10.410" v="34" actId="26606"/>
          <ac:picMkLst>
            <pc:docMk/>
            <pc:sldMk cId="3224973348" sldId="2565"/>
            <ac:picMk id="15" creationId="{E265DFC7-1B2A-4A32-9C43-C48EA6FF6140}"/>
          </ac:picMkLst>
        </pc:picChg>
        <pc:cxnChg chg="add">
          <ac:chgData name="VB-Zimmerman-Gibson, Joshua (Virginia Beach)" userId="d08658ba-7f2c-4f82-b12e-30c210e6c7f4" providerId="ADAL" clId="{B7577925-A160-4B5F-A00D-882CCE4A7982}" dt="2026-03-16T20:20:10.410" v="34" actId="26606"/>
          <ac:cxnSpMkLst>
            <pc:docMk/>
            <pc:sldMk cId="3224973348" sldId="2565"/>
            <ac:cxnSpMk id="17" creationId="{853B328C-A402-44DE-AABB-9BFBB6617629}"/>
          </ac:cxnSpMkLst>
        </pc:cxnChg>
      </pc:sldChg>
      <pc:sldChg chg="del">
        <pc:chgData name="VB-Zimmerman-Gibson, Joshua (Virginia Beach)" userId="d08658ba-7f2c-4f82-b12e-30c210e6c7f4" providerId="ADAL" clId="{B7577925-A160-4B5F-A00D-882CCE4A7982}" dt="2026-03-16T20:18:04.184" v="5" actId="47"/>
        <pc:sldMkLst>
          <pc:docMk/>
          <pc:sldMk cId="355661446" sldId="2566"/>
        </pc:sldMkLst>
      </pc:sldChg>
      <pc:sldChg chg="addSp delSp modSp mod setBg">
        <pc:chgData name="VB-Zimmerman-Gibson, Joshua (Virginia Beach)" userId="d08658ba-7f2c-4f82-b12e-30c210e6c7f4" providerId="ADAL" clId="{B7577925-A160-4B5F-A00D-882CCE4A7982}" dt="2026-03-16T20:20:03.315" v="33" actId="26606"/>
        <pc:sldMkLst>
          <pc:docMk/>
          <pc:sldMk cId="3899430521" sldId="2567"/>
        </pc:sldMkLst>
        <pc:spChg chg="mod">
          <ac:chgData name="VB-Zimmerman-Gibson, Joshua (Virginia Beach)" userId="d08658ba-7f2c-4f82-b12e-30c210e6c7f4" providerId="ADAL" clId="{B7577925-A160-4B5F-A00D-882CCE4A7982}" dt="2026-03-16T20:20:03.315" v="33" actId="26606"/>
          <ac:spMkLst>
            <pc:docMk/>
            <pc:sldMk cId="3899430521" sldId="2567"/>
            <ac:spMk id="2" creationId="{82773B91-4AF7-1542-04CC-19065763CC5F}"/>
          </ac:spMkLst>
        </pc:spChg>
        <pc:spChg chg="mod ord">
          <ac:chgData name="VB-Zimmerman-Gibson, Joshua (Virginia Beach)" userId="d08658ba-7f2c-4f82-b12e-30c210e6c7f4" providerId="ADAL" clId="{B7577925-A160-4B5F-A00D-882CCE4A7982}" dt="2026-03-16T20:20:03.315" v="33" actId="26606"/>
          <ac:spMkLst>
            <pc:docMk/>
            <pc:sldMk cId="3899430521" sldId="2567"/>
            <ac:spMk id="3" creationId="{D2552BFD-782C-FE2E-9A36-0EF0FAB62427}"/>
          </ac:spMkLst>
        </pc:spChg>
        <pc:spChg chg="del">
          <ac:chgData name="VB-Zimmerman-Gibson, Joshua (Virginia Beach)" userId="d08658ba-7f2c-4f82-b12e-30c210e6c7f4" providerId="ADAL" clId="{B7577925-A160-4B5F-A00D-882CCE4A7982}" dt="2026-03-16T20:18:22.381" v="10" actId="478"/>
          <ac:spMkLst>
            <pc:docMk/>
            <pc:sldMk cId="3899430521" sldId="2567"/>
            <ac:spMk id="4" creationId="{E8E0D0A7-66D5-B75B-597E-FBB7046E4C88}"/>
          </ac:spMkLst>
        </pc:spChg>
        <pc:spChg chg="mod">
          <ac:chgData name="VB-Zimmerman-Gibson, Joshua (Virginia Beach)" userId="d08658ba-7f2c-4f82-b12e-30c210e6c7f4" providerId="ADAL" clId="{B7577925-A160-4B5F-A00D-882CCE4A7982}" dt="2026-03-16T20:20:03.315" v="33" actId="26606"/>
          <ac:spMkLst>
            <pc:docMk/>
            <pc:sldMk cId="3899430521" sldId="2567"/>
            <ac:spMk id="5" creationId="{32F8CB04-10BA-49FF-D8F2-1032EC848F4F}"/>
          </ac:spMkLst>
        </pc:spChg>
        <pc:spChg chg="mod">
          <ac:chgData name="VB-Zimmerman-Gibson, Joshua (Virginia Beach)" userId="d08658ba-7f2c-4f82-b12e-30c210e6c7f4" providerId="ADAL" clId="{B7577925-A160-4B5F-A00D-882CCE4A7982}" dt="2026-03-16T20:20:03.315" v="33" actId="26606"/>
          <ac:spMkLst>
            <pc:docMk/>
            <pc:sldMk cId="3899430521" sldId="2567"/>
            <ac:spMk id="7" creationId="{6B15D0FC-26DA-6853-862D-6B1A25C30680}"/>
          </ac:spMkLst>
        </pc:spChg>
        <pc:spChg chg="add">
          <ac:chgData name="VB-Zimmerman-Gibson, Joshua (Virginia Beach)" userId="d08658ba-7f2c-4f82-b12e-30c210e6c7f4" providerId="ADAL" clId="{B7577925-A160-4B5F-A00D-882CCE4A7982}" dt="2026-03-16T20:20:03.315" v="33" actId="26606"/>
          <ac:spMkLst>
            <pc:docMk/>
            <pc:sldMk cId="3899430521" sldId="2567"/>
            <ac:spMk id="13" creationId="{130B326A-C054-4820-AFCA-FCB009ABC693}"/>
          </ac:spMkLst>
        </pc:spChg>
        <pc:grpChg chg="add">
          <ac:chgData name="VB-Zimmerman-Gibson, Joshua (Virginia Beach)" userId="d08658ba-7f2c-4f82-b12e-30c210e6c7f4" providerId="ADAL" clId="{B7577925-A160-4B5F-A00D-882CCE4A7982}" dt="2026-03-16T20:20:03.315" v="33" actId="26606"/>
          <ac:grpSpMkLst>
            <pc:docMk/>
            <pc:sldMk cId="3899430521" sldId="2567"/>
            <ac:grpSpMk id="19" creationId="{072F63BA-7537-485F-BFCA-EA001ED44689}"/>
          </ac:grpSpMkLst>
        </pc:grpChg>
        <pc:picChg chg="mod">
          <ac:chgData name="VB-Zimmerman-Gibson, Joshua (Virginia Beach)" userId="d08658ba-7f2c-4f82-b12e-30c210e6c7f4" providerId="ADAL" clId="{B7577925-A160-4B5F-A00D-882CCE4A7982}" dt="2026-03-16T20:20:03.315" v="33" actId="26606"/>
          <ac:picMkLst>
            <pc:docMk/>
            <pc:sldMk cId="3899430521" sldId="2567"/>
            <ac:picMk id="8" creationId="{1DD78D77-CA7B-49AA-94B5-528DE437FCD9}"/>
          </ac:picMkLst>
        </pc:picChg>
        <pc:picChg chg="add">
          <ac:chgData name="VB-Zimmerman-Gibson, Joshua (Virginia Beach)" userId="d08658ba-7f2c-4f82-b12e-30c210e6c7f4" providerId="ADAL" clId="{B7577925-A160-4B5F-A00D-882CCE4A7982}" dt="2026-03-16T20:20:03.315" v="33" actId="26606"/>
          <ac:picMkLst>
            <pc:docMk/>
            <pc:sldMk cId="3899430521" sldId="2567"/>
            <ac:picMk id="15" creationId="{E265DFC7-1B2A-4A32-9C43-C48EA6FF6140}"/>
          </ac:picMkLst>
        </pc:picChg>
        <pc:cxnChg chg="add">
          <ac:chgData name="VB-Zimmerman-Gibson, Joshua (Virginia Beach)" userId="d08658ba-7f2c-4f82-b12e-30c210e6c7f4" providerId="ADAL" clId="{B7577925-A160-4B5F-A00D-882CCE4A7982}" dt="2026-03-16T20:20:03.315" v="33" actId="26606"/>
          <ac:cxnSpMkLst>
            <pc:docMk/>
            <pc:sldMk cId="3899430521" sldId="2567"/>
            <ac:cxnSpMk id="17" creationId="{853B328C-A402-44DE-AABB-9BFBB6617629}"/>
          </ac:cxnSpMkLst>
        </pc:cxnChg>
      </pc:sldChg>
      <pc:sldChg chg="del">
        <pc:chgData name="VB-Zimmerman-Gibson, Joshua (Virginia Beach)" userId="d08658ba-7f2c-4f82-b12e-30c210e6c7f4" providerId="ADAL" clId="{B7577925-A160-4B5F-A00D-882CCE4A7982}" dt="2026-03-16T20:18:07.425" v="6" actId="47"/>
        <pc:sldMkLst>
          <pc:docMk/>
          <pc:sldMk cId="302243806" sldId="2568"/>
        </pc:sldMkLst>
      </pc:sldChg>
      <pc:sldChg chg="addSp delSp modSp mod setBg">
        <pc:chgData name="VB-Zimmerman-Gibson, Joshua (Virginia Beach)" userId="d08658ba-7f2c-4f82-b12e-30c210e6c7f4" providerId="ADAL" clId="{B7577925-A160-4B5F-A00D-882CCE4A7982}" dt="2026-03-16T20:19:44.277" v="32" actId="26606"/>
        <pc:sldMkLst>
          <pc:docMk/>
          <pc:sldMk cId="1445777752" sldId="2569"/>
        </pc:sldMkLst>
        <pc:spChg chg="mod">
          <ac:chgData name="VB-Zimmerman-Gibson, Joshua (Virginia Beach)" userId="d08658ba-7f2c-4f82-b12e-30c210e6c7f4" providerId="ADAL" clId="{B7577925-A160-4B5F-A00D-882CCE4A7982}" dt="2026-03-16T20:19:44.277" v="32" actId="26606"/>
          <ac:spMkLst>
            <pc:docMk/>
            <pc:sldMk cId="1445777752" sldId="2569"/>
            <ac:spMk id="2" creationId="{D4428914-A78A-4B89-144D-72DB8602E15C}"/>
          </ac:spMkLst>
        </pc:spChg>
        <pc:spChg chg="mod ord">
          <ac:chgData name="VB-Zimmerman-Gibson, Joshua (Virginia Beach)" userId="d08658ba-7f2c-4f82-b12e-30c210e6c7f4" providerId="ADAL" clId="{B7577925-A160-4B5F-A00D-882CCE4A7982}" dt="2026-03-16T20:19:44.277" v="32" actId="26606"/>
          <ac:spMkLst>
            <pc:docMk/>
            <pc:sldMk cId="1445777752" sldId="2569"/>
            <ac:spMk id="3" creationId="{FD36F5EB-938D-06E9-332D-DF8E1819A8B8}"/>
          </ac:spMkLst>
        </pc:spChg>
        <pc:spChg chg="del">
          <ac:chgData name="VB-Zimmerman-Gibson, Joshua (Virginia Beach)" userId="d08658ba-7f2c-4f82-b12e-30c210e6c7f4" providerId="ADAL" clId="{B7577925-A160-4B5F-A00D-882CCE4A7982}" dt="2026-03-16T20:18:26.789" v="11" actId="478"/>
          <ac:spMkLst>
            <pc:docMk/>
            <pc:sldMk cId="1445777752" sldId="2569"/>
            <ac:spMk id="4" creationId="{3279160E-3330-5E6A-657E-BB18FCAF48A0}"/>
          </ac:spMkLst>
        </pc:spChg>
        <pc:spChg chg="mod">
          <ac:chgData name="VB-Zimmerman-Gibson, Joshua (Virginia Beach)" userId="d08658ba-7f2c-4f82-b12e-30c210e6c7f4" providerId="ADAL" clId="{B7577925-A160-4B5F-A00D-882CCE4A7982}" dt="2026-03-16T20:19:44.277" v="32" actId="26606"/>
          <ac:spMkLst>
            <pc:docMk/>
            <pc:sldMk cId="1445777752" sldId="2569"/>
            <ac:spMk id="5" creationId="{856952FC-D972-A081-642B-9005DD521D07}"/>
          </ac:spMkLst>
        </pc:spChg>
        <pc:spChg chg="mod">
          <ac:chgData name="VB-Zimmerman-Gibson, Joshua (Virginia Beach)" userId="d08658ba-7f2c-4f82-b12e-30c210e6c7f4" providerId="ADAL" clId="{B7577925-A160-4B5F-A00D-882CCE4A7982}" dt="2026-03-16T20:19:44.277" v="32" actId="26606"/>
          <ac:spMkLst>
            <pc:docMk/>
            <pc:sldMk cId="1445777752" sldId="2569"/>
            <ac:spMk id="7" creationId="{56799308-8FCB-3736-FB91-B2D9922E1754}"/>
          </ac:spMkLst>
        </pc:spChg>
        <pc:spChg chg="add">
          <ac:chgData name="VB-Zimmerman-Gibson, Joshua (Virginia Beach)" userId="d08658ba-7f2c-4f82-b12e-30c210e6c7f4" providerId="ADAL" clId="{B7577925-A160-4B5F-A00D-882CCE4A7982}" dt="2026-03-16T20:19:44.277" v="32" actId="26606"/>
          <ac:spMkLst>
            <pc:docMk/>
            <pc:sldMk cId="1445777752" sldId="2569"/>
            <ac:spMk id="13" creationId="{6B25638D-3D06-41D1-8060-4D2707C60AE8}"/>
          </ac:spMkLst>
        </pc:spChg>
        <pc:spChg chg="add">
          <ac:chgData name="VB-Zimmerman-Gibson, Joshua (Virginia Beach)" userId="d08658ba-7f2c-4f82-b12e-30c210e6c7f4" providerId="ADAL" clId="{B7577925-A160-4B5F-A00D-882CCE4A7982}" dt="2026-03-16T20:19:44.277" v="32" actId="26606"/>
          <ac:spMkLst>
            <pc:docMk/>
            <pc:sldMk cId="1445777752" sldId="2569"/>
            <ac:spMk id="23" creationId="{58A88787-97A0-4D42-8248-4034B8224186}"/>
          </ac:spMkLst>
        </pc:spChg>
        <pc:grpChg chg="add">
          <ac:chgData name="VB-Zimmerman-Gibson, Joshua (Virginia Beach)" userId="d08658ba-7f2c-4f82-b12e-30c210e6c7f4" providerId="ADAL" clId="{B7577925-A160-4B5F-A00D-882CCE4A7982}" dt="2026-03-16T20:19:44.277" v="32" actId="26606"/>
          <ac:grpSpMkLst>
            <pc:docMk/>
            <pc:sldMk cId="1445777752" sldId="2569"/>
            <ac:grpSpMk id="19" creationId="{E46ADE2F-622A-49F7-B01E-89B88DFDBA05}"/>
          </ac:grpSpMkLst>
        </pc:grpChg>
        <pc:picChg chg="mod ord">
          <ac:chgData name="VB-Zimmerman-Gibson, Joshua (Virginia Beach)" userId="d08658ba-7f2c-4f82-b12e-30c210e6c7f4" providerId="ADAL" clId="{B7577925-A160-4B5F-A00D-882CCE4A7982}" dt="2026-03-16T20:19:44.277" v="32" actId="26606"/>
          <ac:picMkLst>
            <pc:docMk/>
            <pc:sldMk cId="1445777752" sldId="2569"/>
            <ac:picMk id="8" creationId="{AB10B647-F2A8-4EEE-8B54-EC4ACBC4BFDB}"/>
          </ac:picMkLst>
        </pc:picChg>
        <pc:picChg chg="add">
          <ac:chgData name="VB-Zimmerman-Gibson, Joshua (Virginia Beach)" userId="d08658ba-7f2c-4f82-b12e-30c210e6c7f4" providerId="ADAL" clId="{B7577925-A160-4B5F-A00D-882CCE4A7982}" dt="2026-03-16T20:19:44.277" v="32" actId="26606"/>
          <ac:picMkLst>
            <pc:docMk/>
            <pc:sldMk cId="1445777752" sldId="2569"/>
            <ac:picMk id="15" creationId="{8161BB1E-0062-4056-AB94-121EF614D5FB}"/>
          </ac:picMkLst>
        </pc:picChg>
        <pc:cxnChg chg="add">
          <ac:chgData name="VB-Zimmerman-Gibson, Joshua (Virginia Beach)" userId="d08658ba-7f2c-4f82-b12e-30c210e6c7f4" providerId="ADAL" clId="{B7577925-A160-4B5F-A00D-882CCE4A7982}" dt="2026-03-16T20:19:44.277" v="32" actId="26606"/>
          <ac:cxnSpMkLst>
            <pc:docMk/>
            <pc:sldMk cId="1445777752" sldId="2569"/>
            <ac:cxnSpMk id="17" creationId="{8FBC01E2-D629-4319-B5CB-BFA461B8CF30}"/>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3/16/2026</a:t>
            </a:fld>
            <a:endParaRPr lang="en-US" dirty="0"/>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dirty="0"/>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3/16/2026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dirty="0"/>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dirty="0"/>
          </a:p>
        </p:txBody>
      </p:sp>
    </p:spTree>
    <p:extLst>
      <p:ext uri="{BB962C8B-B14F-4D97-AF65-F5344CB8AC3E}">
        <p14:creationId xmlns:p14="http://schemas.microsoft.com/office/powerpoint/2010/main" val="3749275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When creating data stories in Tableau, it is important to tailor the message to match the knowledge level, goals, and time constraints of the audience. Executives typically need high-level insights that support strategic decision-making. For this audience, dashboards should focus on key performance indicators (KPIs), overall trends, and clear summaries rather than detailed data. Simple visuals such as line charts, bar charts, and scorecards work well because they allow executives to quickly understand the big picture without being overwhelmed. Clear titles and brief annotations help communicate the main takeaway briefly.
Managers often sit between strategy and operations, so they benefit from more detailed context than executives but still need clarity and efficiency. For this group, Tableau dashboards can include comparisons over time, breakdowns by department or region, and filters that allow them to explore the data further. Visuals such as grouped bar charts, dashboards with interactive filters, and trend lines help managers identify patterns and potential issues that require action. Providing some explanatory text or tooltips can help clarify how the data should be interpreted.
Front-line employees usually need very specific, task-focused information that directly relates to their daily work. For this audience, simplicity is key. Visualizations should avoid complexity and focus on clear, actionable metrics. For example, a front-line sales employee may only need to see daily targets versus actual performance. Using straightforward charts, consistent colors, and clear labels helps prevent confusion. By matching the complexity of the data story to the audience’s role and experience, organizations can ensure effective communication across all levels.</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dirty="0"/>
          </a:p>
        </p:txBody>
      </p:sp>
    </p:spTree>
    <p:extLst>
      <p:ext uri="{BB962C8B-B14F-4D97-AF65-F5344CB8AC3E}">
        <p14:creationId xmlns:p14="http://schemas.microsoft.com/office/powerpoint/2010/main" val="12326689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One of the main challenges in data storytelling is balancing visually appealing dashboards with the need for accurate and reliable data. While attractive visuals can capture attention and improve engagement, they should never come at the expense of correctness. The priority should always be ensuring that the underlying data is clean, validated, and up to date before any visual design decisions are made. This includes checking for missing values, correcting errors, and confirming that calculations are accurate.
In Tableau, accuracy can be supported by using appropriate chart types and scales. For example, starting axes at zero when using bar charts helps avoid misleading comparisons. Labels, legends, and titles should clearly explain what the data represents, and assumptions or limitations should be documented when necessary. Including data sources and refresh dates also builds trust with the audience by showing where the information comes from and how current it is.
At the same time, good design principles can still be applied responsibly. Consistent color schemes, proper spacing, and logical layouts make dashboards easier to read without distorting the message. Avoiding unnecessary decorations, excessive colors, or overly complex visuals helps keep the focus on the data itself. By treating accuracy as the foundation and visual design as a supporting element, organizations can create Tableau reports that are both engaging and trustworthy.</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dirty="0"/>
          </a:p>
        </p:txBody>
      </p:sp>
    </p:spTree>
    <p:extLst>
      <p:ext uri="{BB962C8B-B14F-4D97-AF65-F5344CB8AC3E}">
        <p14:creationId xmlns:p14="http://schemas.microsoft.com/office/powerpoint/2010/main" val="15169529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Ethical considerations play a critical role in data storytelling and visualization. One of the most important ethical responsibilities is honesty. Visualizations should accurately represent the data without exaggeration, omission, or manipulation. For example, selectively showing only favorable data or using distorted scales to influence perception can lead to incorrect conclusions and poor decision-making.
Transparency is another key ethical principle. Analysts should clearly communicate data limitations, such as small sample sizes, missing data, or assumptions used in calculations. This helps viewers understand the context and avoid overinterpreting the results. In Tableau, this can be done through annotations, footnotes, or dashboard descriptions.
Privacy and confidentiality must also be protected, especially when working with sensitive or personal data. Analysts should ensure that individual identities cannot be inferred from visualizations, particularly in dashboards shared widely. Aggregating data, anonymizing identifiers, and following organizational data governance policies are essential practices. By prioritizing honesty, transparency, and privacy, data professionals can create ethical visualizations that support informed and responsible decision-making.</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dirty="0"/>
          </a:p>
        </p:txBody>
      </p:sp>
    </p:spTree>
    <p:extLst>
      <p:ext uri="{BB962C8B-B14F-4D97-AF65-F5344CB8AC3E}">
        <p14:creationId xmlns:p14="http://schemas.microsoft.com/office/powerpoint/2010/main" val="1077122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Miscommunication is a common risk in data visualization, especially when audiences have different levels of data literacy. One effective way to minimize this risk is through consistency. Using consistent chart types, colors, and terminology across dashboards helps users quickly understand and compare information. For example, using the same color to represent a specific category throughout all visuals reduces confusion.
Providing context is also essential. Titles should clearly state the main message of the visualization, not just describe the chart type. Annotations and tooltips can be used to explain trends, outliers, or unexpected results. In Tableau, interactive features such as filters and highlights should be intuitive and clearly labeled so users understand how their actions affect the data.
Finally, testing dashboards with sample users before full deployment can greatly reduce misunderstandings. Feedback from executives, managers, or front-line employees can reveal unclear visuals or confusing terminology. Including brief explanations or data definitions within the dashboard can further support understanding. By focusing on clarity, consistency, and user feedback, data analysts and visualization experts can create Tableau data stories that communicate effectively and reduce the chance of misinterpretation.</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dirty="0"/>
          </a:p>
        </p:txBody>
      </p:sp>
    </p:spTree>
    <p:extLst>
      <p:ext uri="{BB962C8B-B14F-4D97-AF65-F5344CB8AC3E}">
        <p14:creationId xmlns:p14="http://schemas.microsoft.com/office/powerpoint/2010/main" val="34383446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91AFAB-BFD9-6C45-80AC-C5C8DBC06AB9}" type="datetime1">
              <a:rPr lang="en-US" smtClean="0"/>
              <a:pPr/>
              <a:t>3/16/2026</a:t>
            </a:fld>
            <a:endParaRPr lang="en-US" dirty="0"/>
          </a:p>
        </p:txBody>
      </p:sp>
      <p:sp>
        <p:nvSpPr>
          <p:cNvPr id="5" name="Footer Placeholder 4"/>
          <p:cNvSpPr>
            <a:spLocks noGrp="1"/>
          </p:cNvSpPr>
          <p:nvPr>
            <p:ph type="ftr" sz="quarter" idx="11"/>
          </p:nvPr>
        </p:nvSpPr>
        <p:spPr>
          <a:xfrm>
            <a:off x="1451579" y="329307"/>
            <a:ext cx="5626774" cy="309201"/>
          </a:xfrm>
        </p:spPr>
        <p:txBody>
          <a:bodyPr/>
          <a:lstStyle/>
          <a:p>
            <a:r>
              <a:rPr lang="en-US"/>
              <a:t>Sample Footer Text</a:t>
            </a:r>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2372282107"/>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91AFAB-BFD9-6C45-80AC-C5C8DBC06AB9}" type="datetime1">
              <a:rPr lang="en-US" smtClean="0"/>
              <a:pPr/>
              <a:t>3/16/2026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463551002"/>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91AFAB-BFD9-6C45-80AC-C5C8DBC06AB9}" type="datetime1">
              <a:rPr lang="en-US" smtClean="0"/>
              <a:pPr/>
              <a:t>3/16/2026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202295960"/>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AFAB-BFD9-6C45-80AC-C5C8DBC06AB9}" type="datetime1">
              <a:rPr lang="en-US" smtClean="0"/>
              <a:pPr/>
              <a:t>3/16/2026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153583520"/>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91AFAB-BFD9-6C45-80AC-C5C8DBC06AB9}" type="datetime1">
              <a:rPr lang="en-US" smtClean="0"/>
              <a:pPr/>
              <a:t>3/16/2026</a:t>
            </a:fld>
            <a:endParaRPr lang="en-US" dirty="0"/>
          </a:p>
        </p:txBody>
      </p:sp>
      <p:sp>
        <p:nvSpPr>
          <p:cNvPr id="8" name="Footer Placeholder 7"/>
          <p:cNvSpPr>
            <a:spLocks noGrp="1"/>
          </p:cNvSpPr>
          <p:nvPr>
            <p:ph type="ftr" sz="quarter" idx="11"/>
          </p:nvPr>
        </p:nvSpPr>
        <p:spPr/>
        <p:txBody>
          <a:bodyPr/>
          <a:lstStyle/>
          <a:p>
            <a:r>
              <a:rPr lang="en-US"/>
              <a:t>Sample Footer Text</a:t>
            </a:r>
            <a:endParaRPr lang="en-US" dirty="0"/>
          </a:p>
        </p:txBody>
      </p:sp>
      <p:sp>
        <p:nvSpPr>
          <p:cNvPr id="9" name="Slide Number Placeholder 8"/>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964230507"/>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637E622-E797-8342-90DB-8B837E85419D}" type="datetime1">
              <a:rPr lang="en-US" smtClean="0"/>
              <a:t>3/16/2026</a:t>
            </a:fld>
            <a:endParaRPr lang="en-US" dirty="0"/>
          </a:p>
        </p:txBody>
      </p:sp>
      <p:sp>
        <p:nvSpPr>
          <p:cNvPr id="4" name="Footer Placeholder 3"/>
          <p:cNvSpPr>
            <a:spLocks noGrp="1"/>
          </p:cNvSpPr>
          <p:nvPr>
            <p:ph type="ftr" sz="quarter" idx="11"/>
          </p:nvPr>
        </p:nvSpPr>
        <p:spPr/>
        <p:txBody>
          <a:bodyPr/>
          <a:lstStyle/>
          <a:p>
            <a:r>
              <a:rPr lang="en-US"/>
              <a:t>Sample Footer Text</a:t>
            </a:r>
            <a:endParaRPr lang="en-US" dirty="0"/>
          </a:p>
        </p:txBody>
      </p:sp>
      <p:sp>
        <p:nvSpPr>
          <p:cNvPr id="5" name="Slide Number Placeholder 4"/>
          <p:cNvSpPr>
            <a:spLocks noGrp="1"/>
          </p:cNvSpPr>
          <p:nvPr>
            <p:ph type="sldNum" sz="quarter" idx="12"/>
          </p:nvPr>
        </p:nvSpPr>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680167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91AFAB-BFD9-6C45-80AC-C5C8DBC06AB9}" type="datetime1">
              <a:rPr lang="en-US" smtClean="0"/>
              <a:pPr/>
              <a:t>3/16/2026</a:t>
            </a:fld>
            <a:endParaRPr lang="en-US" dirty="0"/>
          </a:p>
        </p:txBody>
      </p:sp>
      <p:sp>
        <p:nvSpPr>
          <p:cNvPr id="3" name="Footer Placeholder 2"/>
          <p:cNvSpPr>
            <a:spLocks noGrp="1"/>
          </p:cNvSpPr>
          <p:nvPr>
            <p:ph type="ftr" sz="quarter" idx="11"/>
          </p:nvPr>
        </p:nvSpPr>
        <p:spPr/>
        <p:txBody>
          <a:bodyPr/>
          <a:lstStyle/>
          <a:p>
            <a:r>
              <a:rPr lang="en-US"/>
              <a:t>Sample Footer Text</a:t>
            </a:r>
            <a:endParaRPr lang="en-US" dirty="0"/>
          </a:p>
        </p:txBody>
      </p:sp>
      <p:sp>
        <p:nvSpPr>
          <p:cNvPr id="4" name="Slide Number Placeholder 3"/>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4031360340"/>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308DB2-91F6-D249-9C58-B00C1E8D0C8E}" type="datetime1">
              <a:rPr lang="en-US" smtClean="0"/>
              <a:t>3/16/2026</a:t>
            </a:fld>
            <a:endParaRPr lang="en-US" dirty="0"/>
          </a:p>
        </p:txBody>
      </p:sp>
      <p:sp>
        <p:nvSpPr>
          <p:cNvPr id="6" name="Footer Placeholder 5"/>
          <p:cNvSpPr>
            <a:spLocks noGrp="1"/>
          </p:cNvSpPr>
          <p:nvPr>
            <p:ph type="ftr" sz="quarter" idx="11"/>
          </p:nvPr>
        </p:nvSpPr>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1137215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4B343E0-A871-624A-8052-B7C217692D3E}" type="datetime1">
              <a:rPr lang="en-US" smtClean="0"/>
              <a:t>3/16/2026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r>
              <a:rPr lang="en-US"/>
              <a:t>Sample Footer Text</a:t>
            </a:r>
            <a:endParaRPr lang="en-US" dirty="0"/>
          </a:p>
        </p:txBody>
      </p:sp>
      <p:sp>
        <p:nvSpPr>
          <p:cNvPr id="7" name="Slide Number Placeholder 6"/>
          <p:cNvSpPr>
            <a:spLocks noGrp="1"/>
          </p:cNvSpPr>
          <p:nvPr>
            <p:ph type="sldNum" sz="quarter" idx="12"/>
          </p:nvPr>
        </p:nvSpPr>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2152975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91AFAB-BFD9-6C45-80AC-C5C8DBC06AB9}" type="datetime1">
              <a:rPr lang="en-US" smtClean="0"/>
              <a:pPr/>
              <a:t>3/16/2026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1145377941"/>
      </p:ext>
    </p:extLst>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91AFAB-BFD9-6C45-80AC-C5C8DBC06AB9}" type="datetime1">
              <a:rPr lang="en-US" smtClean="0"/>
              <a:pPr/>
              <a:t>3/16/2026</a:t>
            </a:fld>
            <a:endParaRPr lang="en-US" dirty="0"/>
          </a:p>
        </p:txBody>
      </p:sp>
      <p:sp>
        <p:nvSpPr>
          <p:cNvPr id="5" name="Footer Placeholder 4"/>
          <p:cNvSpPr>
            <a:spLocks noGrp="1"/>
          </p:cNvSpPr>
          <p:nvPr>
            <p:ph type="ftr" sz="quarter" idx="11"/>
          </p:nvPr>
        </p:nvSpPr>
        <p:spPr/>
        <p:txBody>
          <a:bodyPr/>
          <a:lstStyle/>
          <a:p>
            <a:r>
              <a:rPr lang="en-US"/>
              <a:t>Sample Footer Text</a:t>
            </a:r>
            <a:endParaRPr lang="en-US" dirty="0"/>
          </a:p>
        </p:txBody>
      </p:sp>
      <p:sp>
        <p:nvSpPr>
          <p:cNvPr id="6" name="Slide Number Placeholder 5"/>
          <p:cNvSpPr>
            <a:spLocks noGrp="1"/>
          </p:cNvSpPr>
          <p:nvPr>
            <p:ph type="sldNum" sz="quarter" idx="12"/>
          </p:nvPr>
        </p:nvSpPr>
        <p:spPr/>
        <p:txBody>
          <a:bodyPr/>
          <a:lstStyle/>
          <a:p>
            <a:fld id="{AEAA3239-9EA4-4A65-A281-97F994456D9F}" type="slidenum">
              <a:rPr lang="en-US" smtClean="0"/>
              <a:pPr/>
              <a:t>‹#›</a:t>
            </a:fld>
            <a:endParaRPr lang="en-US" dirty="0"/>
          </a:p>
        </p:txBody>
      </p:sp>
    </p:spTree>
    <p:extLst>
      <p:ext uri="{BB962C8B-B14F-4D97-AF65-F5344CB8AC3E}">
        <p14:creationId xmlns:p14="http://schemas.microsoft.com/office/powerpoint/2010/main" val="3681549931"/>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29600" y="1411358"/>
            <a:ext cx="3352800" cy="2845567"/>
          </a:xfrm>
        </p:spPr>
        <p:txBody>
          <a:bodyPr vert="horz" lIns="91440" tIns="45720" rIns="91440" bIns="45720" rtlCol="0" anchor="t">
            <a:normAutofit/>
          </a:bodyPr>
          <a:lstStyle>
            <a:lvl1pPr>
              <a:defRPr lang="en-US" sz="3200" dirty="0"/>
            </a:lvl1pPr>
          </a:lstStyle>
          <a:p>
            <a:pPr lvl="0"/>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28973" y="4403039"/>
            <a:ext cx="3347330" cy="1123122"/>
          </a:xfrm>
        </p:spPr>
        <p:txBody>
          <a:bodyPr vert="horz" lIns="91440" tIns="45720" rIns="91440" bIns="45720" rtlCol="0">
            <a:normAutofit/>
          </a:bodyPr>
          <a:lstStyle>
            <a:lvl1pPr marL="0" indent="0">
              <a:buNone/>
              <a:defRPr lang="en-US" sz="14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09599" y="322731"/>
            <a:ext cx="914401" cy="286868"/>
          </a:xfrm>
        </p:spPr>
        <p:txBody>
          <a:bodyPr anchor="ctr"/>
          <a:lstStyle>
            <a:lvl1pPr>
              <a:defRPr>
                <a:solidFill>
                  <a:schemeClr val="tx1"/>
                </a:solidFill>
                <a:effectLst/>
              </a:defRPr>
            </a:lvl1pPr>
          </a:lstStyle>
          <a:p>
            <a:fld id="{5AD90C4C-EC35-9F49-A5FC-AB491103133B}" type="datetime1">
              <a:rPr lang="en-US" smtClean="0"/>
              <a:pPr/>
              <a:t>3/16/2026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2514600" y="322731"/>
            <a:ext cx="7162800" cy="286869"/>
          </a:xfrm>
        </p:spPr>
        <p:txBody>
          <a:bodyPr anchor="ct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668000" y="322731"/>
            <a:ext cx="914400" cy="286869"/>
          </a:xfrm>
        </p:spPr>
        <p:txBody>
          <a:bodyPr anchor="ctr"/>
          <a:lstStyle/>
          <a:p>
            <a:fld id="{AEAA3239-9EA4-4A65-A281-97F994456D9F}" type="slidenum">
              <a:rPr lang="en-US" smtClean="0"/>
              <a:t>‹#›</a:t>
            </a:fld>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09599" y="1371600"/>
            <a:ext cx="7239001" cy="48768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420693554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599" y="1371600"/>
            <a:ext cx="4675633" cy="990600"/>
          </a:xfrm>
        </p:spPr>
        <p:txBody>
          <a:bodyPr anchor="t">
            <a:normAutofit/>
          </a:bodyPr>
          <a:lstStyle>
            <a:lvl1pPr>
              <a:defRPr sz="2400"/>
            </a:lvl1pPr>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0E25853-B4C0-6343-932C-8347057D543C}" type="datetime1">
              <a:rPr lang="en-US" smtClean="0"/>
              <a:t>3/16/2026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 y="2746246"/>
            <a:ext cx="4675632" cy="3502153"/>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712502" y="1371600"/>
            <a:ext cx="5869899"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806294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1371600"/>
            <a:ext cx="4700225" cy="606887"/>
          </a:xfrm>
        </p:spPr>
        <p:txBody>
          <a:bodyPr anchor="t">
            <a:normAutofit/>
          </a:bodyPr>
          <a:lstStyle>
            <a:lvl1pPr>
              <a:defRPr sz="2400"/>
            </a:lvl1pPr>
          </a:lstStyle>
          <a:p>
            <a:r>
              <a:rPr lang="en-US"/>
              <a:t>Click to edit Master title style</a:t>
            </a:r>
            <a:endParaRPr lang="en-US" dirty="0"/>
          </a:p>
        </p:txBody>
      </p:sp>
      <p:sp>
        <p:nvSpPr>
          <p:cNvPr id="10" name="Date Placeholder 4">
            <a:extLst>
              <a:ext uri="{FF2B5EF4-FFF2-40B4-BE49-F238E27FC236}">
                <a16:creationId xmlns:a16="http://schemas.microsoft.com/office/drawing/2014/main" id="{84676EBB-6E0A-AD72-143B-39A640FF3585}"/>
              </a:ext>
            </a:extLst>
          </p:cNvPr>
          <p:cNvSpPr>
            <a:spLocks noGrp="1"/>
          </p:cNvSpPr>
          <p:nvPr>
            <p:ph type="dt" sz="half" idx="10"/>
          </p:nvPr>
        </p:nvSpPr>
        <p:spPr>
          <a:xfrm>
            <a:off x="609600" y="322731"/>
            <a:ext cx="914400" cy="283464"/>
          </a:xfrm>
        </p:spPr>
        <p:txBody>
          <a:bodyPr/>
          <a:lstStyle>
            <a:lvl1pPr>
              <a:defRPr>
                <a:solidFill>
                  <a:schemeClr val="tx1"/>
                </a:solidFill>
              </a:defRPr>
            </a:lvl1pPr>
          </a:lstStyle>
          <a:p>
            <a:fld id="{DC22EB7D-C564-6749-AC31-25EED6E8F3FA}" type="datetime1">
              <a:rPr lang="en-US" smtClean="0"/>
              <a:pPr/>
              <a:t>3/16/2026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lvl1pPr>
              <a:defRPr>
                <a:solidFill>
                  <a:schemeClr val="tx1"/>
                </a:solidFill>
                <a:effectLst/>
              </a:defRPr>
            </a:lvl1pPr>
          </a:lstStyle>
          <a:p>
            <a:fld id="{AEAA3239-9EA4-4A65-A281-97F994456D9F}" type="slidenum">
              <a:rPr lang="en-US" smtClean="0"/>
              <a:pPr/>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2362534"/>
            <a:ext cx="4700225"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87DB94FD-8F2A-F0DB-71EB-3565077D4A20}"/>
              </a:ext>
            </a:extLst>
          </p:cNvPr>
          <p:cNvSpPr>
            <a:spLocks noGrp="1"/>
          </p:cNvSpPr>
          <p:nvPr>
            <p:ph type="pic" sz="quarter" idx="15" hasCustomPrompt="1"/>
          </p:nvPr>
        </p:nvSpPr>
        <p:spPr>
          <a:xfrm>
            <a:off x="5699758" y="1371600"/>
            <a:ext cx="5882642" cy="48768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2997789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09600" y="1371600"/>
            <a:ext cx="4352926" cy="766774"/>
          </a:xfrm>
        </p:spPr>
        <p:txBody>
          <a:bodyPr anchor="t">
            <a:normAutofit/>
          </a:bodyPr>
          <a:lstStyle>
            <a:lvl1pPr>
              <a:defRPr sz="2400"/>
            </a:lvl1pPr>
          </a:lstStyle>
          <a:p>
            <a:r>
              <a:rPr lang="en-US" dirty="0"/>
              <a:t>Click to edit Master title style</a:t>
            </a:r>
          </a:p>
        </p:txBody>
      </p:sp>
      <p:sp>
        <p:nvSpPr>
          <p:cNvPr id="7" name="Subtitle 2">
            <a:extLst>
              <a:ext uri="{FF2B5EF4-FFF2-40B4-BE49-F238E27FC236}">
                <a16:creationId xmlns:a16="http://schemas.microsoft.com/office/drawing/2014/main" id="{684DE9B9-A2D7-1C5E-03A8-327B24C29FD9}"/>
              </a:ext>
            </a:extLst>
          </p:cNvPr>
          <p:cNvSpPr>
            <a:spLocks noGrp="1"/>
          </p:cNvSpPr>
          <p:nvPr>
            <p:ph type="subTitle" idx="1"/>
          </p:nvPr>
        </p:nvSpPr>
        <p:spPr>
          <a:xfrm>
            <a:off x="634029" y="2522423"/>
            <a:ext cx="4328497" cy="3700576"/>
          </a:xfrm>
        </p:spPr>
        <p:txBody>
          <a:bodyPr vert="horz" lIns="91440" tIns="45720" rIns="91440" bIns="45720" rtlCol="0" anchor="b">
            <a:normAutofit/>
          </a:bodyPr>
          <a:lstStyle>
            <a:lvl1pPr marL="0" indent="0">
              <a:buNone/>
              <a:defRPr lang="en-US" sz="1400" dirty="0"/>
            </a:lvl1pPr>
          </a:lstStyle>
          <a:p>
            <a:pPr lvl="0"/>
            <a:r>
              <a:rPr lang="en-US"/>
              <a:t>Click to edit Master subtitle style</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09600" y="322731"/>
            <a:ext cx="914400" cy="286869"/>
          </a:xfrm>
        </p:spPr>
        <p:txBody>
          <a:bodyPr/>
          <a:lstStyle/>
          <a:p>
            <a:fld id="{4D690746-231E-0A4B-96EF-11FCE376DFC7}" type="datetime1">
              <a:rPr lang="en-US" smtClean="0"/>
              <a:t>3/16/2026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dirty="0"/>
          </a:p>
        </p:txBody>
      </p:sp>
    </p:spTree>
    <p:extLst>
      <p:ext uri="{BB962C8B-B14F-4D97-AF65-F5344CB8AC3E}">
        <p14:creationId xmlns:p14="http://schemas.microsoft.com/office/powerpoint/2010/main" val="3227244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599"/>
            <a:ext cx="6632111" cy="606888"/>
          </a:xfrm>
        </p:spPr>
        <p:txBody>
          <a:bodyPr anchor="t"/>
          <a:lstStyle/>
          <a:p>
            <a:r>
              <a:rPr lang="en-US"/>
              <a:t>Click to edit Master title style</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609600" y="322731"/>
            <a:ext cx="914400" cy="283464"/>
          </a:xfrm>
        </p:spPr>
        <p:txBody>
          <a:bodyPr/>
          <a:lstStyle/>
          <a:p>
            <a:fld id="{1930C433-7977-8047-A6EC-0D2B194509AF}" type="datetime1">
              <a:rPr lang="en-US" smtClean="0"/>
              <a:t>3/16/2026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0" y="322731"/>
            <a:ext cx="7162799" cy="283464"/>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653334" y="322731"/>
            <a:ext cx="914400" cy="283464"/>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2362534"/>
            <a:ext cx="6631984" cy="388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Picture Placeholder 13">
            <a:extLst>
              <a:ext uri="{FF2B5EF4-FFF2-40B4-BE49-F238E27FC236}">
                <a16:creationId xmlns:a16="http://schemas.microsoft.com/office/drawing/2014/main" id="{D62B7BD4-B0D6-F90A-8AD2-9FA1574A17A8}"/>
              </a:ext>
            </a:extLst>
          </p:cNvPr>
          <p:cNvSpPr>
            <a:spLocks noGrp="1"/>
          </p:cNvSpPr>
          <p:nvPr>
            <p:ph type="pic" sz="quarter" idx="18" hasCustomPrompt="1"/>
          </p:nvPr>
        </p:nvSpPr>
        <p:spPr>
          <a:xfrm>
            <a:off x="7616880" y="1371599"/>
            <a:ext cx="3950854" cy="48768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37688094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1371600"/>
            <a:ext cx="7166187" cy="606886"/>
          </a:xfrm>
        </p:spPr>
        <p:txBody>
          <a:bodyPr anchor="t"/>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87681AC7-A57B-7C4F-87C6-9184BA9FDCB8}" type="datetime1">
              <a:rPr lang="en-US" smtClean="0"/>
              <a:t>3/16/2026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4953" y="322731"/>
            <a:ext cx="914400" cy="283464"/>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362534"/>
            <a:ext cx="7166188" cy="388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3B8151E2-ED8A-E9B1-A83A-CF01A37B5F98}"/>
              </a:ext>
            </a:extLst>
          </p:cNvPr>
          <p:cNvSpPr>
            <a:spLocks noGrp="1"/>
          </p:cNvSpPr>
          <p:nvPr>
            <p:ph type="pic" sz="quarter" idx="13" hasCustomPrompt="1"/>
          </p:nvPr>
        </p:nvSpPr>
        <p:spPr>
          <a:xfrm>
            <a:off x="8165593" y="1373529"/>
            <a:ext cx="3413760" cy="48768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2623733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599"/>
            <a:ext cx="3363513" cy="914401"/>
          </a:xfrm>
        </p:spPr>
        <p:txBody>
          <a:bodyPr anchor="t">
            <a:normAutofit/>
          </a:bodyPr>
          <a:lstStyle>
            <a:lvl1pPr>
              <a:defRPr sz="2400"/>
            </a:lvl1p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609600" y="322731"/>
            <a:ext cx="914400" cy="283464"/>
          </a:xfrm>
        </p:spPr>
        <p:txBody>
          <a:bodyPr/>
          <a:lstStyle/>
          <a:p>
            <a:fld id="{54C684B5-7E10-5345-8018-91143AB5D141}" type="datetime1">
              <a:rPr lang="en-US" smtClean="0"/>
              <a:t>3/16/2026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2514600" y="322731"/>
            <a:ext cx="7162800" cy="283464"/>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661776" y="322731"/>
            <a:ext cx="914400" cy="283464"/>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5" y="2670047"/>
            <a:ext cx="3363386" cy="35783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158FD965-81B2-7E47-FC2D-2FFFA61C3D06}"/>
              </a:ext>
            </a:extLst>
          </p:cNvPr>
          <p:cNvSpPr>
            <a:spLocks noGrp="1"/>
          </p:cNvSpPr>
          <p:nvPr>
            <p:ph type="pic" sz="quarter" idx="18" hasCustomPrompt="1"/>
          </p:nvPr>
        </p:nvSpPr>
        <p:spPr>
          <a:xfrm>
            <a:off x="4378198" y="1371600"/>
            <a:ext cx="7197978" cy="48768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462785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1371600"/>
            <a:ext cx="2699254" cy="1858941"/>
          </a:xfrm>
        </p:spPr>
        <p:txBody>
          <a:bodyPr anchor="t"/>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 y="322731"/>
            <a:ext cx="914400" cy="283464"/>
          </a:xfrm>
        </p:spPr>
        <p:txBody>
          <a:bodyPr/>
          <a:lstStyle>
            <a:lvl1pPr>
              <a:defRPr>
                <a:solidFill>
                  <a:schemeClr val="tx1"/>
                </a:solidFill>
                <a:effectLst/>
              </a:defRPr>
            </a:lvl1pPr>
          </a:lstStyle>
          <a:p>
            <a:fld id="{3E94D065-03B1-A54C-8DDE-2EC9A861D4D4}" type="datetime1">
              <a:rPr lang="en-US" smtClean="0"/>
              <a:pPr/>
              <a:t>3/16/2026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4600" y="322731"/>
            <a:ext cx="7162800" cy="283464"/>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668000" y="322731"/>
            <a:ext cx="914400" cy="283464"/>
          </a:xfrm>
        </p:spPr>
        <p:txBody>
          <a:bodyPr/>
          <a:lstStyle/>
          <a:p>
            <a:fld id="{AEAA3239-9EA4-4A65-A281-97F994456D9F}" type="slidenum">
              <a:rPr lang="en-US" smtClean="0"/>
              <a:t>‹#›</a:t>
            </a:fld>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592150"/>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9">
            <a:extLst>
              <a:ext uri="{FF2B5EF4-FFF2-40B4-BE49-F238E27FC236}">
                <a16:creationId xmlns:a16="http://schemas.microsoft.com/office/drawing/2014/main" id="{7A8F660F-60A6-785B-047B-B48856C7BBFC}"/>
              </a:ext>
            </a:extLst>
          </p:cNvPr>
          <p:cNvSpPr>
            <a:spLocks noGrp="1"/>
          </p:cNvSpPr>
          <p:nvPr>
            <p:ph type="pic" sz="quarter" idx="15" hasCustomPrompt="1"/>
          </p:nvPr>
        </p:nvSpPr>
        <p:spPr>
          <a:xfrm>
            <a:off x="3696794" y="1371600"/>
            <a:ext cx="7885606" cy="48768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2640094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745558"/>
          </a:xfrm>
        </p:spPr>
        <p:txBody>
          <a:bodyPr anchor="t"/>
          <a:lstStyle/>
          <a:p>
            <a:r>
              <a:rPr lang="en-US"/>
              <a:t>Click to edit Master title style</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D599C506-B5DF-4E4F-B9BF-F3827B59CBA1}" type="datetime1">
              <a:rPr lang="en-US" smtClean="0"/>
              <a:t>3/16/2026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dirty="0"/>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501206"/>
            <a:ext cx="6066867" cy="374719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14" name="Content Placeholder 7">
            <a:extLst>
              <a:ext uri="{FF2B5EF4-FFF2-40B4-BE49-F238E27FC236}">
                <a16:creationId xmlns:a16="http://schemas.microsoft.com/office/drawing/2014/main" id="{BB848C29-CF42-98B7-D019-4F384E06AD99}"/>
              </a:ext>
            </a:extLst>
          </p:cNvPr>
          <p:cNvSpPr>
            <a:spLocks noGrp="1"/>
          </p:cNvSpPr>
          <p:nvPr>
            <p:ph sz="quarter" idx="18"/>
          </p:nvPr>
        </p:nvSpPr>
        <p:spPr>
          <a:xfrm>
            <a:off x="7069321" y="2501206"/>
            <a:ext cx="4513079" cy="3747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54042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0CA44B50-52B1-E84E-AA33-A0DBEC841EC9}" type="datetime1">
              <a:rPr lang="en-US" smtClean="0"/>
              <a:t>3/16/2026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dirty="0"/>
          </a:p>
        </p:txBody>
      </p:sp>
      <p:sp>
        <p:nvSpPr>
          <p:cNvPr id="15" name="Picture Placeholder 11">
            <a:extLst>
              <a:ext uri="{FF2B5EF4-FFF2-40B4-BE49-F238E27FC236}">
                <a16:creationId xmlns:a16="http://schemas.microsoft.com/office/drawing/2014/main" id="{95AEE073-61C4-86E8-2CDD-336E22094FD4}"/>
              </a:ext>
            </a:extLst>
          </p:cNvPr>
          <p:cNvSpPr>
            <a:spLocks noGrp="1"/>
          </p:cNvSpPr>
          <p:nvPr>
            <p:ph type="pic" sz="quarter" idx="19" hasCustomPrompt="1"/>
          </p:nvPr>
        </p:nvSpPr>
        <p:spPr>
          <a:xfrm>
            <a:off x="612647" y="2154876"/>
            <a:ext cx="8499719" cy="4093524"/>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9496414" y="2154876"/>
            <a:ext cx="2085986" cy="4093524"/>
          </a:xfrm>
        </p:spPr>
        <p:txBody>
          <a:bodyPr anchor="t"/>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7349323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1371600"/>
            <a:ext cx="10969753" cy="399228"/>
          </a:xfrm>
        </p:spPr>
        <p:txBody>
          <a:bodyPr anchor="t"/>
          <a:lstStyle/>
          <a:p>
            <a:r>
              <a:rPr lang="en-US" dirty="0"/>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609600" y="322731"/>
            <a:ext cx="914400" cy="283464"/>
          </a:xfrm>
        </p:spPr>
        <p:txBody>
          <a:bodyPr/>
          <a:lstStyle/>
          <a:p>
            <a:fld id="{3CCDCBE6-C47D-9C40-BF8B-586CF522335A}" type="datetime1">
              <a:rPr lang="en-US" smtClean="0"/>
              <a:t>3/16/2026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2514600" y="322731"/>
            <a:ext cx="7162800" cy="283464"/>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668000" y="322731"/>
            <a:ext cx="914400" cy="283464"/>
          </a:xfrm>
        </p:spPr>
        <p:txBody>
          <a:bodyPr/>
          <a:lstStyle/>
          <a:p>
            <a:fld id="{AEAA3239-9EA4-4A65-A281-97F994456D9F}" type="slidenum">
              <a:rPr lang="en-US" smtClean="0"/>
              <a:t>‹#›</a:t>
            </a:fld>
            <a:endParaRPr lang="en-US" dirty="0"/>
          </a:p>
        </p:txBody>
      </p:sp>
      <p:sp>
        <p:nvSpPr>
          <p:cNvPr id="3" name="Picture Placeholder 10">
            <a:extLst>
              <a:ext uri="{FF2B5EF4-FFF2-40B4-BE49-F238E27FC236}">
                <a16:creationId xmlns:a16="http://schemas.microsoft.com/office/drawing/2014/main" id="{B8BA6868-FD5D-17A2-6CAE-853852E8704F}"/>
              </a:ext>
            </a:extLst>
          </p:cNvPr>
          <p:cNvSpPr>
            <a:spLocks noGrp="1"/>
          </p:cNvSpPr>
          <p:nvPr>
            <p:ph type="pic" sz="quarter" idx="13" hasCustomPrompt="1"/>
          </p:nvPr>
        </p:nvSpPr>
        <p:spPr>
          <a:xfrm>
            <a:off x="609599" y="2169506"/>
            <a:ext cx="10966705" cy="329251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5" name="Content Placeholder 7">
            <a:extLst>
              <a:ext uri="{FF2B5EF4-FFF2-40B4-BE49-F238E27FC236}">
                <a16:creationId xmlns:a16="http://schemas.microsoft.com/office/drawing/2014/main" id="{15F7C753-E8D9-F006-4FC2-8BA2C55187F2}"/>
              </a:ext>
            </a:extLst>
          </p:cNvPr>
          <p:cNvSpPr>
            <a:spLocks noGrp="1"/>
          </p:cNvSpPr>
          <p:nvPr>
            <p:ph sz="quarter" idx="18"/>
          </p:nvPr>
        </p:nvSpPr>
        <p:spPr>
          <a:xfrm>
            <a:off x="609600" y="5846064"/>
            <a:ext cx="10972800" cy="402336"/>
          </a:xfrm>
        </p:spPr>
        <p:txBody>
          <a:bodyPr anchor="b"/>
          <a:lstStyle>
            <a:lvl1pPr>
              <a:buNone/>
              <a:defRPr/>
            </a:lvl1pPr>
            <a:lvl2pPr>
              <a:buNone/>
              <a:defRPr/>
            </a:lvl2pPr>
            <a:lvl3pPr>
              <a:buNone/>
              <a:defRPr/>
            </a:lvl3pPr>
            <a:lvl4pPr>
              <a:buNone/>
              <a:defRPr/>
            </a:lvl4pPr>
            <a:lvl5pP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490977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7F0C99-9A58-96BA-B51F-4BEDCF1AA120}"/>
              </a:ext>
            </a:extLst>
          </p:cNvPr>
          <p:cNvSpPr>
            <a:spLocks noGrp="1"/>
          </p:cNvSpPr>
          <p:nvPr>
            <p:ph type="title"/>
          </p:nvPr>
        </p:nvSpPr>
        <p:spPr>
          <a:xfrm>
            <a:off x="609601" y="5257802"/>
            <a:ext cx="10052304" cy="990598"/>
          </a:xfrm>
        </p:spPr>
        <p:txBody>
          <a:bodyPr/>
          <a:lstStyle>
            <a:lvl1pPr>
              <a:lnSpc>
                <a:spcPct val="110000"/>
              </a:lnSpc>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77A33D95-F4D2-7742-89C7-1E5F6FF2EF83}" type="datetime1">
              <a:rPr lang="en-US" smtClean="0"/>
              <a:pPr/>
              <a:t>3/16/2026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dirty="0"/>
          </a:p>
        </p:txBody>
      </p:sp>
      <p:sp>
        <p:nvSpPr>
          <p:cNvPr id="11" name="Content Placeholder 10">
            <a:extLst>
              <a:ext uri="{FF2B5EF4-FFF2-40B4-BE49-F238E27FC236}">
                <a16:creationId xmlns:a16="http://schemas.microsoft.com/office/drawing/2014/main" id="{F859DF22-2D22-B432-1B7E-1CCD6DA9C571}"/>
              </a:ext>
            </a:extLst>
          </p:cNvPr>
          <p:cNvSpPr>
            <a:spLocks noGrp="1"/>
          </p:cNvSpPr>
          <p:nvPr>
            <p:ph sz="quarter" idx="14" hasCustomPrompt="1"/>
          </p:nvPr>
        </p:nvSpPr>
        <p:spPr>
          <a:xfrm>
            <a:off x="609600" y="904875"/>
            <a:ext cx="10052050" cy="4038600"/>
          </a:xfrm>
        </p:spPr>
        <p:txBody>
          <a:bodyPr anchor="t"/>
          <a:lstStyle>
            <a:lvl1pPr>
              <a:lnSpc>
                <a:spcPct val="90000"/>
              </a:lnSpc>
              <a:buNone/>
              <a:defRPr sz="30000"/>
            </a:lvl1pPr>
          </a:lstStyle>
          <a:p>
            <a:pPr lvl="0"/>
            <a:r>
              <a:rPr lang="en-US" dirty="0"/>
              <a:t>##%</a:t>
            </a:r>
          </a:p>
        </p:txBody>
      </p:sp>
    </p:spTree>
    <p:extLst>
      <p:ext uri="{BB962C8B-B14F-4D97-AF65-F5344CB8AC3E}">
        <p14:creationId xmlns:p14="http://schemas.microsoft.com/office/powerpoint/2010/main" val="339193353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9E00404-475A-8BBB-C6CE-9106DE692A22}"/>
              </a:ext>
            </a:extLst>
          </p:cNvPr>
          <p:cNvSpPr>
            <a:spLocks noGrp="1"/>
          </p:cNvSpPr>
          <p:nvPr>
            <p:ph type="title"/>
          </p:nvPr>
        </p:nvSpPr>
        <p:spPr>
          <a:xfrm>
            <a:off x="9067800" y="3962400"/>
            <a:ext cx="2514599" cy="2285999"/>
          </a:xfrm>
        </p:spPr>
        <p:txBody>
          <a:bodyPr anchor="b"/>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latin typeface="+mn-lt"/>
              </a:defRPr>
            </a:lvl1pPr>
          </a:lstStyle>
          <a:p>
            <a:fld id="{1D5F50BC-2CAE-5142-B37F-0E4FBF55DEC4}" type="datetime1">
              <a:rPr lang="en-US" smtClean="0"/>
              <a:pPr/>
              <a:t>3/16/2026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latin typeface="+mn-lt"/>
              </a:defRPr>
            </a:lvl1pPr>
          </a:lstStyle>
          <a:p>
            <a:r>
              <a:rPr lang="en-US"/>
              <a:t>Sample Footer Text</a:t>
            </a:r>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latin typeface="+mn-lt"/>
              </a:defRPr>
            </a:lvl1pPr>
          </a:lstStyle>
          <a:p>
            <a:fld id="{AEAA3239-9EA4-4A65-A281-97F994456D9F}" type="slidenum">
              <a:rPr lang="en-US" smtClean="0"/>
              <a:pPr/>
              <a:t>‹#›</a:t>
            </a:fld>
            <a:endParaRPr lang="en-US" dirty="0"/>
          </a:p>
        </p:txBody>
      </p:sp>
      <p:sp>
        <p:nvSpPr>
          <p:cNvPr id="8" name="Content Placeholder 10">
            <a:extLst>
              <a:ext uri="{FF2B5EF4-FFF2-40B4-BE49-F238E27FC236}">
                <a16:creationId xmlns:a16="http://schemas.microsoft.com/office/drawing/2014/main" id="{97D4B19F-6F49-D42F-E0D8-B04A37866557}"/>
              </a:ext>
            </a:extLst>
          </p:cNvPr>
          <p:cNvSpPr>
            <a:spLocks noGrp="1"/>
          </p:cNvSpPr>
          <p:nvPr>
            <p:ph sz="quarter" idx="14" hasCustomPrompt="1"/>
          </p:nvPr>
        </p:nvSpPr>
        <p:spPr>
          <a:xfrm>
            <a:off x="609600" y="904875"/>
            <a:ext cx="8077200" cy="5343524"/>
          </a:xfrm>
        </p:spPr>
        <p:txBody>
          <a:bodyPr anchor="t"/>
          <a:lstStyle>
            <a:lvl1pPr>
              <a:lnSpc>
                <a:spcPct val="90000"/>
              </a:lnSpc>
              <a:buNone/>
              <a:defRPr sz="27500"/>
            </a:lvl1pPr>
          </a:lstStyle>
          <a:p>
            <a:pPr lvl="0"/>
            <a:r>
              <a:rPr lang="en-US" dirty="0"/>
              <a:t>##%</a:t>
            </a:r>
          </a:p>
        </p:txBody>
      </p:sp>
    </p:spTree>
    <p:extLst>
      <p:ext uri="{BB962C8B-B14F-4D97-AF65-F5344CB8AC3E}">
        <p14:creationId xmlns:p14="http://schemas.microsoft.com/office/powerpoint/2010/main" val="25543294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168559-22AF-9500-1ED0-9B034424FC6E}"/>
              </a:ext>
            </a:extLst>
          </p:cNvPr>
          <p:cNvSpPr>
            <a:spLocks noGrp="1"/>
          </p:cNvSpPr>
          <p:nvPr>
            <p:ph type="title"/>
          </p:nvPr>
        </p:nvSpPr>
        <p:spPr>
          <a:xfrm>
            <a:off x="612648" y="1371600"/>
            <a:ext cx="10969752" cy="745558"/>
          </a:xfrm>
        </p:spPr>
        <p:txBody>
          <a:bodyPr anchor="t"/>
          <a:lstStyle/>
          <a:p>
            <a:r>
              <a:rPr lang="en-US"/>
              <a:t>Click to edit Master title style</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C3B29B2-4593-A044-9190-FE2DA1AD031D}" type="datetime1">
              <a:rPr lang="en-US" smtClean="0"/>
              <a:t>3/16/2026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517648" y="322731"/>
            <a:ext cx="7150608" cy="286869"/>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09600" y="2501207"/>
            <a:ext cx="5289973" cy="374719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86331" y="2501206"/>
            <a:ext cx="5289973" cy="37471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080128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80CBD81-BF35-3FFE-84F1-E86AACCAD69D}"/>
              </a:ext>
            </a:extLst>
          </p:cNvPr>
          <p:cNvSpPr>
            <a:spLocks noGrp="1"/>
          </p:cNvSpPr>
          <p:nvPr>
            <p:ph type="title"/>
          </p:nvPr>
        </p:nvSpPr>
        <p:spPr>
          <a:xfrm>
            <a:off x="609600" y="1371600"/>
            <a:ext cx="10745788" cy="745558"/>
          </a:xfrm>
        </p:spPr>
        <p:txBody>
          <a:bodyPr anchor="t"/>
          <a:lstStyle/>
          <a:p>
            <a:r>
              <a:rPr lang="en-US" dirty="0"/>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86DBDE1-D2D6-D048-B31A-868FC649E762}" type="datetime1">
              <a:rPr lang="en-US" smtClean="0"/>
              <a:t>3/16/2026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2255322"/>
            <a:ext cx="5289972"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948211"/>
            <a:ext cx="5289972" cy="3300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6330" y="2255322"/>
            <a:ext cx="5289974" cy="554724"/>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948211"/>
            <a:ext cx="5302568" cy="330019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468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AB91AFAB-BFD9-6C45-80AC-C5C8DBC06AB9}" type="datetime1">
              <a:rPr lang="en-US" smtClean="0"/>
              <a:pPr/>
              <a:t>3/16/2026</a:t>
            </a:fld>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en-US"/>
              <a:t>Sample Footer Text</a:t>
            </a:r>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AEAA3239-9EA4-4A65-A281-97F994456D9F}" type="slidenum">
              <a:rPr lang="en-US" smtClean="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28">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1305289"/>
      </p:ext>
    </p:extLst>
  </p:cSld>
  <p:clrMap bg1="dk1" tx1="lt1" bg2="dk2" tx2="lt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 id="2147483978" r:id="rId10"/>
    <p:sldLayoutId id="2147483979" r:id="rId11"/>
    <p:sldLayoutId id="2147483980" r:id="rId12"/>
    <p:sldLayoutId id="2147483981" r:id="rId13"/>
    <p:sldLayoutId id="2147483982" r:id="rId14"/>
    <p:sldLayoutId id="2147483951" r:id="rId15"/>
    <p:sldLayoutId id="2147483910" r:id="rId16"/>
    <p:sldLayoutId id="2147483912" r:id="rId17"/>
    <p:sldLayoutId id="2147483916" r:id="rId18"/>
    <p:sldLayoutId id="2147483918" r:id="rId19"/>
    <p:sldLayoutId id="2147483924" r:id="rId20"/>
    <p:sldLayoutId id="2147483949" r:id="rId21"/>
    <p:sldLayoutId id="2147483950" r:id="rId22"/>
    <p:sldLayoutId id="2147483928" r:id="rId23"/>
    <p:sldLayoutId id="2147483929" r:id="rId24"/>
    <p:sldLayoutId id="2147483939" r:id="rId25"/>
    <p:sldLayoutId id="2147483940" r:id="rId26"/>
  </p:sldLayoutIdLst>
  <p:hf hdr="0"/>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296" userDrawn="1">
          <p15:clr>
            <a:srgbClr val="F26B43"/>
          </p15:clr>
        </p15:guide>
        <p15:guide id="4" pos="384" userDrawn="1">
          <p15:clr>
            <a:srgbClr val="F26B43"/>
          </p15:clr>
        </p15:guide>
        <p15:guide id="5" orient="horz" pos="192" userDrawn="1">
          <p15:clr>
            <a:srgbClr val="F26B43"/>
          </p15:clr>
        </p15:guide>
        <p15:guide id="6" orient="horz" pos="3936" userDrawn="1">
          <p15:clr>
            <a:srgbClr val="F26B43"/>
          </p15:clr>
        </p15:guide>
        <p15:guide id="7" orient="horz" pos="384" userDrawn="1">
          <p15:clr>
            <a:srgbClr val="F26B43"/>
          </p15:clr>
        </p15:guide>
        <p15:guide id="8" orient="horz" pos="4128" userDrawn="1">
          <p15:clr>
            <a:srgbClr val="F26B43"/>
          </p15:clr>
        </p15:guide>
        <p15:guide id="9" orient="horz" pos="864" userDrawn="1">
          <p15:clr>
            <a:srgbClr val="F26B43"/>
          </p15:clr>
        </p15:guide>
        <p15:guide id="10" pos="6720" userDrawn="1">
          <p15:clr>
            <a:srgbClr val="F26B43"/>
          </p15:clr>
        </p15:guide>
        <p15:guide id="11" pos="6096" userDrawn="1">
          <p15:clr>
            <a:srgbClr val="F26B43"/>
          </p15:clr>
        </p15:guide>
        <p15:guide id="12" pos="960" userDrawn="1">
          <p15:clr>
            <a:srgbClr val="F26B43"/>
          </p15:clr>
        </p15:guide>
        <p15:guide id="13" pos="15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8.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9.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4.xml"/><Relationship Id="rId5" Type="http://schemas.openxmlformats.org/officeDocument/2006/relationships/image" Target="../media/image10.jpe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4.xml"/><Relationship Id="rId5" Type="http://schemas.openxmlformats.org/officeDocument/2006/relationships/image" Target="../media/image11.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B25638D-3D06-41D1-8060-4D2707C60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4" name="Picture 13">
            <a:extLst>
              <a:ext uri="{FF2B5EF4-FFF2-40B4-BE49-F238E27FC236}">
                <a16:creationId xmlns:a16="http://schemas.microsoft.com/office/drawing/2014/main" id="{8161BB1E-0062-4056-AB94-121EF614D5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6" name="Straight Connector 15">
            <a:extLst>
              <a:ext uri="{FF2B5EF4-FFF2-40B4-BE49-F238E27FC236}">
                <a16:creationId xmlns:a16="http://schemas.microsoft.com/office/drawing/2014/main" id="{8FBC01E2-D629-4319-B5CB-BFA461B8CF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101CDD4-CBBC-38E8-9D3C-124FCC206E6C}"/>
              </a:ext>
            </a:extLst>
          </p:cNvPr>
          <p:cNvSpPr>
            <a:spLocks noGrp="1"/>
          </p:cNvSpPr>
          <p:nvPr>
            <p:ph type="ctrTitle"/>
          </p:nvPr>
        </p:nvSpPr>
        <p:spPr>
          <a:xfrm>
            <a:off x="6579647" y="967166"/>
            <a:ext cx="4162489" cy="2466839"/>
          </a:xfrm>
        </p:spPr>
        <p:txBody>
          <a:bodyPr vert="horz" lIns="91440" tIns="45720" rIns="91440" bIns="0" rtlCol="0" anchor="b">
            <a:normAutofit/>
          </a:bodyPr>
          <a:lstStyle/>
          <a:p>
            <a:r>
              <a:rPr lang="en-US" sz="3400"/>
              <a:t>Data Storytelling in Tableau for Different Audiences</a:t>
            </a:r>
          </a:p>
        </p:txBody>
      </p:sp>
      <p:sp>
        <p:nvSpPr>
          <p:cNvPr id="3" name="Subtitle 2">
            <a:extLst>
              <a:ext uri="{FF2B5EF4-FFF2-40B4-BE49-F238E27FC236}">
                <a16:creationId xmlns:a16="http://schemas.microsoft.com/office/drawing/2014/main" id="{52242A54-DCE3-6F8A-D5D8-28477147697D}"/>
              </a:ext>
            </a:extLst>
          </p:cNvPr>
          <p:cNvSpPr>
            <a:spLocks noGrp="1"/>
          </p:cNvSpPr>
          <p:nvPr>
            <p:ph type="subTitle" idx="1"/>
          </p:nvPr>
        </p:nvSpPr>
        <p:spPr>
          <a:xfrm>
            <a:off x="6575111" y="3448294"/>
            <a:ext cx="4167026" cy="1687441"/>
          </a:xfrm>
        </p:spPr>
        <p:txBody>
          <a:bodyPr vert="horz" lIns="91440" tIns="91440" rIns="91440" bIns="91440" rtlCol="0">
            <a:normAutofit/>
          </a:bodyPr>
          <a:lstStyle/>
          <a:p>
            <a:pPr algn="ctr"/>
            <a:r>
              <a:rPr lang="en-US" sz="1600" cap="all"/>
              <a:t>Effective visualization techniques for varied viewer needs</a:t>
            </a:r>
          </a:p>
        </p:txBody>
      </p:sp>
      <p:pic>
        <p:nvPicPr>
          <p:cNvPr id="7" name="Picture 6" descr="http://teekid.com/istockphoto/banner/banner3.jpg">
            <a:extLst>
              <a:ext uri="{FF2B5EF4-FFF2-40B4-BE49-F238E27FC236}">
                <a16:creationId xmlns:a16="http://schemas.microsoft.com/office/drawing/2014/main" id="{26DBF30F-A6D6-43FA-9E68-4A5A72E167F3}"/>
              </a:ext>
            </a:extLst>
          </p:cNvPr>
          <p:cNvPicPr>
            <a:picLocks noChangeAspect="1"/>
          </p:cNvPicPr>
          <p:nvPr/>
        </p:nvPicPr>
        <p:blipFill>
          <a:blip r:embed="rId4"/>
          <a:srcRect t="14713" r="3" b="17920"/>
          <a:stretch>
            <a:fillRect/>
          </a:stretch>
        </p:blipFill>
        <p:spPr>
          <a:xfrm>
            <a:off x="1130029" y="1465063"/>
            <a:ext cx="4960442" cy="3341802"/>
          </a:xfrm>
          <a:prstGeom prst="rect">
            <a:avLst/>
          </a:prstGeom>
        </p:spPr>
      </p:pic>
      <p:sp>
        <p:nvSpPr>
          <p:cNvPr id="6" name="Slide Number Placeholder 5">
            <a:extLst>
              <a:ext uri="{FF2B5EF4-FFF2-40B4-BE49-F238E27FC236}">
                <a16:creationId xmlns:a16="http://schemas.microsoft.com/office/drawing/2014/main" id="{D15C584D-4B41-45BF-0BC6-3C9199191471}"/>
              </a:ext>
            </a:extLst>
          </p:cNvPr>
          <p:cNvSpPr>
            <a:spLocks noGrp="1"/>
          </p:cNvSpPr>
          <p:nvPr>
            <p:ph type="sldNum" sz="quarter" idx="12"/>
          </p:nvPr>
        </p:nvSpPr>
        <p:spPr>
          <a:xfrm>
            <a:off x="10908680" y="798973"/>
            <a:ext cx="811019" cy="503579"/>
          </a:xfrm>
        </p:spPr>
        <p:txBody>
          <a:bodyPr vert="horz" lIns="91440" tIns="45720" rIns="91440" bIns="45720" rtlCol="0" anchor="t">
            <a:normAutofit/>
          </a:bodyPr>
          <a:lstStyle/>
          <a:p>
            <a:pPr algn="l">
              <a:lnSpc>
                <a:spcPct val="90000"/>
              </a:lnSpc>
              <a:spcAft>
                <a:spcPts val="600"/>
              </a:spcAft>
            </a:pPr>
            <a:fld id="{AEAA3239-9EA4-4A65-A281-97F994456D9F}" type="slidenum">
              <a:rPr lang="en-US" smtClean="0"/>
              <a:pPr algn="l">
                <a:lnSpc>
                  <a:spcPct val="90000"/>
                </a:lnSpc>
                <a:spcAft>
                  <a:spcPts val="600"/>
                </a:spcAft>
              </a:pPr>
              <a:t>1</a:t>
            </a:fld>
            <a:endParaRPr lang="en-US"/>
          </a:p>
        </p:txBody>
      </p:sp>
      <p:sp>
        <p:nvSpPr>
          <p:cNvPr id="4" name="Date Placeholder 3">
            <a:extLst>
              <a:ext uri="{FF2B5EF4-FFF2-40B4-BE49-F238E27FC236}">
                <a16:creationId xmlns:a16="http://schemas.microsoft.com/office/drawing/2014/main" id="{5D125335-3579-3EB3-DC6F-C574DD072DF0}"/>
              </a:ext>
            </a:extLst>
          </p:cNvPr>
          <p:cNvSpPr>
            <a:spLocks noGrp="1"/>
          </p:cNvSpPr>
          <p:nvPr>
            <p:ph type="dt" sz="half" idx="10"/>
          </p:nvPr>
        </p:nvSpPr>
        <p:spPr>
          <a:xfrm>
            <a:off x="6583910" y="5485654"/>
            <a:ext cx="4134854" cy="309201"/>
          </a:xfrm>
        </p:spPr>
        <p:txBody>
          <a:bodyPr vert="horz" lIns="91440" tIns="45720" rIns="91440" bIns="45720" rtlCol="0" anchor="ctr">
            <a:normAutofit/>
          </a:bodyPr>
          <a:lstStyle/>
          <a:p>
            <a:pPr>
              <a:spcAft>
                <a:spcPts val="600"/>
              </a:spcAft>
            </a:pPr>
            <a:fld id="{1CC2392D-0077-F644-8130-034B3DFB395E}" type="datetime1">
              <a:rPr lang="en-US" smtClean="0">
                <a:solidFill>
                  <a:schemeClr val="tx1">
                    <a:tint val="75000"/>
                  </a:schemeClr>
                </a:solidFill>
              </a:rPr>
              <a:pPr>
                <a:spcAft>
                  <a:spcPts val="600"/>
                </a:spcAft>
              </a:pPr>
              <a:t>3/16/2026</a:t>
            </a:fld>
            <a:endParaRPr lang="en-US">
              <a:solidFill>
                <a:schemeClr val="tx1">
                  <a:tint val="75000"/>
                </a:schemeClr>
              </a:solidFill>
            </a:endParaRPr>
          </a:p>
        </p:txBody>
      </p:sp>
    </p:spTree>
    <p:extLst>
      <p:ext uri="{BB962C8B-B14F-4D97-AF65-F5344CB8AC3E}">
        <p14:creationId xmlns:p14="http://schemas.microsoft.com/office/powerpoint/2010/main" val="276088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B25638D-3D06-41D1-8060-4D2707C60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8161BB1E-0062-4056-AB94-121EF614D5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7" name="Straight Connector 16">
            <a:extLst>
              <a:ext uri="{FF2B5EF4-FFF2-40B4-BE49-F238E27FC236}">
                <a16:creationId xmlns:a16="http://schemas.microsoft.com/office/drawing/2014/main" id="{8FBC01E2-D629-4319-B5CB-BFA461B8CF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0FF15B0F-2C45-6AD4-D63F-79C27356E251}"/>
              </a:ext>
            </a:extLst>
          </p:cNvPr>
          <p:cNvSpPr>
            <a:spLocks noGrp="1"/>
          </p:cNvSpPr>
          <p:nvPr>
            <p:ph type="title"/>
          </p:nvPr>
        </p:nvSpPr>
        <p:spPr>
          <a:xfrm>
            <a:off x="1451580" y="804520"/>
            <a:ext cx="5550355" cy="1049235"/>
          </a:xfrm>
        </p:spPr>
        <p:txBody>
          <a:bodyPr vert="horz" lIns="91440" tIns="45720" rIns="91440" bIns="45720" rtlCol="0" anchor="ctr">
            <a:normAutofit/>
          </a:bodyPr>
          <a:lstStyle/>
          <a:p>
            <a:pPr algn="ctr"/>
            <a:r>
              <a:rPr lang="en-US" sz="2200"/>
              <a:t>Tailoring Data Stories from Executives to Front-Line Employees</a:t>
            </a:r>
          </a:p>
        </p:txBody>
      </p:sp>
      <p:sp>
        <p:nvSpPr>
          <p:cNvPr id="5" name="Slide Number Placeholder 4">
            <a:extLst>
              <a:ext uri="{FF2B5EF4-FFF2-40B4-BE49-F238E27FC236}">
                <a16:creationId xmlns:a16="http://schemas.microsoft.com/office/drawing/2014/main" id="{E423D94B-873A-72AB-9321-C7BCA472344A}"/>
              </a:ext>
            </a:extLst>
          </p:cNvPr>
          <p:cNvSpPr>
            <a:spLocks noGrp="1"/>
          </p:cNvSpPr>
          <p:nvPr>
            <p:ph type="sldNum" sz="quarter" idx="12"/>
          </p:nvPr>
        </p:nvSpPr>
        <p:spPr>
          <a:xfrm>
            <a:off x="480060" y="798973"/>
            <a:ext cx="811019" cy="503578"/>
          </a:xfrm>
        </p:spPr>
        <p:txBody>
          <a:bodyPr vert="horz" lIns="91440" tIns="45720" rIns="91440" bIns="45720" rtlCol="0" anchor="t">
            <a:normAutofit/>
          </a:bodyPr>
          <a:lstStyle/>
          <a:p>
            <a:pPr>
              <a:lnSpc>
                <a:spcPct val="90000"/>
              </a:lnSpc>
              <a:spcAft>
                <a:spcPts val="600"/>
              </a:spcAft>
            </a:pPr>
            <a:fld id="{AEAA3239-9EA4-4A65-A281-97F994456D9F}" type="slidenum">
              <a:rPr lang="en-US" smtClean="0"/>
              <a:pPr>
                <a:lnSpc>
                  <a:spcPct val="90000"/>
                </a:lnSpc>
                <a:spcAft>
                  <a:spcPts val="600"/>
                </a:spcAft>
              </a:pPr>
              <a:t>2</a:t>
            </a:fld>
            <a:endParaRPr lang="en-US"/>
          </a:p>
        </p:txBody>
      </p:sp>
      <p:sp>
        <p:nvSpPr>
          <p:cNvPr id="7" name="Content Placeholder 6">
            <a:extLst>
              <a:ext uri="{FF2B5EF4-FFF2-40B4-BE49-F238E27FC236}">
                <a16:creationId xmlns:a16="http://schemas.microsoft.com/office/drawing/2014/main" id="{DA54CECB-305C-B3CD-06CB-AD6265C09E0B}"/>
              </a:ext>
            </a:extLst>
          </p:cNvPr>
          <p:cNvSpPr>
            <a:spLocks noGrp="1"/>
          </p:cNvSpPr>
          <p:nvPr>
            <p:ph type="body"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451580" y="2015732"/>
            <a:ext cx="5550355" cy="3450613"/>
          </a:xfrm>
        </p:spPr>
        <p:txBody>
          <a:bodyPr>
            <a:normAutofit/>
          </a:bodyPr>
          <a:lstStyle/>
          <a:p>
            <a:pPr marL="0" indent="0">
              <a:spcBef>
                <a:spcPts val="2500"/>
              </a:spcBef>
              <a:buFont typeface="Arial" panose="020B0604020202020204" pitchFamily="34" charset="0"/>
              <a:buNone/>
            </a:pPr>
            <a:r>
              <a:rPr lang="en-US" sz="1400" b="1"/>
              <a:t>Executive Data Storytelling</a:t>
            </a:r>
          </a:p>
          <a:p>
            <a:pPr marL="0" lvl="1" indent="0">
              <a:buFont typeface="Arial" panose="020B0604020202020204" pitchFamily="34" charset="0"/>
              <a:buNone/>
            </a:pPr>
            <a:r>
              <a:rPr lang="en-US"/>
              <a:t>Executives need high-level insights with KPIs, trends, and clear summaries for strategic decisions.</a:t>
            </a:r>
          </a:p>
          <a:p>
            <a:pPr marL="0" indent="0">
              <a:spcBef>
                <a:spcPts val="2500"/>
              </a:spcBef>
              <a:buFont typeface="Arial" panose="020B0604020202020204" pitchFamily="34" charset="0"/>
              <a:buNone/>
            </a:pPr>
            <a:r>
              <a:rPr lang="en-US" sz="1400" b="1"/>
              <a:t>Managerial Data Insights</a:t>
            </a:r>
          </a:p>
          <a:p>
            <a:pPr marL="0" lvl="1" indent="0">
              <a:buFont typeface="Arial" panose="020B0604020202020204" pitchFamily="34" charset="0"/>
              <a:buNone/>
            </a:pPr>
            <a:r>
              <a:rPr lang="en-US"/>
              <a:t>Managers require detailed context with comparisons, breakdowns, and interactive filters to identify patterns.</a:t>
            </a:r>
          </a:p>
          <a:p>
            <a:pPr marL="0" indent="0">
              <a:spcBef>
                <a:spcPts val="2500"/>
              </a:spcBef>
              <a:buFont typeface="Arial" panose="020B0604020202020204" pitchFamily="34" charset="0"/>
              <a:buNone/>
            </a:pPr>
            <a:r>
              <a:rPr lang="en-US" sz="1400" b="1"/>
              <a:t>Front-Line Data Focus</a:t>
            </a:r>
          </a:p>
          <a:p>
            <a:pPr marL="0" lvl="1" indent="0">
              <a:buFont typeface="Arial" panose="020B0604020202020204" pitchFamily="34" charset="0"/>
              <a:buNone/>
            </a:pPr>
            <a:r>
              <a:rPr lang="en-US"/>
              <a:t>Front-line employees benefit from simple, actionable metrics focused on daily performance and tasks.</a:t>
            </a:r>
          </a:p>
        </p:txBody>
      </p:sp>
      <p:grpSp>
        <p:nvGrpSpPr>
          <p:cNvPr id="19" name="Group 18">
            <a:extLst>
              <a:ext uri="{FF2B5EF4-FFF2-40B4-BE49-F238E27FC236}">
                <a16:creationId xmlns:a16="http://schemas.microsoft.com/office/drawing/2014/main" id="{09BCA6F7-A3DB-45DF-B6E8-8B7BBB37EC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77388" y="482171"/>
            <a:ext cx="4074533" cy="5149101"/>
            <a:chOff x="7477388" y="482171"/>
            <a:chExt cx="4074533" cy="5149101"/>
          </a:xfrm>
        </p:grpSpPr>
        <p:sp>
          <p:nvSpPr>
            <p:cNvPr id="20" name="Rectangle 19">
              <a:extLst>
                <a:ext uri="{FF2B5EF4-FFF2-40B4-BE49-F238E27FC236}">
                  <a16:creationId xmlns:a16="http://schemas.microsoft.com/office/drawing/2014/main" id="{829A9A52-CC88-4982-95F2-3D4731CBE8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77388" y="482171"/>
              <a:ext cx="4074533" cy="5149101"/>
            </a:xfrm>
            <a:prstGeom prst="rect">
              <a:avLst/>
            </a:prstGeom>
            <a:blipFill dpi="0" rotWithShape="1">
              <a:blip r:embed="rId4">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5C026A0-4659-4232-8B46-815756A0E1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47" y="812507"/>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BBA14764-1628-4557-885B-37A1F9EA25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954173" y="988222"/>
            <a:ext cx="3122836" cy="4126145"/>
          </a:xfrm>
          <a:prstGeom prst="rect">
            <a:avLst/>
          </a:prstGeom>
          <a:solidFill>
            <a:srgbClr val="FFFFFE"/>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897C4195-60C5-48A4-A7F3-B0FDDAD9CF45}"/>
              </a:ext>
            </a:extLst>
          </p:cNvPr>
          <p:cNvPicPr>
            <a:picLocks noGrp="1" noChangeAspect="1"/>
          </p:cNvPicPr>
          <p:nvPr>
            <p:ph idx="1"/>
          </p:nvPr>
        </p:nvPicPr>
        <p:blipFill>
          <a:blip r:embed="rId5"/>
          <a:stretch>
            <a:fillRect/>
          </a:stretch>
        </p:blipFill>
        <p:spPr>
          <a:xfrm>
            <a:off x="8116373" y="2311168"/>
            <a:ext cx="2799103" cy="1476526"/>
          </a:xfrm>
          <a:prstGeom prst="rect">
            <a:avLst/>
          </a:prstGeom>
        </p:spPr>
      </p:pic>
      <p:sp>
        <p:nvSpPr>
          <p:cNvPr id="3" name="Date Placeholder 2">
            <a:extLst>
              <a:ext uri="{FF2B5EF4-FFF2-40B4-BE49-F238E27FC236}">
                <a16:creationId xmlns:a16="http://schemas.microsoft.com/office/drawing/2014/main" id="{50C805A4-7583-2C34-307A-E53CBEA93B24}"/>
              </a:ext>
            </a:extLst>
          </p:cNvPr>
          <p:cNvSpPr>
            <a:spLocks noGrp="1"/>
          </p:cNvSpPr>
          <p:nvPr>
            <p:ph type="dt" sz="half" idx="10"/>
          </p:nvPr>
        </p:nvSpPr>
        <p:spPr>
          <a:xfrm>
            <a:off x="1451580" y="5477468"/>
            <a:ext cx="5550355" cy="309201"/>
          </a:xfrm>
        </p:spPr>
        <p:txBody>
          <a:bodyPr vert="horz" lIns="91440" tIns="45720" rIns="91440" bIns="45720" rtlCol="0" anchor="ctr">
            <a:normAutofit/>
          </a:bodyPr>
          <a:lstStyle/>
          <a:p>
            <a:pPr algn="l">
              <a:spcAft>
                <a:spcPts val="600"/>
              </a:spcAft>
            </a:pPr>
            <a:fld id="{5C3B29B2-4593-A044-9190-FE2DA1AD031D}" type="datetime1">
              <a:rPr lang="en-US" smtClean="0"/>
              <a:pPr algn="l">
                <a:spcAft>
                  <a:spcPts val="600"/>
                </a:spcAft>
              </a:pPr>
              <a:t>3/16/2026</a:t>
            </a:fld>
            <a:endParaRPr lang="en-US"/>
          </a:p>
        </p:txBody>
      </p:sp>
    </p:spTree>
    <p:extLst>
      <p:ext uri="{BB962C8B-B14F-4D97-AF65-F5344CB8AC3E}">
        <p14:creationId xmlns:p14="http://schemas.microsoft.com/office/powerpoint/2010/main" val="11550291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30B326A-C054-4820-AFCA-FCB009ABC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E265DFC7-1B2A-4A32-9C43-C48EA6FF61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7" name="Straight Connector 16">
            <a:extLst>
              <a:ext uri="{FF2B5EF4-FFF2-40B4-BE49-F238E27FC236}">
                <a16:creationId xmlns:a16="http://schemas.microsoft.com/office/drawing/2014/main" id="{853B328C-A402-44DE-AABB-9BFBB6617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9839D1FD-B95D-CDA9-CDAF-5EEC747C1BB9}"/>
              </a:ext>
            </a:extLst>
          </p:cNvPr>
          <p:cNvSpPr>
            <a:spLocks noGrp="1"/>
          </p:cNvSpPr>
          <p:nvPr>
            <p:ph type="title"/>
          </p:nvPr>
        </p:nvSpPr>
        <p:spPr>
          <a:xfrm>
            <a:off x="5188042" y="253317"/>
            <a:ext cx="5550355" cy="1049235"/>
          </a:xfrm>
        </p:spPr>
        <p:txBody>
          <a:bodyPr vert="horz" lIns="91440" tIns="45720" rIns="91440" bIns="45720" rtlCol="0" anchor="ctr">
            <a:normAutofit/>
          </a:bodyPr>
          <a:lstStyle/>
          <a:p>
            <a:r>
              <a:rPr lang="en-US" sz="2500" dirty="0"/>
              <a:t>Creating Visually Engaging Yet Reliable Tableau Reports</a:t>
            </a:r>
          </a:p>
        </p:txBody>
      </p:sp>
      <p:grpSp>
        <p:nvGrpSpPr>
          <p:cNvPr id="19" name="Group 18">
            <a:extLst>
              <a:ext uri="{FF2B5EF4-FFF2-40B4-BE49-F238E27FC236}">
                <a16:creationId xmlns:a16="http://schemas.microsoft.com/office/drawing/2014/main" id="{EB69A38F-B342-48D1-884F-03267367F4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9" y="482171"/>
            <a:ext cx="4074533" cy="5149101"/>
            <a:chOff x="632239" y="482171"/>
            <a:chExt cx="4074533" cy="5149101"/>
          </a:xfrm>
        </p:grpSpPr>
        <p:sp>
          <p:nvSpPr>
            <p:cNvPr id="20" name="Rectangle 19">
              <a:extLst>
                <a:ext uri="{FF2B5EF4-FFF2-40B4-BE49-F238E27FC236}">
                  <a16:creationId xmlns:a16="http://schemas.microsoft.com/office/drawing/2014/main" id="{88B2160C-762E-4543-AE7E-CB66A84693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239" y="482171"/>
              <a:ext cx="4074533" cy="5149101"/>
            </a:xfrm>
            <a:prstGeom prst="rect">
              <a:avLst/>
            </a:prstGeom>
            <a:blipFill dpi="0" rotWithShape="1">
              <a:blip r:embed="rId4">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7126887-BFD9-4BE3-BF55-BE2524AF22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5298" y="812507"/>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8" name="Content Placeholder 7" descr="Three graphs detailing the performance of the three sectors presented by the pie chart on the monitor.See all my">
            <a:extLst>
              <a:ext uri="{FF2B5EF4-FFF2-40B4-BE49-F238E27FC236}">
                <a16:creationId xmlns:a16="http://schemas.microsoft.com/office/drawing/2014/main" id="{B3908AEB-D195-4E9C-98E7-EE66AFA09C58}"/>
              </a:ext>
            </a:extLst>
          </p:cNvPr>
          <p:cNvPicPr>
            <a:picLocks noGrp="1" noChangeAspect="1"/>
          </p:cNvPicPr>
          <p:nvPr>
            <p:ph type="pic" sz="quarter" idx="13"/>
          </p:nvPr>
        </p:nvPicPr>
        <p:blipFill>
          <a:blip r:embed="rId5"/>
          <a:srcRect l="28914" r="28913"/>
          <a:stretch>
            <a:fillRect/>
          </a:stretch>
        </p:blipFill>
        <p:spPr>
          <a:xfrm>
            <a:off x="1285438" y="1116345"/>
            <a:ext cx="2799103" cy="3866172"/>
          </a:xfrm>
          <a:prstGeom prst="rect">
            <a:avLst/>
          </a:prstGeom>
        </p:spPr>
      </p:pic>
      <p:sp>
        <p:nvSpPr>
          <p:cNvPr id="5" name="Slide Number Placeholder 4">
            <a:extLst>
              <a:ext uri="{FF2B5EF4-FFF2-40B4-BE49-F238E27FC236}">
                <a16:creationId xmlns:a16="http://schemas.microsoft.com/office/drawing/2014/main" id="{7E5A0A8A-8A9E-0CD0-7F77-130A0C04925D}"/>
              </a:ext>
            </a:extLst>
          </p:cNvPr>
          <p:cNvSpPr>
            <a:spLocks noGrp="1"/>
          </p:cNvSpPr>
          <p:nvPr>
            <p:ph type="sldNum" sz="quarter" idx="12"/>
          </p:nvPr>
        </p:nvSpPr>
        <p:spPr>
          <a:xfrm>
            <a:off x="10911613" y="798973"/>
            <a:ext cx="811019" cy="503579"/>
          </a:xfrm>
        </p:spPr>
        <p:txBody>
          <a:bodyPr vert="horz" lIns="91440" tIns="45720" rIns="91440" bIns="45720" rtlCol="0" anchor="t">
            <a:normAutofit/>
          </a:bodyPr>
          <a:lstStyle/>
          <a:p>
            <a:pPr algn="l">
              <a:lnSpc>
                <a:spcPct val="90000"/>
              </a:lnSpc>
              <a:spcAft>
                <a:spcPts val="600"/>
              </a:spcAft>
            </a:pPr>
            <a:fld id="{AEAA3239-9EA4-4A65-A281-97F994456D9F}" type="slidenum">
              <a:rPr lang="en-US" smtClean="0"/>
              <a:pPr algn="l">
                <a:lnSpc>
                  <a:spcPct val="90000"/>
                </a:lnSpc>
                <a:spcAft>
                  <a:spcPts val="600"/>
                </a:spcAft>
              </a:pPr>
              <a:t>3</a:t>
            </a:fld>
            <a:endParaRPr lang="en-US"/>
          </a:p>
        </p:txBody>
      </p:sp>
      <p:sp>
        <p:nvSpPr>
          <p:cNvPr id="7" name="Content Placeholder 6">
            <a:extLst>
              <a:ext uri="{FF2B5EF4-FFF2-40B4-BE49-F238E27FC236}">
                <a16:creationId xmlns:a16="http://schemas.microsoft.com/office/drawing/2014/main" id="{6C155A64-70EF-AFB1-966E-1C5101D1EF4C}"/>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88043" y="1116345"/>
            <a:ext cx="5718519" cy="4360059"/>
          </a:xfrm>
        </p:spPr>
        <p:txBody>
          <a:bodyPr>
            <a:normAutofit/>
          </a:bodyPr>
          <a:lstStyle/>
          <a:p>
            <a:pPr marL="0" indent="0">
              <a:lnSpc>
                <a:spcPct val="110000"/>
              </a:lnSpc>
              <a:spcBef>
                <a:spcPts val="2500"/>
              </a:spcBef>
              <a:buFont typeface="Arial" panose="020B0604020202020204" pitchFamily="34" charset="0"/>
              <a:buNone/>
            </a:pPr>
            <a:r>
              <a:rPr lang="en-US" sz="1400" b="1" dirty="0"/>
              <a:t>Ensure Data Accuracy</a:t>
            </a:r>
          </a:p>
          <a:p>
            <a:pPr marL="0" lvl="1" indent="0">
              <a:lnSpc>
                <a:spcPct val="110000"/>
              </a:lnSpc>
              <a:buFont typeface="Arial" panose="020B0604020202020204" pitchFamily="34" charset="0"/>
              <a:buNone/>
            </a:pPr>
            <a:r>
              <a:rPr lang="en-US" sz="1400" dirty="0"/>
              <a:t>Clean, validate, and update data before designing visuals to maintain report reliability and correctness.</a:t>
            </a:r>
          </a:p>
          <a:p>
            <a:pPr marL="0" indent="0">
              <a:lnSpc>
                <a:spcPct val="110000"/>
              </a:lnSpc>
              <a:spcBef>
                <a:spcPts val="2500"/>
              </a:spcBef>
              <a:buFont typeface="Arial" panose="020B0604020202020204" pitchFamily="34" charset="0"/>
              <a:buNone/>
            </a:pPr>
            <a:r>
              <a:rPr lang="en-US" sz="1400" b="1" dirty="0"/>
              <a:t>Use Appropriate Charting</a:t>
            </a:r>
          </a:p>
          <a:p>
            <a:pPr marL="0" lvl="1" indent="0">
              <a:lnSpc>
                <a:spcPct val="110000"/>
              </a:lnSpc>
              <a:buFont typeface="Arial" panose="020B0604020202020204" pitchFamily="34" charset="0"/>
              <a:buNone/>
            </a:pPr>
            <a:r>
              <a:rPr lang="en-US" sz="1400" dirty="0"/>
              <a:t>Select correct chart types and scales, such as starting bar charts at zero to avoid misleading views.</a:t>
            </a:r>
          </a:p>
          <a:p>
            <a:pPr marL="0" indent="0">
              <a:lnSpc>
                <a:spcPct val="110000"/>
              </a:lnSpc>
              <a:spcBef>
                <a:spcPts val="2500"/>
              </a:spcBef>
              <a:buFont typeface="Arial" panose="020B0604020202020204" pitchFamily="34" charset="0"/>
              <a:buNone/>
            </a:pPr>
            <a:r>
              <a:rPr lang="en-US" sz="1400" b="1" dirty="0"/>
              <a:t>Clear Labels and Documentation</a:t>
            </a:r>
          </a:p>
          <a:p>
            <a:pPr marL="0" lvl="1" indent="0">
              <a:lnSpc>
                <a:spcPct val="110000"/>
              </a:lnSpc>
              <a:buFont typeface="Arial" panose="020B0604020202020204" pitchFamily="34" charset="0"/>
              <a:buNone/>
            </a:pPr>
            <a:r>
              <a:rPr lang="en-US" sz="1400" dirty="0"/>
              <a:t>Include descriptive labels, legends, titles, data sources, and refresh dates to build audience trust.</a:t>
            </a:r>
          </a:p>
          <a:p>
            <a:pPr marL="0" indent="0">
              <a:lnSpc>
                <a:spcPct val="110000"/>
              </a:lnSpc>
              <a:spcBef>
                <a:spcPts val="2500"/>
              </a:spcBef>
              <a:buFont typeface="Arial" panose="020B0604020202020204" pitchFamily="34" charset="0"/>
              <a:buNone/>
            </a:pPr>
            <a:r>
              <a:rPr lang="en-US" sz="1400" b="1" dirty="0"/>
              <a:t>Responsible Visual Design</a:t>
            </a:r>
          </a:p>
          <a:p>
            <a:pPr marL="0" lvl="1" indent="0">
              <a:lnSpc>
                <a:spcPct val="110000"/>
              </a:lnSpc>
              <a:buFont typeface="Arial" panose="020B0604020202020204" pitchFamily="34" charset="0"/>
              <a:buNone/>
            </a:pPr>
            <a:r>
              <a:rPr lang="en-US" sz="1400" dirty="0"/>
              <a:t>Apply consistent color schemes and layouts while avoiding unnecessary decorations to enhance readability.</a:t>
            </a:r>
          </a:p>
        </p:txBody>
      </p:sp>
      <p:sp>
        <p:nvSpPr>
          <p:cNvPr id="3" name="Date Placeholder 2">
            <a:extLst>
              <a:ext uri="{FF2B5EF4-FFF2-40B4-BE49-F238E27FC236}">
                <a16:creationId xmlns:a16="http://schemas.microsoft.com/office/drawing/2014/main" id="{A9A76F3D-C1DB-F9BE-CE57-A1AB2213EE8E}"/>
              </a:ext>
            </a:extLst>
          </p:cNvPr>
          <p:cNvSpPr>
            <a:spLocks noGrp="1"/>
          </p:cNvSpPr>
          <p:nvPr>
            <p:ph type="dt" sz="half" idx="10"/>
          </p:nvPr>
        </p:nvSpPr>
        <p:spPr>
          <a:xfrm>
            <a:off x="5188043" y="5477468"/>
            <a:ext cx="5550355" cy="309201"/>
          </a:xfrm>
        </p:spPr>
        <p:txBody>
          <a:bodyPr vert="horz" lIns="91440" tIns="45720" rIns="91440" bIns="45720" rtlCol="0" anchor="ctr">
            <a:normAutofit/>
          </a:bodyPr>
          <a:lstStyle/>
          <a:p>
            <a:pPr>
              <a:spcAft>
                <a:spcPts val="600"/>
              </a:spcAft>
            </a:pPr>
            <a:fld id="{5C3B29B2-4593-A044-9190-FE2DA1AD031D}" type="datetime1">
              <a:rPr lang="en-US" smtClean="0"/>
              <a:pPr>
                <a:spcAft>
                  <a:spcPts val="600"/>
                </a:spcAft>
              </a:pPr>
              <a:t>3/16/2026</a:t>
            </a:fld>
            <a:endParaRPr lang="en-US"/>
          </a:p>
        </p:txBody>
      </p:sp>
    </p:spTree>
    <p:extLst>
      <p:ext uri="{BB962C8B-B14F-4D97-AF65-F5344CB8AC3E}">
        <p14:creationId xmlns:p14="http://schemas.microsoft.com/office/powerpoint/2010/main" val="32249733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30B326A-C054-4820-AFCA-FCB009ABC6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E265DFC7-1B2A-4A32-9C43-C48EA6FF614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7" name="Straight Connector 16">
            <a:extLst>
              <a:ext uri="{FF2B5EF4-FFF2-40B4-BE49-F238E27FC236}">
                <a16:creationId xmlns:a16="http://schemas.microsoft.com/office/drawing/2014/main" id="{853B328C-A402-44DE-AABB-9BFBB6617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2773B91-4AF7-1542-04CC-19065763CC5F}"/>
              </a:ext>
            </a:extLst>
          </p:cNvPr>
          <p:cNvSpPr>
            <a:spLocks noGrp="1"/>
          </p:cNvSpPr>
          <p:nvPr>
            <p:ph type="title"/>
          </p:nvPr>
        </p:nvSpPr>
        <p:spPr>
          <a:xfrm>
            <a:off x="1451580" y="804520"/>
            <a:ext cx="5550355" cy="1049235"/>
          </a:xfrm>
        </p:spPr>
        <p:txBody>
          <a:bodyPr vert="horz" lIns="91440" tIns="45720" rIns="91440" bIns="45720" rtlCol="0" anchor="ctr">
            <a:normAutofit/>
          </a:bodyPr>
          <a:lstStyle/>
          <a:p>
            <a:r>
              <a:rPr lang="en-US" sz="3000"/>
              <a:t>Ethics and Responsibility in Tableau Visualizations</a:t>
            </a:r>
          </a:p>
        </p:txBody>
      </p:sp>
      <p:sp>
        <p:nvSpPr>
          <p:cNvPr id="5" name="Slide Number Placeholder 4">
            <a:extLst>
              <a:ext uri="{FF2B5EF4-FFF2-40B4-BE49-F238E27FC236}">
                <a16:creationId xmlns:a16="http://schemas.microsoft.com/office/drawing/2014/main" id="{32F8CB04-10BA-49FF-D8F2-1032EC848F4F}"/>
              </a:ext>
            </a:extLst>
          </p:cNvPr>
          <p:cNvSpPr>
            <a:spLocks noGrp="1"/>
          </p:cNvSpPr>
          <p:nvPr>
            <p:ph type="sldNum" sz="quarter" idx="12"/>
          </p:nvPr>
        </p:nvSpPr>
        <p:spPr>
          <a:xfrm>
            <a:off x="480060" y="798973"/>
            <a:ext cx="811019" cy="503578"/>
          </a:xfrm>
        </p:spPr>
        <p:txBody>
          <a:bodyPr vert="horz" lIns="91440" tIns="45720" rIns="91440" bIns="45720" rtlCol="0" anchor="t">
            <a:normAutofit/>
          </a:bodyPr>
          <a:lstStyle/>
          <a:p>
            <a:pPr>
              <a:lnSpc>
                <a:spcPct val="90000"/>
              </a:lnSpc>
              <a:spcAft>
                <a:spcPts val="600"/>
              </a:spcAft>
            </a:pPr>
            <a:fld id="{AEAA3239-9EA4-4A65-A281-97F994456D9F}" type="slidenum">
              <a:rPr lang="en-US" smtClean="0">
                <a:solidFill>
                  <a:schemeClr val="accent1"/>
                </a:solidFill>
              </a:rPr>
              <a:pPr>
                <a:lnSpc>
                  <a:spcPct val="90000"/>
                </a:lnSpc>
                <a:spcAft>
                  <a:spcPts val="600"/>
                </a:spcAft>
              </a:pPr>
              <a:t>4</a:t>
            </a:fld>
            <a:endParaRPr lang="en-US">
              <a:solidFill>
                <a:schemeClr val="accent1"/>
              </a:solidFill>
            </a:endParaRPr>
          </a:p>
        </p:txBody>
      </p:sp>
      <p:sp>
        <p:nvSpPr>
          <p:cNvPr id="7" name="Content Placeholder 6">
            <a:extLst>
              <a:ext uri="{FF2B5EF4-FFF2-40B4-BE49-F238E27FC236}">
                <a16:creationId xmlns:a16="http://schemas.microsoft.com/office/drawing/2014/main" id="{6B15D0FC-26DA-6853-862D-6B1A25C3068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451580" y="2015732"/>
            <a:ext cx="5550355" cy="3450613"/>
          </a:xfrm>
        </p:spPr>
        <p:txBody>
          <a:bodyPr>
            <a:normAutofit/>
          </a:bodyPr>
          <a:lstStyle/>
          <a:p>
            <a:pPr marL="0" indent="0">
              <a:spcBef>
                <a:spcPts val="2500"/>
              </a:spcBef>
              <a:buFont typeface="Arial" panose="020B0604020202020204" pitchFamily="34" charset="0"/>
              <a:buNone/>
            </a:pPr>
            <a:r>
              <a:rPr lang="en-US" sz="1400" b="1"/>
              <a:t>Honest Data Representation</a:t>
            </a:r>
          </a:p>
          <a:p>
            <a:pPr marL="0" lvl="1" indent="0">
              <a:buFont typeface="Arial" panose="020B0604020202020204" pitchFamily="34" charset="0"/>
              <a:buNone/>
            </a:pPr>
            <a:r>
              <a:rPr lang="en-US" sz="1400"/>
              <a:t>Visualizations must accurately represent data without exaggeration or manipulation to ensure correct conclusions.</a:t>
            </a:r>
          </a:p>
          <a:p>
            <a:pPr marL="0" indent="0">
              <a:spcBef>
                <a:spcPts val="2500"/>
              </a:spcBef>
              <a:buFont typeface="Arial" panose="020B0604020202020204" pitchFamily="34" charset="0"/>
              <a:buNone/>
            </a:pPr>
            <a:r>
              <a:rPr lang="en-US" sz="1400" b="1"/>
              <a:t>Transparency in Visualization</a:t>
            </a:r>
          </a:p>
          <a:p>
            <a:pPr marL="0" lvl="1" indent="0">
              <a:buFont typeface="Arial" panose="020B0604020202020204" pitchFamily="34" charset="0"/>
              <a:buNone/>
            </a:pPr>
            <a:r>
              <a:rPr lang="en-US" sz="1400"/>
              <a:t>Communicate data limitations clearly using annotations, footnotes, or dashboard descriptions for viewer understanding.</a:t>
            </a:r>
          </a:p>
          <a:p>
            <a:pPr marL="0" indent="0">
              <a:spcBef>
                <a:spcPts val="2500"/>
              </a:spcBef>
              <a:buFont typeface="Arial" panose="020B0604020202020204" pitchFamily="34" charset="0"/>
              <a:buNone/>
            </a:pPr>
            <a:r>
              <a:rPr lang="en-US" sz="1400" b="1"/>
              <a:t>Protecting Data Privacy</a:t>
            </a:r>
          </a:p>
          <a:p>
            <a:pPr marL="0" lvl="1" indent="0">
              <a:buFont typeface="Arial" panose="020B0604020202020204" pitchFamily="34" charset="0"/>
              <a:buNone/>
            </a:pPr>
            <a:r>
              <a:rPr lang="en-US" sz="1400"/>
              <a:t>Ensure individual identities are protected by anonymizing data and following privacy policies in visualizations.</a:t>
            </a:r>
          </a:p>
        </p:txBody>
      </p:sp>
      <p:sp>
        <p:nvSpPr>
          <p:cNvPr id="3" name="Date Placeholder 2">
            <a:extLst>
              <a:ext uri="{FF2B5EF4-FFF2-40B4-BE49-F238E27FC236}">
                <a16:creationId xmlns:a16="http://schemas.microsoft.com/office/drawing/2014/main" id="{D2552BFD-782C-FE2E-9A36-0EF0FAB62427}"/>
              </a:ext>
            </a:extLst>
          </p:cNvPr>
          <p:cNvSpPr>
            <a:spLocks noGrp="1"/>
          </p:cNvSpPr>
          <p:nvPr>
            <p:ph type="dt" sz="half" idx="10"/>
          </p:nvPr>
        </p:nvSpPr>
        <p:spPr>
          <a:xfrm>
            <a:off x="1451580" y="5477468"/>
            <a:ext cx="5550355" cy="309201"/>
          </a:xfrm>
        </p:spPr>
        <p:txBody>
          <a:bodyPr vert="horz" lIns="91440" tIns="45720" rIns="91440" bIns="45720" rtlCol="0" anchor="ctr">
            <a:normAutofit/>
          </a:bodyPr>
          <a:lstStyle/>
          <a:p>
            <a:pPr algn="l">
              <a:spcAft>
                <a:spcPts val="600"/>
              </a:spcAft>
            </a:pPr>
            <a:fld id="{5C3B29B2-4593-A044-9190-FE2DA1AD031D}" type="datetime1">
              <a:rPr lang="en-US" smtClean="0">
                <a:solidFill>
                  <a:schemeClr val="tx1">
                    <a:tint val="75000"/>
                  </a:schemeClr>
                </a:solidFill>
              </a:rPr>
              <a:pPr algn="l">
                <a:spcAft>
                  <a:spcPts val="600"/>
                </a:spcAft>
              </a:pPr>
              <a:t>3/16/2026</a:t>
            </a:fld>
            <a:endParaRPr lang="en-US">
              <a:solidFill>
                <a:schemeClr val="tx1">
                  <a:tint val="75000"/>
                </a:schemeClr>
              </a:solidFill>
            </a:endParaRPr>
          </a:p>
        </p:txBody>
      </p:sp>
      <p:grpSp>
        <p:nvGrpSpPr>
          <p:cNvPr id="19" name="Group 18">
            <a:extLst>
              <a:ext uri="{FF2B5EF4-FFF2-40B4-BE49-F238E27FC236}">
                <a16:creationId xmlns:a16="http://schemas.microsoft.com/office/drawing/2014/main" id="{072F63BA-7537-485F-BFCA-EA001ED4468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77388" y="482171"/>
            <a:ext cx="4074533" cy="5149101"/>
            <a:chOff x="7477388" y="482171"/>
            <a:chExt cx="4074533" cy="5149101"/>
          </a:xfrm>
        </p:grpSpPr>
        <p:sp>
          <p:nvSpPr>
            <p:cNvPr id="20" name="Rectangle 19">
              <a:extLst>
                <a:ext uri="{FF2B5EF4-FFF2-40B4-BE49-F238E27FC236}">
                  <a16:creationId xmlns:a16="http://schemas.microsoft.com/office/drawing/2014/main" id="{848929BF-8F78-4421-A0CA-BC72A335BC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477388" y="482171"/>
              <a:ext cx="4074533" cy="5149101"/>
            </a:xfrm>
            <a:prstGeom prst="rect">
              <a:avLst/>
            </a:prstGeom>
            <a:blipFill dpi="0" rotWithShape="1">
              <a:blip r:embed="rId4">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90DA111-CADC-4534-B902-8BB5DBF756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90447" y="812507"/>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8" name="Content Placeholder 7" descr="Balancing black stones on white background">
            <a:extLst>
              <a:ext uri="{FF2B5EF4-FFF2-40B4-BE49-F238E27FC236}">
                <a16:creationId xmlns:a16="http://schemas.microsoft.com/office/drawing/2014/main" id="{1DD78D77-CA7B-49AA-94B5-528DE437FCD9}"/>
              </a:ext>
            </a:extLst>
          </p:cNvPr>
          <p:cNvPicPr>
            <a:picLocks noGrp="1" noChangeAspect="1"/>
          </p:cNvPicPr>
          <p:nvPr>
            <p:ph type="pic" sz="quarter" idx="15"/>
          </p:nvPr>
        </p:nvPicPr>
        <p:blipFill>
          <a:blip r:embed="rId5"/>
          <a:srcRect r="51673"/>
          <a:stretch>
            <a:fillRect/>
          </a:stretch>
        </p:blipFill>
        <p:spPr>
          <a:xfrm>
            <a:off x="8116373" y="1116345"/>
            <a:ext cx="2799103" cy="3866172"/>
          </a:xfrm>
          <a:prstGeom prst="rect">
            <a:avLst/>
          </a:prstGeom>
        </p:spPr>
      </p:pic>
    </p:spTree>
    <p:extLst>
      <p:ext uri="{BB962C8B-B14F-4D97-AF65-F5344CB8AC3E}">
        <p14:creationId xmlns:p14="http://schemas.microsoft.com/office/powerpoint/2010/main" val="38994305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B25638D-3D06-41D1-8060-4D2707C60A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8161BB1E-0062-4056-AB94-121EF614D5F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7" name="Straight Connector 16">
            <a:extLst>
              <a:ext uri="{FF2B5EF4-FFF2-40B4-BE49-F238E27FC236}">
                <a16:creationId xmlns:a16="http://schemas.microsoft.com/office/drawing/2014/main" id="{8FBC01E2-D629-4319-B5CB-BFA461B8CF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4428914-A78A-4B89-144D-72DB8602E15C}"/>
              </a:ext>
            </a:extLst>
          </p:cNvPr>
          <p:cNvSpPr>
            <a:spLocks noGrp="1"/>
          </p:cNvSpPr>
          <p:nvPr>
            <p:ph type="title"/>
          </p:nvPr>
        </p:nvSpPr>
        <p:spPr>
          <a:xfrm>
            <a:off x="5188043" y="804520"/>
            <a:ext cx="5550355" cy="1049235"/>
          </a:xfrm>
        </p:spPr>
        <p:txBody>
          <a:bodyPr vert="horz" lIns="91440" tIns="45720" rIns="91440" bIns="45720" rtlCol="0" anchor="ctr">
            <a:normAutofit/>
          </a:bodyPr>
          <a:lstStyle/>
          <a:p>
            <a:r>
              <a:rPr lang="en-US" sz="2700"/>
              <a:t>Strategies to Minimize Misinterpretation of Data</a:t>
            </a:r>
          </a:p>
        </p:txBody>
      </p:sp>
      <p:grpSp>
        <p:nvGrpSpPr>
          <p:cNvPr id="19" name="Group 18">
            <a:extLst>
              <a:ext uri="{FF2B5EF4-FFF2-40B4-BE49-F238E27FC236}">
                <a16:creationId xmlns:a16="http://schemas.microsoft.com/office/drawing/2014/main" id="{E46ADE2F-622A-49F7-B01E-89B88DFDBA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32239" y="482171"/>
            <a:ext cx="4074533" cy="5149101"/>
            <a:chOff x="632239" y="482171"/>
            <a:chExt cx="4074533" cy="5149101"/>
          </a:xfrm>
        </p:grpSpPr>
        <p:sp>
          <p:nvSpPr>
            <p:cNvPr id="20" name="Rectangle 19">
              <a:extLst>
                <a:ext uri="{FF2B5EF4-FFF2-40B4-BE49-F238E27FC236}">
                  <a16:creationId xmlns:a16="http://schemas.microsoft.com/office/drawing/2014/main" id="{70EF2F8F-585A-4BC8-99DF-1FF7540EB0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239" y="482171"/>
              <a:ext cx="4074533" cy="5149101"/>
            </a:xfrm>
            <a:prstGeom prst="rect">
              <a:avLst/>
            </a:prstGeom>
            <a:blipFill dpi="0" rotWithShape="1">
              <a:blip r:embed="rId4">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9489A87-C8F2-43AD-B5F8-2050CE427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5298" y="812507"/>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58A88787-97A0-4D42-8248-4034B82241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9024" y="988222"/>
            <a:ext cx="3122836" cy="4126145"/>
          </a:xfrm>
          <a:prstGeom prst="rect">
            <a:avLst/>
          </a:prstGeom>
          <a:solidFill>
            <a:srgbClr val="FFFFFE"/>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descr="Business report chart analysis tablet computer">
            <a:extLst>
              <a:ext uri="{FF2B5EF4-FFF2-40B4-BE49-F238E27FC236}">
                <a16:creationId xmlns:a16="http://schemas.microsoft.com/office/drawing/2014/main" id="{AB10B647-F2A8-4EEE-8B54-EC4ACBC4BFDB}"/>
              </a:ext>
            </a:extLst>
          </p:cNvPr>
          <p:cNvPicPr>
            <a:picLocks noGrp="1" noChangeAspect="1"/>
          </p:cNvPicPr>
          <p:nvPr>
            <p:ph type="pic" sz="quarter" idx="15"/>
          </p:nvPr>
        </p:nvPicPr>
        <p:blipFill>
          <a:blip r:embed="rId5"/>
          <a:srcRect l="4761" r="4761"/>
          <a:stretch/>
        </p:blipFill>
        <p:spPr>
          <a:xfrm>
            <a:off x="1285438" y="1889299"/>
            <a:ext cx="2799103" cy="2320263"/>
          </a:xfrm>
          <a:prstGeom prst="rect">
            <a:avLst/>
          </a:prstGeom>
        </p:spPr>
      </p:pic>
      <p:sp>
        <p:nvSpPr>
          <p:cNvPr id="5" name="Slide Number Placeholder 4">
            <a:extLst>
              <a:ext uri="{FF2B5EF4-FFF2-40B4-BE49-F238E27FC236}">
                <a16:creationId xmlns:a16="http://schemas.microsoft.com/office/drawing/2014/main" id="{856952FC-D972-A081-642B-9005DD521D07}"/>
              </a:ext>
            </a:extLst>
          </p:cNvPr>
          <p:cNvSpPr>
            <a:spLocks noGrp="1"/>
          </p:cNvSpPr>
          <p:nvPr>
            <p:ph type="sldNum" sz="quarter" idx="12"/>
          </p:nvPr>
        </p:nvSpPr>
        <p:spPr>
          <a:xfrm>
            <a:off x="10911613" y="798973"/>
            <a:ext cx="811019" cy="503579"/>
          </a:xfrm>
        </p:spPr>
        <p:txBody>
          <a:bodyPr vert="horz" lIns="91440" tIns="45720" rIns="91440" bIns="45720" rtlCol="0" anchor="t">
            <a:normAutofit/>
          </a:bodyPr>
          <a:lstStyle/>
          <a:p>
            <a:pPr algn="l">
              <a:lnSpc>
                <a:spcPct val="90000"/>
              </a:lnSpc>
              <a:spcAft>
                <a:spcPts val="600"/>
              </a:spcAft>
            </a:pPr>
            <a:fld id="{AEAA3239-9EA4-4A65-A281-97F994456D9F}" type="slidenum">
              <a:rPr lang="en-US" smtClean="0">
                <a:solidFill>
                  <a:schemeClr val="accent1"/>
                </a:solidFill>
              </a:rPr>
              <a:pPr algn="l">
                <a:lnSpc>
                  <a:spcPct val="90000"/>
                </a:lnSpc>
                <a:spcAft>
                  <a:spcPts val="600"/>
                </a:spcAft>
              </a:pPr>
              <a:t>5</a:t>
            </a:fld>
            <a:endParaRPr lang="en-US">
              <a:solidFill>
                <a:schemeClr val="accent1"/>
              </a:solidFill>
            </a:endParaRPr>
          </a:p>
        </p:txBody>
      </p:sp>
      <p:sp>
        <p:nvSpPr>
          <p:cNvPr id="7" name="Content Placeholder 6">
            <a:extLst>
              <a:ext uri="{FF2B5EF4-FFF2-40B4-BE49-F238E27FC236}">
                <a16:creationId xmlns:a16="http://schemas.microsoft.com/office/drawing/2014/main" id="{56799308-8FCB-3736-FB91-B2D9922E175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88043" y="2015732"/>
            <a:ext cx="5550355" cy="3450613"/>
          </a:xfrm>
        </p:spPr>
        <p:txBody>
          <a:bodyPr>
            <a:normAutofit/>
          </a:bodyPr>
          <a:lstStyle/>
          <a:p>
            <a:pPr marL="0" indent="0">
              <a:spcBef>
                <a:spcPts val="2500"/>
              </a:spcBef>
              <a:buFont typeface="Arial" panose="020B0604020202020204" pitchFamily="34" charset="0"/>
              <a:buNone/>
            </a:pPr>
            <a:r>
              <a:rPr lang="en-US" sz="1400" b="1" dirty="0"/>
              <a:t>Consistency in Visualization</a:t>
            </a:r>
          </a:p>
          <a:p>
            <a:pPr marL="0" lvl="1" indent="0">
              <a:buFont typeface="Arial" panose="020B0604020202020204" pitchFamily="34" charset="0"/>
              <a:buNone/>
            </a:pPr>
            <a:r>
              <a:rPr lang="en-US" sz="1400" dirty="0"/>
              <a:t>Using consistent chart types, colors, and terminology across dashboards increases user understanding and reduces confusion.</a:t>
            </a:r>
          </a:p>
          <a:p>
            <a:pPr marL="0" indent="0">
              <a:spcBef>
                <a:spcPts val="2500"/>
              </a:spcBef>
              <a:buFont typeface="Arial" panose="020B0604020202020204" pitchFamily="34" charset="0"/>
              <a:buNone/>
            </a:pPr>
            <a:r>
              <a:rPr lang="en-US" sz="1400" b="1" dirty="0"/>
              <a:t>Providing Context</a:t>
            </a:r>
          </a:p>
          <a:p>
            <a:pPr marL="0" lvl="1" indent="0">
              <a:buFont typeface="Arial" panose="020B0604020202020204" pitchFamily="34" charset="0"/>
              <a:buNone/>
            </a:pPr>
            <a:r>
              <a:rPr lang="en-US" sz="1400" dirty="0"/>
              <a:t>Clear titles, annotations, and tooltips explain trends and anomalies to ensure accurate interpretation of data visuals.</a:t>
            </a:r>
          </a:p>
          <a:p>
            <a:pPr marL="0" indent="0">
              <a:spcBef>
                <a:spcPts val="2500"/>
              </a:spcBef>
              <a:buFont typeface="Arial" panose="020B0604020202020204" pitchFamily="34" charset="0"/>
              <a:buNone/>
            </a:pPr>
            <a:r>
              <a:rPr lang="en-US" sz="1400" b="1" dirty="0"/>
              <a:t>User Testing and Feedback</a:t>
            </a:r>
          </a:p>
          <a:p>
            <a:pPr marL="0" lvl="1" indent="0">
              <a:buFont typeface="Arial" panose="020B0604020202020204" pitchFamily="34" charset="0"/>
              <a:buNone/>
            </a:pPr>
            <a:r>
              <a:rPr lang="en-US" sz="1400" dirty="0"/>
              <a:t>Testing dashboards with sample users uncovers unclear visuals and terminology, improving overall comprehension.</a:t>
            </a:r>
          </a:p>
        </p:txBody>
      </p:sp>
      <p:sp>
        <p:nvSpPr>
          <p:cNvPr id="3" name="Date Placeholder 2">
            <a:extLst>
              <a:ext uri="{FF2B5EF4-FFF2-40B4-BE49-F238E27FC236}">
                <a16:creationId xmlns:a16="http://schemas.microsoft.com/office/drawing/2014/main" id="{FD36F5EB-938D-06E9-332D-DF8E1819A8B8}"/>
              </a:ext>
            </a:extLst>
          </p:cNvPr>
          <p:cNvSpPr>
            <a:spLocks noGrp="1"/>
          </p:cNvSpPr>
          <p:nvPr>
            <p:ph type="dt" sz="half" idx="10"/>
          </p:nvPr>
        </p:nvSpPr>
        <p:spPr>
          <a:xfrm>
            <a:off x="5188043" y="5477468"/>
            <a:ext cx="5550355" cy="309201"/>
          </a:xfrm>
        </p:spPr>
        <p:txBody>
          <a:bodyPr vert="horz" lIns="91440" tIns="45720" rIns="91440" bIns="45720" rtlCol="0" anchor="ctr">
            <a:normAutofit/>
          </a:bodyPr>
          <a:lstStyle/>
          <a:p>
            <a:pPr>
              <a:spcAft>
                <a:spcPts val="600"/>
              </a:spcAft>
            </a:pPr>
            <a:fld id="{5C3B29B2-4593-A044-9190-FE2DA1AD031D}" type="datetime1">
              <a:rPr lang="en-US" smtClean="0">
                <a:solidFill>
                  <a:schemeClr val="tx1">
                    <a:tint val="75000"/>
                  </a:schemeClr>
                </a:solidFill>
              </a:rPr>
              <a:pPr>
                <a:spcAft>
                  <a:spcPts val="600"/>
                </a:spcAft>
              </a:pPr>
              <a:t>3/16/2026</a:t>
            </a:fld>
            <a:endParaRPr lang="en-US">
              <a:solidFill>
                <a:schemeClr val="tx1">
                  <a:tint val="75000"/>
                </a:schemeClr>
              </a:solidFill>
            </a:endParaRPr>
          </a:p>
        </p:txBody>
      </p:sp>
    </p:spTree>
    <p:extLst>
      <p:ext uri="{BB962C8B-B14F-4D97-AF65-F5344CB8AC3E}">
        <p14:creationId xmlns:p14="http://schemas.microsoft.com/office/powerpoint/2010/main" val="144577775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B99ED26-B189-4BA1-99D0-1112D8C2F10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3766CE19-BB35-48A2-AFDA-766E833300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Gallery</Template>
  <TotalTime>6013</TotalTime>
  <Words>1270</Words>
  <Application>Microsoft Office PowerPoint</Application>
  <PresentationFormat>Widescreen</PresentationFormat>
  <Paragraphs>52</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Rockwell</vt:lpstr>
      <vt:lpstr>Gallery</vt:lpstr>
      <vt:lpstr>Data Storytelling in Tableau for Different Audiences</vt:lpstr>
      <vt:lpstr>Tailoring Data Stories from Executives to Front-Line Employees</vt:lpstr>
      <vt:lpstr>Creating Visually Engaging Yet Reliable Tableau Reports</vt:lpstr>
      <vt:lpstr>Ethics and Responsibility in Tableau Visualizations</vt:lpstr>
      <vt:lpstr>Strategies to Minimize Misinterpretation of Data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VB-Zimmerman-Gibson, Joshua (Virginia Beach)</cp:lastModifiedBy>
  <cp:revision>7</cp:revision>
  <dcterms:created xsi:type="dcterms:W3CDTF">2025-05-21T23:03:00Z</dcterms:created>
  <dcterms:modified xsi:type="dcterms:W3CDTF">2026-03-16T20:20:51Z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