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cel and Power BI Integration for Business Analytics" id="{3A0CC3FD-A494-42A1-B13B-D78D71F8F43D}">
          <p14:sldIdLst>
            <p14:sldId id="2561"/>
            <p14:sldId id="2562"/>
          </p14:sldIdLst>
        </p14:section>
        <p14:section name="Maintaining Data Accuracy and Consistency" id="{94BDD2F1-3C55-4CB1-9010-3D13ADBB0E0A}">
          <p14:sldIdLst>
            <p14:sldId id="2563"/>
            <p14:sldId id="2564"/>
          </p14:sldIdLst>
        </p14:section>
        <p14:section name="Policies and Procedures to Mitigate Data Discrepancies" id="{CA4C0481-4E4F-442A-8EAF-7C8F40870D7C}">
          <p14:sldIdLst>
            <p14:sldId id="2565"/>
            <p14:sldId id="2566"/>
          </p14:sldIdLst>
        </p14:section>
        <p14:section name="Business Scenarios Where Excel and Power BI Excel Together" id="{5BC8E045-EFE4-4B67-B148-71B35D2602B4}">
          <p14:sldIdLst>
            <p14:sldId id="2567"/>
            <p14:sldId id="2568"/>
          </p14:sldIdLst>
        </p14:section>
        <p14:section name="Industry Examples" id="{DC68A89F-847E-4465-AC1E-D16827BB49E7}">
          <p14:sldIdLst>
            <p14:sldId id="2569"/>
            <p14:sldId id="2570"/>
          </p14:sldIdLst>
        </p14:section>
        <p14:section name="Training and Transitioning Excel Users to Power BI" id="{74B74311-BA3B-4671-BD69-87E0EAA1BB04}">
          <p14:sldIdLst>
            <p14:sldId id="2571"/>
            <p14:sldId id="2572"/>
          </p14:sldIdLst>
        </p14:section>
        <p14:section name="Streamlining Analysis and Improving Collaboration" id="{6C1B90BE-029A-4D89-91A8-890D680E230C}">
          <p14:sldIdLst>
            <p14:sldId id="2573"/>
            <p14:sldId id="2574"/>
          </p14:sldIdLst>
        </p14:section>
        <p14:section name="Conclusion" id="{434135BB-488B-4CD5-A561-69209AC891A6}">
          <p14:sldIdLst>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2C340C-DBAA-416C-B56C-CD1EB041A9A3}" v="18" dt="2026-03-09T21:00:15.464"/>
    <p1510:client id="{6144A2F1-1FE6-44F7-8668-F32434CAA35E}" v="181" dt="2026-03-09T21:11:12.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087" autoAdjust="0"/>
  </p:normalViewPr>
  <p:slideViewPr>
    <p:cSldViewPr>
      <p:cViewPr varScale="1">
        <p:scale>
          <a:sx n="86" d="100"/>
          <a:sy n="86" d="100"/>
        </p:scale>
        <p:origin x="828" y="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Zimmerman-Gibson, Joshua (Virginia Beach)" userId="d08658ba-7f2c-4f82-b12e-30c210e6c7f4" providerId="ADAL" clId="{B7577925-A160-4B5F-A00D-882CCE4A7982}"/>
    <pc:docChg chg="modSld">
      <pc:chgData name="VB-Zimmerman-Gibson, Joshua (Virginia Beach)" userId="d08658ba-7f2c-4f82-b12e-30c210e6c7f4" providerId="ADAL" clId="{B7577925-A160-4B5F-A00D-882CCE4A7982}" dt="2026-03-09T21:11:12.531" v="190" actId="255"/>
      <pc:docMkLst>
        <pc:docMk/>
      </pc:docMkLst>
      <pc:sldChg chg="modSp mod setBg">
        <pc:chgData name="VB-Zimmerman-Gibson, Joshua (Virginia Beach)" userId="d08658ba-7f2c-4f82-b12e-30c210e6c7f4" providerId="ADAL" clId="{B7577925-A160-4B5F-A00D-882CCE4A7982}" dt="2026-03-09T21:08:31.925" v="174" actId="255"/>
        <pc:sldMkLst>
          <pc:docMk/>
          <pc:sldMk cId="3090454455" sldId="2562"/>
        </pc:sldMkLst>
        <pc:spChg chg="mod">
          <ac:chgData name="VB-Zimmerman-Gibson, Joshua (Virginia Beach)" userId="d08658ba-7f2c-4f82-b12e-30c210e6c7f4" providerId="ADAL" clId="{B7577925-A160-4B5F-A00D-882CCE4A7982}" dt="2026-03-09T21:08:31.925" v="174" actId="255"/>
          <ac:spMkLst>
            <pc:docMk/>
            <pc:sldMk cId="3090454455" sldId="2562"/>
            <ac:spMk id="5" creationId="{A8E61C00-F414-47FE-8798-8BEED57DBA88}"/>
          </ac:spMkLst>
        </pc:spChg>
      </pc:sldChg>
      <pc:sldChg chg="modSp mod setBg">
        <pc:chgData name="VB-Zimmerman-Gibson, Joshua (Virginia Beach)" userId="d08658ba-7f2c-4f82-b12e-30c210e6c7f4" providerId="ADAL" clId="{B7577925-A160-4B5F-A00D-882CCE4A7982}" dt="2026-03-09T21:08:52.444" v="176" actId="255"/>
        <pc:sldMkLst>
          <pc:docMk/>
          <pc:sldMk cId="901571102" sldId="2564"/>
        </pc:sldMkLst>
        <pc:spChg chg="mod">
          <ac:chgData name="VB-Zimmerman-Gibson, Joshua (Virginia Beach)" userId="d08658ba-7f2c-4f82-b12e-30c210e6c7f4" providerId="ADAL" clId="{B7577925-A160-4B5F-A00D-882CCE4A7982}" dt="2026-03-09T21:08:52.444" v="176" actId="255"/>
          <ac:spMkLst>
            <pc:docMk/>
            <pc:sldMk cId="901571102" sldId="2564"/>
            <ac:spMk id="5" creationId="{2BA333B7-BF84-43A7-A6BD-152E9DE283FE}"/>
          </ac:spMkLst>
        </pc:spChg>
      </pc:sldChg>
      <pc:sldChg chg="modSp mod setBg">
        <pc:chgData name="VB-Zimmerman-Gibson, Joshua (Virginia Beach)" userId="d08658ba-7f2c-4f82-b12e-30c210e6c7f4" providerId="ADAL" clId="{B7577925-A160-4B5F-A00D-882CCE4A7982}" dt="2026-03-09T21:09:17.019" v="179" actId="255"/>
        <pc:sldMkLst>
          <pc:docMk/>
          <pc:sldMk cId="3099750568" sldId="2566"/>
        </pc:sldMkLst>
        <pc:spChg chg="mod">
          <ac:chgData name="VB-Zimmerman-Gibson, Joshua (Virginia Beach)" userId="d08658ba-7f2c-4f82-b12e-30c210e6c7f4" providerId="ADAL" clId="{B7577925-A160-4B5F-A00D-882CCE4A7982}" dt="2026-03-09T21:09:17.019" v="179" actId="255"/>
          <ac:spMkLst>
            <pc:docMk/>
            <pc:sldMk cId="3099750568" sldId="2566"/>
            <ac:spMk id="5" creationId="{DB6BEBAE-92E1-4BD5-B8E8-C74014248AEF}"/>
          </ac:spMkLst>
        </pc:spChg>
      </pc:sldChg>
      <pc:sldChg chg="modSp mod setBg">
        <pc:chgData name="VB-Zimmerman-Gibson, Joshua (Virginia Beach)" userId="d08658ba-7f2c-4f82-b12e-30c210e6c7f4" providerId="ADAL" clId="{B7577925-A160-4B5F-A00D-882CCE4A7982}" dt="2026-03-09T21:09:35.684" v="181" actId="255"/>
        <pc:sldMkLst>
          <pc:docMk/>
          <pc:sldMk cId="1949805667" sldId="2568"/>
        </pc:sldMkLst>
        <pc:spChg chg="mod">
          <ac:chgData name="VB-Zimmerman-Gibson, Joshua (Virginia Beach)" userId="d08658ba-7f2c-4f82-b12e-30c210e6c7f4" providerId="ADAL" clId="{B7577925-A160-4B5F-A00D-882CCE4A7982}" dt="2026-03-09T21:09:35.684" v="181" actId="255"/>
          <ac:spMkLst>
            <pc:docMk/>
            <pc:sldMk cId="1949805667" sldId="2568"/>
            <ac:spMk id="5" creationId="{F9386A80-DDC7-49BF-A813-6A32709D0205}"/>
          </ac:spMkLst>
        </pc:spChg>
      </pc:sldChg>
      <pc:sldChg chg="modSp mod setBg">
        <pc:chgData name="VB-Zimmerman-Gibson, Joshua (Virginia Beach)" userId="d08658ba-7f2c-4f82-b12e-30c210e6c7f4" providerId="ADAL" clId="{B7577925-A160-4B5F-A00D-882CCE4A7982}" dt="2026-03-09T21:09:51.084" v="183" actId="255"/>
        <pc:sldMkLst>
          <pc:docMk/>
          <pc:sldMk cId="363911366" sldId="2570"/>
        </pc:sldMkLst>
        <pc:spChg chg="mod">
          <ac:chgData name="VB-Zimmerman-Gibson, Joshua (Virginia Beach)" userId="d08658ba-7f2c-4f82-b12e-30c210e6c7f4" providerId="ADAL" clId="{B7577925-A160-4B5F-A00D-882CCE4A7982}" dt="2026-03-09T21:09:51.084" v="183" actId="255"/>
          <ac:spMkLst>
            <pc:docMk/>
            <pc:sldMk cId="363911366" sldId="2570"/>
            <ac:spMk id="5" creationId="{313CCF3B-A6AA-414D-917B-92E26A0B668D}"/>
          </ac:spMkLst>
        </pc:spChg>
      </pc:sldChg>
      <pc:sldChg chg="modSp mod setBg">
        <pc:chgData name="VB-Zimmerman-Gibson, Joshua (Virginia Beach)" userId="d08658ba-7f2c-4f82-b12e-30c210e6c7f4" providerId="ADAL" clId="{B7577925-A160-4B5F-A00D-882CCE4A7982}" dt="2026-03-09T21:10:19.596" v="186" actId="255"/>
        <pc:sldMkLst>
          <pc:docMk/>
          <pc:sldMk cId="4112817363" sldId="2572"/>
        </pc:sldMkLst>
        <pc:spChg chg="mod">
          <ac:chgData name="VB-Zimmerman-Gibson, Joshua (Virginia Beach)" userId="d08658ba-7f2c-4f82-b12e-30c210e6c7f4" providerId="ADAL" clId="{B7577925-A160-4B5F-A00D-882CCE4A7982}" dt="2026-03-09T21:10:19.596" v="186" actId="255"/>
          <ac:spMkLst>
            <pc:docMk/>
            <pc:sldMk cId="4112817363" sldId="2572"/>
            <ac:spMk id="5" creationId="{80929D28-C574-4F34-B087-01E7B9D1FD5F}"/>
          </ac:spMkLst>
        </pc:spChg>
      </pc:sldChg>
      <pc:sldChg chg="modSp mod setBg">
        <pc:chgData name="VB-Zimmerman-Gibson, Joshua (Virginia Beach)" userId="d08658ba-7f2c-4f82-b12e-30c210e6c7f4" providerId="ADAL" clId="{B7577925-A160-4B5F-A00D-882CCE4A7982}" dt="2026-03-09T21:08:11.430" v="172" actId="255"/>
        <pc:sldMkLst>
          <pc:docMk/>
          <pc:sldMk cId="4185283330" sldId="2574"/>
        </pc:sldMkLst>
        <pc:spChg chg="mod">
          <ac:chgData name="VB-Zimmerman-Gibson, Joshua (Virginia Beach)" userId="d08658ba-7f2c-4f82-b12e-30c210e6c7f4" providerId="ADAL" clId="{B7577925-A160-4B5F-A00D-882CCE4A7982}" dt="2026-03-09T21:08:11.430" v="172" actId="255"/>
          <ac:spMkLst>
            <pc:docMk/>
            <pc:sldMk cId="4185283330" sldId="2574"/>
            <ac:spMk id="5" creationId="{A649B0F6-6AAA-445E-8ABB-4398D52C57AF}"/>
          </ac:spMkLst>
        </pc:spChg>
      </pc:sldChg>
      <pc:sldChg chg="modSp mod setBg">
        <pc:chgData name="VB-Zimmerman-Gibson, Joshua (Virginia Beach)" userId="d08658ba-7f2c-4f82-b12e-30c210e6c7f4" providerId="ADAL" clId="{B7577925-A160-4B5F-A00D-882CCE4A7982}" dt="2026-03-09T21:11:12.531" v="190" actId="255"/>
        <pc:sldMkLst>
          <pc:docMk/>
          <pc:sldMk cId="3743606262" sldId="2576"/>
        </pc:sldMkLst>
        <pc:graphicFrameChg chg="mod">
          <ac:chgData name="VB-Zimmerman-Gibson, Joshua (Virginia Beach)" userId="d08658ba-7f2c-4f82-b12e-30c210e6c7f4" providerId="ADAL" clId="{B7577925-A160-4B5F-A00D-882CCE4A7982}" dt="2026-03-09T21:11:12.531" v="190" actId="255"/>
          <ac:graphicFrameMkLst>
            <pc:docMk/>
            <pc:sldMk cId="3743606262" sldId="2576"/>
            <ac:graphicFrameMk id="4" creationId="{8E60A354-0BD6-4C29-9052-F01E48E85C3F}"/>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08B8E0-F42A-4670-B405-CD7CBA8485F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9F0D35ED-9E70-4185-9B00-3347CAFD0D22}">
      <dgm:prSet/>
      <dgm:spPr/>
      <dgm:t>
        <a:bodyPr/>
        <a:lstStyle/>
        <a:p>
          <a:pPr>
            <a:lnSpc>
              <a:spcPct val="100000"/>
            </a:lnSpc>
            <a:defRPr b="1"/>
          </a:pPr>
          <a:r>
            <a:rPr lang="en-US"/>
            <a:t>Complementary Analytics Tools</a:t>
          </a:r>
        </a:p>
      </dgm:t>
    </dgm:pt>
    <dgm:pt modelId="{D656882A-4FE0-4EA5-8302-C4BAFFB60408}" type="parTrans" cxnId="{56AD17FE-70EF-40CD-B3C7-563F41C41558}">
      <dgm:prSet/>
      <dgm:spPr/>
      <dgm:t>
        <a:bodyPr/>
        <a:lstStyle/>
        <a:p>
          <a:endParaRPr lang="en-US"/>
        </a:p>
      </dgm:t>
    </dgm:pt>
    <dgm:pt modelId="{05E17B9A-19AE-42F2-8E46-73D3D697D9F1}" type="sibTrans" cxnId="{56AD17FE-70EF-40CD-B3C7-563F41C41558}">
      <dgm:prSet/>
      <dgm:spPr/>
      <dgm:t>
        <a:bodyPr/>
        <a:lstStyle/>
        <a:p>
          <a:pPr>
            <a:lnSpc>
              <a:spcPct val="100000"/>
            </a:lnSpc>
            <a:defRPr b="1"/>
          </a:pPr>
          <a:endParaRPr lang="en-US"/>
        </a:p>
      </dgm:t>
    </dgm:pt>
    <dgm:pt modelId="{16D58929-CBCD-4934-A350-683F572F6BC8}">
      <dgm:prSet custT="1"/>
      <dgm:spPr/>
      <dgm:t>
        <a:bodyPr/>
        <a:lstStyle/>
        <a:p>
          <a:pPr>
            <a:lnSpc>
              <a:spcPct val="100000"/>
            </a:lnSpc>
          </a:pPr>
          <a:r>
            <a:rPr lang="en-US" sz="2400" dirty="0"/>
            <a:t>Excel and Power BI combine to create a powerful analytics ecosystem for enhanced data insights</a:t>
          </a:r>
          <a:r>
            <a:rPr lang="en-US" sz="1400" dirty="0"/>
            <a:t>.</a:t>
          </a:r>
        </a:p>
      </dgm:t>
    </dgm:pt>
    <dgm:pt modelId="{6DD0D8DB-69A4-46D3-BF81-8EED08CF0B21}" type="parTrans" cxnId="{DD58CDCA-2FA6-4093-8A99-872C8F33F9DB}">
      <dgm:prSet/>
      <dgm:spPr/>
      <dgm:t>
        <a:bodyPr/>
        <a:lstStyle/>
        <a:p>
          <a:endParaRPr lang="en-US"/>
        </a:p>
      </dgm:t>
    </dgm:pt>
    <dgm:pt modelId="{843D8229-AC9A-4B48-9066-98140ECDD679}" type="sibTrans" cxnId="{DD58CDCA-2FA6-4093-8A99-872C8F33F9DB}">
      <dgm:prSet/>
      <dgm:spPr/>
      <dgm:t>
        <a:bodyPr/>
        <a:lstStyle/>
        <a:p>
          <a:endParaRPr lang="en-US"/>
        </a:p>
      </dgm:t>
    </dgm:pt>
    <dgm:pt modelId="{36B9D7ED-CFC0-4A7E-BC3E-465332977765}">
      <dgm:prSet/>
      <dgm:spPr/>
      <dgm:t>
        <a:bodyPr/>
        <a:lstStyle/>
        <a:p>
          <a:pPr>
            <a:lnSpc>
              <a:spcPct val="100000"/>
            </a:lnSpc>
            <a:defRPr b="1"/>
          </a:pPr>
          <a:r>
            <a:rPr lang="en-US"/>
            <a:t>Governance and Training</a:t>
          </a:r>
        </a:p>
      </dgm:t>
    </dgm:pt>
    <dgm:pt modelId="{97BB9B27-A315-49B8-A081-08C32CC9724A}" type="parTrans" cxnId="{FEAB7E00-4C72-46B2-8FA4-40525B5D2F71}">
      <dgm:prSet/>
      <dgm:spPr/>
      <dgm:t>
        <a:bodyPr/>
        <a:lstStyle/>
        <a:p>
          <a:endParaRPr lang="en-US"/>
        </a:p>
      </dgm:t>
    </dgm:pt>
    <dgm:pt modelId="{06458005-BE68-4066-9DE2-259486972845}" type="sibTrans" cxnId="{FEAB7E00-4C72-46B2-8FA4-40525B5D2F71}">
      <dgm:prSet/>
      <dgm:spPr/>
      <dgm:t>
        <a:bodyPr/>
        <a:lstStyle/>
        <a:p>
          <a:pPr>
            <a:lnSpc>
              <a:spcPct val="100000"/>
            </a:lnSpc>
            <a:defRPr b="1"/>
          </a:pPr>
          <a:endParaRPr lang="en-US"/>
        </a:p>
      </dgm:t>
    </dgm:pt>
    <dgm:pt modelId="{CA7CCFA3-22BB-47F1-B1C6-C089BA990B67}">
      <dgm:prSet custT="1"/>
      <dgm:spPr/>
      <dgm:t>
        <a:bodyPr/>
        <a:lstStyle/>
        <a:p>
          <a:pPr>
            <a:lnSpc>
              <a:spcPct val="100000"/>
            </a:lnSpc>
          </a:pPr>
          <a:r>
            <a:rPr lang="en-US" sz="2400" dirty="0"/>
            <a:t>Strong governance, clear policies, and training improve data accuracy and user collaboration.</a:t>
          </a:r>
        </a:p>
      </dgm:t>
    </dgm:pt>
    <dgm:pt modelId="{918B8333-B18E-4307-B678-F3FFEE751326}" type="parTrans" cxnId="{0F8B93EF-CF60-4328-8D7B-A981F98827B5}">
      <dgm:prSet/>
      <dgm:spPr/>
      <dgm:t>
        <a:bodyPr/>
        <a:lstStyle/>
        <a:p>
          <a:endParaRPr lang="en-US"/>
        </a:p>
      </dgm:t>
    </dgm:pt>
    <dgm:pt modelId="{EF1FDB28-7F70-48CD-A834-7355C180AAD2}" type="sibTrans" cxnId="{0F8B93EF-CF60-4328-8D7B-A981F98827B5}">
      <dgm:prSet/>
      <dgm:spPr/>
      <dgm:t>
        <a:bodyPr/>
        <a:lstStyle/>
        <a:p>
          <a:endParaRPr lang="en-US"/>
        </a:p>
      </dgm:t>
    </dgm:pt>
    <dgm:pt modelId="{DD4C371E-E5A5-4105-A7D5-C8113CD795BF}">
      <dgm:prSet/>
      <dgm:spPr/>
      <dgm:t>
        <a:bodyPr/>
        <a:lstStyle/>
        <a:p>
          <a:pPr>
            <a:lnSpc>
              <a:spcPct val="100000"/>
            </a:lnSpc>
            <a:defRPr b="1"/>
          </a:pPr>
          <a:r>
            <a:rPr lang="en-US"/>
            <a:t>Business Impact</a:t>
          </a:r>
        </a:p>
      </dgm:t>
    </dgm:pt>
    <dgm:pt modelId="{49CB173F-2286-4CC9-B444-8F34E30CCB71}" type="parTrans" cxnId="{F5F91CA8-842E-4AF3-B2B8-0ADF43C81D2B}">
      <dgm:prSet/>
      <dgm:spPr/>
      <dgm:t>
        <a:bodyPr/>
        <a:lstStyle/>
        <a:p>
          <a:endParaRPr lang="en-US"/>
        </a:p>
      </dgm:t>
    </dgm:pt>
    <dgm:pt modelId="{94134348-442D-4B94-8249-3F323CE6335C}" type="sibTrans" cxnId="{F5F91CA8-842E-4AF3-B2B8-0ADF43C81D2B}">
      <dgm:prSet/>
      <dgm:spPr/>
      <dgm:t>
        <a:bodyPr/>
        <a:lstStyle/>
        <a:p>
          <a:endParaRPr lang="en-US"/>
        </a:p>
      </dgm:t>
    </dgm:pt>
    <dgm:pt modelId="{9833B2DF-54D7-4FFA-AEF9-7C77401527CD}">
      <dgm:prSet custT="1"/>
      <dgm:spPr/>
      <dgm:t>
        <a:bodyPr/>
        <a:lstStyle/>
        <a:p>
          <a:pPr>
            <a:lnSpc>
              <a:spcPct val="100000"/>
            </a:lnSpc>
          </a:pPr>
          <a:r>
            <a:rPr lang="en-US" sz="2400" dirty="0"/>
            <a:t>Integrated tools boost analytical efficiency and support sustainable growth and decision-making</a:t>
          </a:r>
          <a:r>
            <a:rPr lang="en-US" sz="1400" dirty="0"/>
            <a:t>.</a:t>
          </a:r>
        </a:p>
      </dgm:t>
    </dgm:pt>
    <dgm:pt modelId="{EBD8C4A2-BDB0-4334-96E6-729C2B11B7A2}" type="parTrans" cxnId="{28670327-DF29-48EB-BA76-8102FB0347C3}">
      <dgm:prSet/>
      <dgm:spPr/>
      <dgm:t>
        <a:bodyPr/>
        <a:lstStyle/>
        <a:p>
          <a:endParaRPr lang="en-US"/>
        </a:p>
      </dgm:t>
    </dgm:pt>
    <dgm:pt modelId="{2CFA2F3F-BA4D-4C89-B347-6B1C99CEB886}" type="sibTrans" cxnId="{28670327-DF29-48EB-BA76-8102FB0347C3}">
      <dgm:prSet/>
      <dgm:spPr/>
      <dgm:t>
        <a:bodyPr/>
        <a:lstStyle/>
        <a:p>
          <a:endParaRPr lang="en-US"/>
        </a:p>
      </dgm:t>
    </dgm:pt>
    <dgm:pt modelId="{EB6B369C-AC44-4FC2-A46C-1E052C437117}" type="pres">
      <dgm:prSet presAssocID="{4008B8E0-F42A-4670-B405-CD7CBA8485FA}" presName="Root" presStyleCnt="0">
        <dgm:presLayoutVars>
          <dgm:dir/>
          <dgm:resizeHandles val="exact"/>
        </dgm:presLayoutVars>
      </dgm:prSet>
      <dgm:spPr/>
    </dgm:pt>
    <dgm:pt modelId="{6271862D-DCA0-4047-9A21-17C8D8F070FA}" type="pres">
      <dgm:prSet presAssocID="{9F0D35ED-9E70-4185-9B00-3347CAFD0D22}" presName="Composite" presStyleCnt="0"/>
      <dgm:spPr/>
    </dgm:pt>
    <dgm:pt modelId="{703A5E34-7FCD-4AC0-9AD6-61DF87221DC9}" type="pres">
      <dgm:prSet presAssocID="{9F0D35ED-9E70-4185-9B00-3347CAFD0D2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4045" r="9202" b="-5"/>
          <a:stretch/>
        </a:blipFill>
      </dgm:spPr>
      <dgm:extLst>
        <a:ext uri="{E40237B7-FDA0-4F09-8148-C483321AD2D9}">
          <dgm14:cNvPr xmlns:dgm14="http://schemas.microsoft.com/office/drawing/2010/diagram" id="0" name="" descr="Internet Network of Connected Devices and Apps."/>
        </a:ext>
      </dgm:extLst>
    </dgm:pt>
    <dgm:pt modelId="{37BE869F-58EF-49A9-A7DE-5B696D762F71}" type="pres">
      <dgm:prSet presAssocID="{9F0D35ED-9E70-4185-9B00-3347CAFD0D22}" presName="Subtitle" presStyleLbl="revTx" presStyleIdx="0" presStyleCnt="6">
        <dgm:presLayoutVars>
          <dgm:chMax val="0"/>
          <dgm:bulletEnabled/>
        </dgm:presLayoutVars>
      </dgm:prSet>
      <dgm:spPr/>
    </dgm:pt>
    <dgm:pt modelId="{757C1E5E-E184-4D3E-8748-C8004989D4C0}" type="pres">
      <dgm:prSet presAssocID="{9F0D35ED-9E70-4185-9B00-3347CAFD0D22}" presName="Description" presStyleLbl="revTx" presStyleIdx="1" presStyleCnt="6">
        <dgm:presLayoutVars>
          <dgm:bulletEnabled/>
        </dgm:presLayoutVars>
      </dgm:prSet>
      <dgm:spPr/>
    </dgm:pt>
    <dgm:pt modelId="{6D8A72DA-DFA3-4D28-B7F0-B06B2A6273F1}" type="pres">
      <dgm:prSet presAssocID="{05E17B9A-19AE-42F2-8E46-73D3D697D9F1}" presName="sibTrans" presStyleLbl="sibTrans2D1" presStyleIdx="0" presStyleCnt="0"/>
      <dgm:spPr/>
    </dgm:pt>
    <dgm:pt modelId="{10E1FAB8-C176-4CE5-BF3B-D2F89C7DD3A9}" type="pres">
      <dgm:prSet presAssocID="{36B9D7ED-CFC0-4A7E-BC3E-465332977765}" presName="Composite" presStyleCnt="0"/>
      <dgm:spPr/>
    </dgm:pt>
    <dgm:pt modelId="{33A50017-AF8D-4366-BFA9-D7666654F9FF}" type="pres">
      <dgm:prSet presAssocID="{36B9D7ED-CFC0-4A7E-BC3E-46533297776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25001" b="1"/>
          <a:stretch/>
        </a:blipFill>
      </dgm:spPr>
      <dgm:extLst>
        <a:ext uri="{E40237B7-FDA0-4F09-8148-C483321AD2D9}">
          <dgm14:cNvPr xmlns:dgm14="http://schemas.microsoft.com/office/drawing/2010/diagram" id="0" name="" descr="3D illustration."/>
        </a:ext>
      </dgm:extLst>
    </dgm:pt>
    <dgm:pt modelId="{CB25C991-1409-454A-8ADB-3AB0B58E57FB}" type="pres">
      <dgm:prSet presAssocID="{36B9D7ED-CFC0-4A7E-BC3E-465332977765}" presName="Subtitle" presStyleLbl="revTx" presStyleIdx="2" presStyleCnt="6">
        <dgm:presLayoutVars>
          <dgm:chMax val="0"/>
          <dgm:bulletEnabled/>
        </dgm:presLayoutVars>
      </dgm:prSet>
      <dgm:spPr/>
    </dgm:pt>
    <dgm:pt modelId="{6947AA2F-203F-4834-B127-91992CA30DB0}" type="pres">
      <dgm:prSet presAssocID="{36B9D7ED-CFC0-4A7E-BC3E-465332977765}" presName="Description" presStyleLbl="revTx" presStyleIdx="3" presStyleCnt="6">
        <dgm:presLayoutVars>
          <dgm:bulletEnabled/>
        </dgm:presLayoutVars>
      </dgm:prSet>
      <dgm:spPr/>
    </dgm:pt>
    <dgm:pt modelId="{82C4E723-F601-4A71-A959-63ED78846960}" type="pres">
      <dgm:prSet presAssocID="{06458005-BE68-4066-9DE2-259486972845}" presName="sibTrans" presStyleLbl="sibTrans2D1" presStyleIdx="0" presStyleCnt="0"/>
      <dgm:spPr/>
    </dgm:pt>
    <dgm:pt modelId="{EC396A5C-7E3B-45BC-8272-FF4A60645249}" type="pres">
      <dgm:prSet presAssocID="{DD4C371E-E5A5-4105-A7D5-C8113CD795BF}" presName="Composite" presStyleCnt="0"/>
      <dgm:spPr/>
    </dgm:pt>
    <dgm:pt modelId="{AEC36573-8564-4FEC-8A87-90F72AA5F91E}" type="pres">
      <dgm:prSet presAssocID="{DD4C371E-E5A5-4105-A7D5-C8113CD795B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698" r="12795" b="-9"/>
          <a:stretch/>
        </a:blipFill>
      </dgm:spPr>
      <dgm:extLst>
        <a:ext uri="{E40237B7-FDA0-4F09-8148-C483321AD2D9}">
          <dgm14:cNvPr xmlns:dgm14="http://schemas.microsoft.com/office/drawing/2010/diagram" id="0" name="" descr="Chalk board"/>
        </a:ext>
      </dgm:extLst>
    </dgm:pt>
    <dgm:pt modelId="{727B8305-D04A-4987-B623-4AFF469D95CD}" type="pres">
      <dgm:prSet presAssocID="{DD4C371E-E5A5-4105-A7D5-C8113CD795BF}" presName="Subtitle" presStyleLbl="revTx" presStyleIdx="4" presStyleCnt="6">
        <dgm:presLayoutVars>
          <dgm:chMax val="0"/>
          <dgm:bulletEnabled/>
        </dgm:presLayoutVars>
      </dgm:prSet>
      <dgm:spPr/>
    </dgm:pt>
    <dgm:pt modelId="{6B73FD93-156F-47AF-8071-91E31A0456FC}" type="pres">
      <dgm:prSet presAssocID="{DD4C371E-E5A5-4105-A7D5-C8113CD795BF}" presName="Description" presStyleLbl="revTx" presStyleIdx="5" presStyleCnt="6">
        <dgm:presLayoutVars>
          <dgm:bulletEnabled/>
        </dgm:presLayoutVars>
      </dgm:prSet>
      <dgm:spPr/>
    </dgm:pt>
  </dgm:ptLst>
  <dgm:cxnLst>
    <dgm:cxn modelId="{FEAB7E00-4C72-46B2-8FA4-40525B5D2F71}" srcId="{4008B8E0-F42A-4670-B405-CD7CBA8485FA}" destId="{36B9D7ED-CFC0-4A7E-BC3E-465332977765}" srcOrd="1" destOrd="0" parTransId="{97BB9B27-A315-49B8-A081-08C32CC9724A}" sibTransId="{06458005-BE68-4066-9DE2-259486972845}"/>
    <dgm:cxn modelId="{9DC1AA17-ACF9-4CBD-B4B6-20AE1B49A2B9}" type="presOf" srcId="{9833B2DF-54D7-4FFA-AEF9-7C77401527CD}" destId="{6B73FD93-156F-47AF-8071-91E31A0456FC}" srcOrd="0" destOrd="0" presId="urn:microsoft.com/office/officeart/2024/3/layout/verticalVisualTextBlock1"/>
    <dgm:cxn modelId="{28670327-DF29-48EB-BA76-8102FB0347C3}" srcId="{DD4C371E-E5A5-4105-A7D5-C8113CD795BF}" destId="{9833B2DF-54D7-4FFA-AEF9-7C77401527CD}" srcOrd="0" destOrd="0" parTransId="{EBD8C4A2-BDB0-4334-96E6-729C2B11B7A2}" sibTransId="{2CFA2F3F-BA4D-4C89-B347-6B1C99CEB886}"/>
    <dgm:cxn modelId="{DFF67E33-A0E7-47CE-B481-22629782BF37}" type="presOf" srcId="{36B9D7ED-CFC0-4A7E-BC3E-465332977765}" destId="{CB25C991-1409-454A-8ADB-3AB0B58E57FB}" srcOrd="0" destOrd="0" presId="urn:microsoft.com/office/officeart/2024/3/layout/verticalVisualTextBlock1"/>
    <dgm:cxn modelId="{FBA6133F-C2F5-4CC4-9B31-C9DF32510003}" type="presOf" srcId="{06458005-BE68-4066-9DE2-259486972845}" destId="{82C4E723-F601-4A71-A959-63ED78846960}" srcOrd="0" destOrd="0" presId="urn:microsoft.com/office/officeart/2024/3/layout/verticalVisualTextBlock1"/>
    <dgm:cxn modelId="{979B9854-717A-4B3A-8A03-58B800235BD5}" type="presOf" srcId="{CA7CCFA3-22BB-47F1-B1C6-C089BA990B67}" destId="{6947AA2F-203F-4834-B127-91992CA30DB0}" srcOrd="0" destOrd="0" presId="urn:microsoft.com/office/officeart/2024/3/layout/verticalVisualTextBlock1"/>
    <dgm:cxn modelId="{0B15C675-8037-4D08-844F-B81CE5849644}" type="presOf" srcId="{16D58929-CBCD-4934-A350-683F572F6BC8}" destId="{757C1E5E-E184-4D3E-8748-C8004989D4C0}" srcOrd="0" destOrd="0" presId="urn:microsoft.com/office/officeart/2024/3/layout/verticalVisualTextBlock1"/>
    <dgm:cxn modelId="{F9E4278D-1B53-4003-8300-B7EA8B1F0157}" type="presOf" srcId="{05E17B9A-19AE-42F2-8E46-73D3D697D9F1}" destId="{6D8A72DA-DFA3-4D28-B7F0-B06B2A6273F1}" srcOrd="0" destOrd="0" presId="urn:microsoft.com/office/officeart/2024/3/layout/verticalVisualTextBlock1"/>
    <dgm:cxn modelId="{6516AF99-E311-4A78-BF38-3B3832168188}" type="presOf" srcId="{9F0D35ED-9E70-4185-9B00-3347CAFD0D22}" destId="{37BE869F-58EF-49A9-A7DE-5B696D762F71}" srcOrd="0" destOrd="0" presId="urn:microsoft.com/office/officeart/2024/3/layout/verticalVisualTextBlock1"/>
    <dgm:cxn modelId="{F5F91CA8-842E-4AF3-B2B8-0ADF43C81D2B}" srcId="{4008B8E0-F42A-4670-B405-CD7CBA8485FA}" destId="{DD4C371E-E5A5-4105-A7D5-C8113CD795BF}" srcOrd="2" destOrd="0" parTransId="{49CB173F-2286-4CC9-B444-8F34E30CCB71}" sibTransId="{94134348-442D-4B94-8249-3F323CE6335C}"/>
    <dgm:cxn modelId="{DD58CDCA-2FA6-4093-8A99-872C8F33F9DB}" srcId="{9F0D35ED-9E70-4185-9B00-3347CAFD0D22}" destId="{16D58929-CBCD-4934-A350-683F572F6BC8}" srcOrd="0" destOrd="0" parTransId="{6DD0D8DB-69A4-46D3-BF81-8EED08CF0B21}" sibTransId="{843D8229-AC9A-4B48-9066-98140ECDD679}"/>
    <dgm:cxn modelId="{5C4DFDD8-5996-4B9F-A031-46347C18DBF2}" type="presOf" srcId="{4008B8E0-F42A-4670-B405-CD7CBA8485FA}" destId="{EB6B369C-AC44-4FC2-A46C-1E052C437117}" srcOrd="0" destOrd="0" presId="urn:microsoft.com/office/officeart/2024/3/layout/verticalVisualTextBlock1"/>
    <dgm:cxn modelId="{332C4CEB-87C2-4EED-8317-BA08DDC39925}" type="presOf" srcId="{DD4C371E-E5A5-4105-A7D5-C8113CD795BF}" destId="{727B8305-D04A-4987-B623-4AFF469D95CD}" srcOrd="0" destOrd="0" presId="urn:microsoft.com/office/officeart/2024/3/layout/verticalVisualTextBlock1"/>
    <dgm:cxn modelId="{0F8B93EF-CF60-4328-8D7B-A981F98827B5}" srcId="{36B9D7ED-CFC0-4A7E-BC3E-465332977765}" destId="{CA7CCFA3-22BB-47F1-B1C6-C089BA990B67}" srcOrd="0" destOrd="0" parTransId="{918B8333-B18E-4307-B678-F3FFEE751326}" sibTransId="{EF1FDB28-7F70-48CD-A834-7355C180AAD2}"/>
    <dgm:cxn modelId="{56AD17FE-70EF-40CD-B3C7-563F41C41558}" srcId="{4008B8E0-F42A-4670-B405-CD7CBA8485FA}" destId="{9F0D35ED-9E70-4185-9B00-3347CAFD0D22}" srcOrd="0" destOrd="0" parTransId="{D656882A-4FE0-4EA5-8302-C4BAFFB60408}" sibTransId="{05E17B9A-19AE-42F2-8E46-73D3D697D9F1}"/>
    <dgm:cxn modelId="{E2F581DB-25C2-4C13-9C0D-739CB5DBB3D1}" type="presParOf" srcId="{EB6B369C-AC44-4FC2-A46C-1E052C437117}" destId="{6271862D-DCA0-4047-9A21-17C8D8F070FA}" srcOrd="0" destOrd="0" presId="urn:microsoft.com/office/officeart/2024/3/layout/verticalVisualTextBlock1"/>
    <dgm:cxn modelId="{A895203F-D6A8-41A1-8713-13B3AC68EAC0}" type="presParOf" srcId="{6271862D-DCA0-4047-9A21-17C8D8F070FA}" destId="{703A5E34-7FCD-4AC0-9AD6-61DF87221DC9}" srcOrd="0" destOrd="0" presId="urn:microsoft.com/office/officeart/2024/3/layout/verticalVisualTextBlock1"/>
    <dgm:cxn modelId="{FEA45306-D681-4F17-A560-D54F228E4361}" type="presParOf" srcId="{6271862D-DCA0-4047-9A21-17C8D8F070FA}" destId="{37BE869F-58EF-49A9-A7DE-5B696D762F71}" srcOrd="1" destOrd="0" presId="urn:microsoft.com/office/officeart/2024/3/layout/verticalVisualTextBlock1"/>
    <dgm:cxn modelId="{3C05C88B-82FD-4D35-A90D-7DEF3A398176}" type="presParOf" srcId="{6271862D-DCA0-4047-9A21-17C8D8F070FA}" destId="{757C1E5E-E184-4D3E-8748-C8004989D4C0}" srcOrd="2" destOrd="0" presId="urn:microsoft.com/office/officeart/2024/3/layout/verticalVisualTextBlock1"/>
    <dgm:cxn modelId="{B04AD075-3D1D-474E-BB8B-BA8E3C2B20F0}" type="presParOf" srcId="{EB6B369C-AC44-4FC2-A46C-1E052C437117}" destId="{6D8A72DA-DFA3-4D28-B7F0-B06B2A6273F1}" srcOrd="1" destOrd="0" presId="urn:microsoft.com/office/officeart/2024/3/layout/verticalVisualTextBlock1"/>
    <dgm:cxn modelId="{E40B3285-5AC3-42DF-98F6-0BC0DBFAE28F}" type="presParOf" srcId="{EB6B369C-AC44-4FC2-A46C-1E052C437117}" destId="{10E1FAB8-C176-4CE5-BF3B-D2F89C7DD3A9}" srcOrd="2" destOrd="0" presId="urn:microsoft.com/office/officeart/2024/3/layout/verticalVisualTextBlock1"/>
    <dgm:cxn modelId="{6936E82D-38A4-43EA-BC68-92DAA1726E46}" type="presParOf" srcId="{10E1FAB8-C176-4CE5-BF3B-D2F89C7DD3A9}" destId="{33A50017-AF8D-4366-BFA9-D7666654F9FF}" srcOrd="0" destOrd="0" presId="urn:microsoft.com/office/officeart/2024/3/layout/verticalVisualTextBlock1"/>
    <dgm:cxn modelId="{757DAB89-F258-4C6C-AEA7-2B6054B2D6CD}" type="presParOf" srcId="{10E1FAB8-C176-4CE5-BF3B-D2F89C7DD3A9}" destId="{CB25C991-1409-454A-8ADB-3AB0B58E57FB}" srcOrd="1" destOrd="0" presId="urn:microsoft.com/office/officeart/2024/3/layout/verticalVisualTextBlock1"/>
    <dgm:cxn modelId="{4C144DC0-99A2-4AC1-961F-EF4C7CFAE8B5}" type="presParOf" srcId="{10E1FAB8-C176-4CE5-BF3B-D2F89C7DD3A9}" destId="{6947AA2F-203F-4834-B127-91992CA30DB0}" srcOrd="2" destOrd="0" presId="urn:microsoft.com/office/officeart/2024/3/layout/verticalVisualTextBlock1"/>
    <dgm:cxn modelId="{56277391-A447-4046-B582-AAFF29B8FED8}" type="presParOf" srcId="{EB6B369C-AC44-4FC2-A46C-1E052C437117}" destId="{82C4E723-F601-4A71-A959-63ED78846960}" srcOrd="3" destOrd="0" presId="urn:microsoft.com/office/officeart/2024/3/layout/verticalVisualTextBlock1"/>
    <dgm:cxn modelId="{032BF87D-B0A1-4AB6-AA7E-61F94EB7941E}" type="presParOf" srcId="{EB6B369C-AC44-4FC2-A46C-1E052C437117}" destId="{EC396A5C-7E3B-45BC-8272-FF4A60645249}" srcOrd="4" destOrd="0" presId="urn:microsoft.com/office/officeart/2024/3/layout/verticalVisualTextBlock1"/>
    <dgm:cxn modelId="{8F43BE6E-977C-4D6F-A851-A3AE07934574}" type="presParOf" srcId="{EC396A5C-7E3B-45BC-8272-FF4A60645249}" destId="{AEC36573-8564-4FEC-8A87-90F72AA5F91E}" srcOrd="0" destOrd="0" presId="urn:microsoft.com/office/officeart/2024/3/layout/verticalVisualTextBlock1"/>
    <dgm:cxn modelId="{C26BC926-A713-4854-AC7B-3F1CA4D0D2F8}" type="presParOf" srcId="{EC396A5C-7E3B-45BC-8272-FF4A60645249}" destId="{727B8305-D04A-4987-B623-4AFF469D95CD}" srcOrd="1" destOrd="0" presId="urn:microsoft.com/office/officeart/2024/3/layout/verticalVisualTextBlock1"/>
    <dgm:cxn modelId="{D1ED06C0-0EC9-47E3-9134-09B695524D18}" type="presParOf" srcId="{EC396A5C-7E3B-45BC-8272-FF4A60645249}" destId="{6B73FD93-156F-47AF-8071-91E31A0456F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A5E34-7FCD-4AC0-9AD6-61DF87221DC9}">
      <dsp:nvSpPr>
        <dsp:cNvPr id="0" name=""/>
        <dsp:cNvSpPr/>
      </dsp:nvSpPr>
      <dsp:spPr>
        <a:xfrm>
          <a:off x="0" y="0"/>
          <a:ext cx="1747319" cy="174731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4045" r="9202" b="-5"/>
          <a:stretch/>
        </a:blipFill>
        <a:ln>
          <a:noFill/>
        </a:ln>
        <a:effectLst/>
      </dsp:spPr>
      <dsp:style>
        <a:lnRef idx="0">
          <a:scrgbClr r="0" g="0" b="0"/>
        </a:lnRef>
        <a:fillRef idx="3">
          <a:scrgbClr r="0" g="0" b="0"/>
        </a:fillRef>
        <a:effectRef idx="2">
          <a:scrgbClr r="0" g="0" b="0"/>
        </a:effectRef>
        <a:fontRef idx="minor">
          <a:schemeClr val="lt1"/>
        </a:fontRef>
      </dsp:style>
    </dsp:sp>
    <dsp:sp modelId="{37BE869F-58EF-49A9-A7DE-5B696D762F71}">
      <dsp:nvSpPr>
        <dsp:cNvPr id="0" name=""/>
        <dsp:cNvSpPr/>
      </dsp:nvSpPr>
      <dsp:spPr>
        <a:xfrm>
          <a:off x="1927319" y="0"/>
          <a:ext cx="9898920" cy="411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Complementary Analytics Tools</a:t>
          </a:r>
        </a:p>
      </dsp:txBody>
      <dsp:txXfrm>
        <a:off x="1927319" y="0"/>
        <a:ext cx="9898920" cy="411284"/>
      </dsp:txXfrm>
    </dsp:sp>
    <dsp:sp modelId="{757C1E5E-E184-4D3E-8748-C8004989D4C0}">
      <dsp:nvSpPr>
        <dsp:cNvPr id="0" name=""/>
        <dsp:cNvSpPr/>
      </dsp:nvSpPr>
      <dsp:spPr>
        <a:xfrm>
          <a:off x="1927319" y="411284"/>
          <a:ext cx="9898920" cy="133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Excel and Power BI combine to create a powerful analytics ecosystem for enhanced data insights</a:t>
          </a:r>
          <a:r>
            <a:rPr lang="en-US" sz="1400" kern="1200" dirty="0"/>
            <a:t>.</a:t>
          </a:r>
        </a:p>
      </dsp:txBody>
      <dsp:txXfrm>
        <a:off x="1927319" y="411284"/>
        <a:ext cx="9898920" cy="1336035"/>
      </dsp:txXfrm>
    </dsp:sp>
    <dsp:sp modelId="{33A50017-AF8D-4366-BFA9-D7666654F9FF}">
      <dsp:nvSpPr>
        <dsp:cNvPr id="0" name=""/>
        <dsp:cNvSpPr/>
      </dsp:nvSpPr>
      <dsp:spPr>
        <a:xfrm>
          <a:off x="0" y="1887105"/>
          <a:ext cx="1747319" cy="174731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25001" b="1"/>
          <a:stretch/>
        </a:blipFill>
        <a:ln>
          <a:noFill/>
        </a:ln>
        <a:effectLst/>
      </dsp:spPr>
      <dsp:style>
        <a:lnRef idx="0">
          <a:scrgbClr r="0" g="0" b="0"/>
        </a:lnRef>
        <a:fillRef idx="3">
          <a:scrgbClr r="0" g="0" b="0"/>
        </a:fillRef>
        <a:effectRef idx="2">
          <a:scrgbClr r="0" g="0" b="0"/>
        </a:effectRef>
        <a:fontRef idx="minor">
          <a:schemeClr val="lt1"/>
        </a:fontRef>
      </dsp:style>
    </dsp:sp>
    <dsp:sp modelId="{CB25C991-1409-454A-8ADB-3AB0B58E57FB}">
      <dsp:nvSpPr>
        <dsp:cNvPr id="0" name=""/>
        <dsp:cNvSpPr/>
      </dsp:nvSpPr>
      <dsp:spPr>
        <a:xfrm>
          <a:off x="1927319" y="1887105"/>
          <a:ext cx="9898920" cy="411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Governance and Training</a:t>
          </a:r>
        </a:p>
      </dsp:txBody>
      <dsp:txXfrm>
        <a:off x="1927319" y="1887105"/>
        <a:ext cx="9898920" cy="411284"/>
      </dsp:txXfrm>
    </dsp:sp>
    <dsp:sp modelId="{6947AA2F-203F-4834-B127-91992CA30DB0}">
      <dsp:nvSpPr>
        <dsp:cNvPr id="0" name=""/>
        <dsp:cNvSpPr/>
      </dsp:nvSpPr>
      <dsp:spPr>
        <a:xfrm>
          <a:off x="1927319" y="2298389"/>
          <a:ext cx="9898920" cy="133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Strong governance, clear policies, and training improve data accuracy and user collaboration.</a:t>
          </a:r>
        </a:p>
      </dsp:txBody>
      <dsp:txXfrm>
        <a:off x="1927319" y="2298389"/>
        <a:ext cx="9898920" cy="1336035"/>
      </dsp:txXfrm>
    </dsp:sp>
    <dsp:sp modelId="{AEC36573-8564-4FEC-8A87-90F72AA5F91E}">
      <dsp:nvSpPr>
        <dsp:cNvPr id="0" name=""/>
        <dsp:cNvSpPr/>
      </dsp:nvSpPr>
      <dsp:spPr>
        <a:xfrm>
          <a:off x="0" y="3774211"/>
          <a:ext cx="1747319" cy="174731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698" r="12795" b="-9"/>
          <a:stretch/>
        </a:blipFill>
        <a:ln>
          <a:noFill/>
        </a:ln>
        <a:effectLst/>
      </dsp:spPr>
      <dsp:style>
        <a:lnRef idx="0">
          <a:scrgbClr r="0" g="0" b="0"/>
        </a:lnRef>
        <a:fillRef idx="3">
          <a:scrgbClr r="0" g="0" b="0"/>
        </a:fillRef>
        <a:effectRef idx="2">
          <a:scrgbClr r="0" g="0" b="0"/>
        </a:effectRef>
        <a:fontRef idx="minor">
          <a:schemeClr val="lt1"/>
        </a:fontRef>
      </dsp:style>
    </dsp:sp>
    <dsp:sp modelId="{727B8305-D04A-4987-B623-4AFF469D95CD}">
      <dsp:nvSpPr>
        <dsp:cNvPr id="0" name=""/>
        <dsp:cNvSpPr/>
      </dsp:nvSpPr>
      <dsp:spPr>
        <a:xfrm>
          <a:off x="1927319" y="3774211"/>
          <a:ext cx="9898920" cy="411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Business Impact</a:t>
          </a:r>
        </a:p>
      </dsp:txBody>
      <dsp:txXfrm>
        <a:off x="1927319" y="3774211"/>
        <a:ext cx="9898920" cy="411284"/>
      </dsp:txXfrm>
    </dsp:sp>
    <dsp:sp modelId="{6B73FD93-156F-47AF-8071-91E31A0456FC}">
      <dsp:nvSpPr>
        <dsp:cNvPr id="0" name=""/>
        <dsp:cNvSpPr/>
      </dsp:nvSpPr>
      <dsp:spPr>
        <a:xfrm>
          <a:off x="1927319" y="4185495"/>
          <a:ext cx="9898920" cy="1336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Integrated tools boost analytical efficiency and support sustainable growth and decision-making</a:t>
          </a:r>
          <a:r>
            <a:rPr lang="en-US" sz="1400" kern="1200" dirty="0"/>
            <a:t>.</a:t>
          </a:r>
        </a:p>
      </dsp:txBody>
      <dsp:txXfrm>
        <a:off x="1927319" y="4185495"/>
        <a:ext cx="9898920" cy="133603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F0353-1527-4ACE-997B-9AEC9E88F8E4}" type="datetimeFigureOut">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0C9B23-3C2E-4D28-81D7-339F8077947D}" type="slidenum">
              <a:t>‹#›</a:t>
            </a:fld>
            <a:endParaRPr lang="en-US"/>
          </a:p>
        </p:txBody>
      </p:sp>
    </p:spTree>
    <p:extLst>
      <p:ext uri="{BB962C8B-B14F-4D97-AF65-F5344CB8AC3E}">
        <p14:creationId xmlns:p14="http://schemas.microsoft.com/office/powerpoint/2010/main" val="2912694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E213BCF3-0D6E-47DB-BC16-9F1FE4A449AD}" type="slidenum">
              <a:t>1</a:t>
            </a:fld>
            <a:endParaRPr lang="en-US"/>
          </a:p>
        </p:txBody>
      </p:sp>
    </p:spTree>
    <p:extLst>
      <p:ext uri="{BB962C8B-B14F-4D97-AF65-F5344CB8AC3E}">
        <p14:creationId xmlns:p14="http://schemas.microsoft.com/office/powerpoint/2010/main" val="2116185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integration of Excel and Power BI plays a critical role in modern business analytics by combining the familiarity and flexibility of Excel with the advanced visualization, modeling, and sharing capabilities of Power BI. Excel has long been the primary tool for analysts to perform ad hoc analysis, data entry, and financial modeling, while Power BI is designed to scale analytics through centralized datasets, interactive dashboards, and governed reporting. Together, they allow organizations to transition from isolated, spreadsheet-driven insights to enterprise-level analytics without abandoning existing workflows. This integration supports a smoother analytics lifecycle, where data can be prepared, validated, and explored in Excel, then published and visualized in Power BI for broader consumption. It also reduces redundancy, as the same datasets can be reused across reports and teams. By leveraging both tools in tandem, organizations can improve analytical depth, maintain user productivity, and accelerate decision-making while ensuring data integrity and consistency across the business.</a:t>
            </a:r>
          </a:p>
        </p:txBody>
      </p:sp>
      <p:sp>
        <p:nvSpPr>
          <p:cNvPr id="4" name="Slide Number Placeholder 3"/>
          <p:cNvSpPr>
            <a:spLocks noGrp="1"/>
          </p:cNvSpPr>
          <p:nvPr>
            <p:ph type="sldNum" sz="quarter" idx="5"/>
          </p:nvPr>
        </p:nvSpPr>
        <p:spPr/>
        <p:txBody>
          <a:bodyPr/>
          <a:lstStyle/>
          <a:p>
            <a:fld id="{E213BCF3-0D6E-47DB-BC16-9F1FE4A449AD}" type="slidenum">
              <a:t>2</a:t>
            </a:fld>
            <a:endParaRPr lang="en-US"/>
          </a:p>
        </p:txBody>
      </p:sp>
    </p:spTree>
    <p:extLst>
      <p:ext uri="{BB962C8B-B14F-4D97-AF65-F5344CB8AC3E}">
        <p14:creationId xmlns:p14="http://schemas.microsoft.com/office/powerpoint/2010/main" val="2886820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considerations when moving data between Excel and Power BI</a:t>
            </a:r>
          </a:p>
        </p:txBody>
      </p:sp>
      <p:sp>
        <p:nvSpPr>
          <p:cNvPr id="4" name="Slide Number Placeholder 3"/>
          <p:cNvSpPr>
            <a:spLocks noGrp="1"/>
          </p:cNvSpPr>
          <p:nvPr>
            <p:ph type="sldNum" sz="quarter" idx="5"/>
          </p:nvPr>
        </p:nvSpPr>
        <p:spPr/>
        <p:txBody>
          <a:bodyPr/>
          <a:lstStyle/>
          <a:p>
            <a:fld id="{E213BCF3-0D6E-47DB-BC16-9F1FE4A449AD}" type="slidenum">
              <a:t>3</a:t>
            </a:fld>
            <a:endParaRPr lang="en-US"/>
          </a:p>
        </p:txBody>
      </p:sp>
    </p:spTree>
    <p:extLst>
      <p:ext uri="{BB962C8B-B14F-4D97-AF65-F5344CB8AC3E}">
        <p14:creationId xmlns:p14="http://schemas.microsoft.com/office/powerpoint/2010/main" val="249125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Maintaining data accuracy and consistency when transferring data between Excel and Power BI requires careful attention to governance, transformation logic, and data structure. One of the most important considerations is establishing a single source of truth, ensuring that Power BI datasets are connected to authoritative data sources rather than multiple, disconnected Excel files. Data transformations should be handled using Power Query, where steps are documented, repeatable, and transparent, reducing the risk of manual errors. Consistent data types, naming conventions, and date formats must be enforced to avoid mismatches during refreshes or model relationships. Additionally, organizations should define clear data ownership so that responsibilities for data validation, updates, and approvals are well understood. Refresh schedules must be aligned between Excel inputs and Power BI datasets to prevent outdated or partial data from being analyzed. By addressing these considerations, businesses can ensure that insights derived from Power BI accurately reflect the underlying Excel data and remain trustworthy over time.</a:t>
            </a:r>
          </a:p>
        </p:txBody>
      </p:sp>
      <p:sp>
        <p:nvSpPr>
          <p:cNvPr id="4" name="Slide Number Placeholder 3"/>
          <p:cNvSpPr>
            <a:spLocks noGrp="1"/>
          </p:cNvSpPr>
          <p:nvPr>
            <p:ph type="sldNum" sz="quarter" idx="5"/>
          </p:nvPr>
        </p:nvSpPr>
        <p:spPr/>
        <p:txBody>
          <a:bodyPr/>
          <a:lstStyle/>
          <a:p>
            <a:fld id="{E213BCF3-0D6E-47DB-BC16-9F1FE4A449AD}" type="slidenum">
              <a:t>4</a:t>
            </a:fld>
            <a:endParaRPr lang="en-US"/>
          </a:p>
        </p:txBody>
      </p:sp>
    </p:spTree>
    <p:extLst>
      <p:ext uri="{BB962C8B-B14F-4D97-AF65-F5344CB8AC3E}">
        <p14:creationId xmlns:p14="http://schemas.microsoft.com/office/powerpoint/2010/main" val="2551821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Governance practices to reduce inconsistencies</a:t>
            </a:r>
          </a:p>
        </p:txBody>
      </p:sp>
      <p:sp>
        <p:nvSpPr>
          <p:cNvPr id="4" name="Slide Number Placeholder 3"/>
          <p:cNvSpPr>
            <a:spLocks noGrp="1"/>
          </p:cNvSpPr>
          <p:nvPr>
            <p:ph type="sldNum" sz="quarter" idx="5"/>
          </p:nvPr>
        </p:nvSpPr>
        <p:spPr/>
        <p:txBody>
          <a:bodyPr/>
          <a:lstStyle/>
          <a:p>
            <a:fld id="{E213BCF3-0D6E-47DB-BC16-9F1FE4A449AD}" type="slidenum">
              <a:t>5</a:t>
            </a:fld>
            <a:endParaRPr lang="en-US"/>
          </a:p>
        </p:txBody>
      </p:sp>
    </p:spTree>
    <p:extLst>
      <p:ext uri="{BB962C8B-B14F-4D97-AF65-F5344CB8AC3E}">
        <p14:creationId xmlns:p14="http://schemas.microsoft.com/office/powerpoint/2010/main" val="3977473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Strong policies and procedures are essential to mitigating the risk of data discrepancies between Excel and Power BI. Organizations should standardize data definitions, metrics, and naming conventions through a shared data dictionary to ensure consistency across reports. Version control practices, such as storing Excel files in controlled repositories like SharePoint or OneDrive, help prevent analysts from using outdated or conflicting files. Scheduled and automated refresh policies in Power BI reduce reliance on manual updates, minimizing human error. Documentation of data transformation steps, business rules, and assumptions should be mandatory so that changes can be audited and understood by others. Access controls and role-based permissions also play a key role, ensuring that only authorized users can modify critical datasets or models. Together, these governance practices create a structured analytics environment where Excel and Power BI can coexist without introducing confusion or conflicting results.</a:t>
            </a:r>
          </a:p>
        </p:txBody>
      </p:sp>
      <p:sp>
        <p:nvSpPr>
          <p:cNvPr id="4" name="Slide Number Placeholder 3"/>
          <p:cNvSpPr>
            <a:spLocks noGrp="1"/>
          </p:cNvSpPr>
          <p:nvPr>
            <p:ph type="sldNum" sz="quarter" idx="5"/>
          </p:nvPr>
        </p:nvSpPr>
        <p:spPr/>
        <p:txBody>
          <a:bodyPr/>
          <a:lstStyle/>
          <a:p>
            <a:fld id="{E213BCF3-0D6E-47DB-BC16-9F1FE4A449AD}" type="slidenum">
              <a:t>6</a:t>
            </a:fld>
            <a:endParaRPr lang="en-US"/>
          </a:p>
        </p:txBody>
      </p:sp>
    </p:spTree>
    <p:extLst>
      <p:ext uri="{BB962C8B-B14F-4D97-AF65-F5344CB8AC3E}">
        <p14:creationId xmlns:p14="http://schemas.microsoft.com/office/powerpoint/2010/main" val="2492064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cases that benefit most from combined usage</a:t>
            </a:r>
          </a:p>
        </p:txBody>
      </p:sp>
      <p:sp>
        <p:nvSpPr>
          <p:cNvPr id="4" name="Slide Number Placeholder 3"/>
          <p:cNvSpPr>
            <a:spLocks noGrp="1"/>
          </p:cNvSpPr>
          <p:nvPr>
            <p:ph type="sldNum" sz="quarter" idx="5"/>
          </p:nvPr>
        </p:nvSpPr>
        <p:spPr/>
        <p:txBody>
          <a:bodyPr/>
          <a:lstStyle/>
          <a:p>
            <a:fld id="{E213BCF3-0D6E-47DB-BC16-9F1FE4A449AD}" type="slidenum">
              <a:t>7</a:t>
            </a:fld>
            <a:endParaRPr lang="en-US"/>
          </a:p>
        </p:txBody>
      </p:sp>
    </p:spTree>
    <p:extLst>
      <p:ext uri="{BB962C8B-B14F-4D97-AF65-F5344CB8AC3E}">
        <p14:creationId xmlns:p14="http://schemas.microsoft.com/office/powerpoint/2010/main" val="2777385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combined use of Excel and Power BI offers the greatest advantages in scenarios that require both detailed analysis and scalable reporting. Financial planning and analysis teams often use Excel for budgeting, forecasting, and what-if modeling, then publish results to Power BI for executive dashboards. In supply chain and operations, Excel supports granular planning and exception analysis, while Power BI provides real-time visibility into inventory levels, delivery performance, and bottlenecks. Healthcare organizations benefit from this integration by using Excel for data validation and specialized calculations, while Power BI delivers interactive dashboards for patient outcomes, capacity management, and compliance reporting. Retail and sales teams frequently analyze historical data and promotional scenarios in Excel, then use Power BI to monitor trends, regional performance, and KPIs across the organization. These contexts highlight how the tools complement each other rather than compete.</a:t>
            </a:r>
          </a:p>
        </p:txBody>
      </p:sp>
      <p:sp>
        <p:nvSpPr>
          <p:cNvPr id="4" name="Slide Number Placeholder 3"/>
          <p:cNvSpPr>
            <a:spLocks noGrp="1"/>
          </p:cNvSpPr>
          <p:nvPr>
            <p:ph type="sldNum" sz="quarter" idx="5"/>
          </p:nvPr>
        </p:nvSpPr>
        <p:spPr/>
        <p:txBody>
          <a:bodyPr/>
          <a:lstStyle/>
          <a:p>
            <a:fld id="{E213BCF3-0D6E-47DB-BC16-9F1FE4A449AD}" type="slidenum">
              <a:t>8</a:t>
            </a:fld>
            <a:endParaRPr lang="en-US"/>
          </a:p>
        </p:txBody>
      </p:sp>
    </p:spTree>
    <p:extLst>
      <p:ext uri="{BB962C8B-B14F-4D97-AF65-F5344CB8AC3E}">
        <p14:creationId xmlns:p14="http://schemas.microsoft.com/office/powerpoint/2010/main" val="525394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Finance, healthcare, retail, and manufacturing analytics</a:t>
            </a:r>
          </a:p>
        </p:txBody>
      </p:sp>
      <p:sp>
        <p:nvSpPr>
          <p:cNvPr id="4" name="Slide Number Placeholder 3"/>
          <p:cNvSpPr>
            <a:spLocks noGrp="1"/>
          </p:cNvSpPr>
          <p:nvPr>
            <p:ph type="sldNum" sz="quarter" idx="5"/>
          </p:nvPr>
        </p:nvSpPr>
        <p:spPr/>
        <p:txBody>
          <a:bodyPr/>
          <a:lstStyle/>
          <a:p>
            <a:fld id="{E213BCF3-0D6E-47DB-BC16-9F1FE4A449AD}" type="slidenum">
              <a:t>9</a:t>
            </a:fld>
            <a:endParaRPr lang="en-US"/>
          </a:p>
        </p:txBody>
      </p:sp>
    </p:spTree>
    <p:extLst>
      <p:ext uri="{BB962C8B-B14F-4D97-AF65-F5344CB8AC3E}">
        <p14:creationId xmlns:p14="http://schemas.microsoft.com/office/powerpoint/2010/main" val="3349534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finance, Excel remains essential for detailed financial models, reconciliations, and scenario analysis, while Power BI enhances visibility through KPI dashboards and variance analysis for leadership. Healthcare organizations rely on Excel for structured data entry and validation, then use Power BI to visualize patient care metrics, operational efficiency, and regulatory compliance. Retail businesses combine Excel-based sales analysis and demand planning with Power BI dashboards that track product performance, customer behavior, and regional trends. In manufacturing, Excel supports quality control logs and production planning, while Power BI aggregates data across plants to monitor efficiency, downtime, and yield. Across these industries, the integration of Excel and Power BI supports both tactical analysis and strategic decision-making, enabling organizations to respond more quickly to changing conditions.</a:t>
            </a:r>
          </a:p>
        </p:txBody>
      </p:sp>
      <p:sp>
        <p:nvSpPr>
          <p:cNvPr id="4" name="Slide Number Placeholder 3"/>
          <p:cNvSpPr>
            <a:spLocks noGrp="1"/>
          </p:cNvSpPr>
          <p:nvPr>
            <p:ph type="sldNum" sz="quarter" idx="5"/>
          </p:nvPr>
        </p:nvSpPr>
        <p:spPr/>
        <p:txBody>
          <a:bodyPr/>
          <a:lstStyle/>
          <a:p>
            <a:fld id="{E213BCF3-0D6E-47DB-BC16-9F1FE4A449AD}" type="slidenum">
              <a:t>10</a:t>
            </a:fld>
            <a:endParaRPr lang="en-US"/>
          </a:p>
        </p:txBody>
      </p:sp>
    </p:spTree>
    <p:extLst>
      <p:ext uri="{BB962C8B-B14F-4D97-AF65-F5344CB8AC3E}">
        <p14:creationId xmlns:p14="http://schemas.microsoft.com/office/powerpoint/2010/main" val="3963569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Strategies for effective user adoption</a:t>
            </a:r>
          </a:p>
        </p:txBody>
      </p:sp>
      <p:sp>
        <p:nvSpPr>
          <p:cNvPr id="4" name="Slide Number Placeholder 3"/>
          <p:cNvSpPr>
            <a:spLocks noGrp="1"/>
          </p:cNvSpPr>
          <p:nvPr>
            <p:ph type="sldNum" sz="quarter" idx="5"/>
          </p:nvPr>
        </p:nvSpPr>
        <p:spPr/>
        <p:txBody>
          <a:bodyPr/>
          <a:lstStyle/>
          <a:p>
            <a:fld id="{E213BCF3-0D6E-47DB-BC16-9F1FE4A449AD}" type="slidenum">
              <a:t>11</a:t>
            </a:fld>
            <a:endParaRPr lang="en-US"/>
          </a:p>
        </p:txBody>
      </p:sp>
    </p:spTree>
    <p:extLst>
      <p:ext uri="{BB962C8B-B14F-4D97-AF65-F5344CB8AC3E}">
        <p14:creationId xmlns:p14="http://schemas.microsoft.com/office/powerpoint/2010/main" val="213901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Successfully transitioning Excel users to Power BI requires a structured training and change management approach. Organizations should offer role-based training that connects Power BI features directly to tasks users already perform in Excel. Hands-on workshops using familiar datasets help reduce resistance and build confidence. Training should emphasize Power Query, data modeling fundamentals, and the similarities between Excel formulas and DAX concepts. Mentorship programs and internal communities of practice can support ongoing learning and knowledge sharing. Highlighting quick wins, such as automated refreshes or interactive dashboards, helps demonstrate tangible benefits. By positioning Power BI as an extension of Excel rather than a replacement, organizations can accelerate adoption and build analytics maturity more effectively.</a:t>
            </a:r>
          </a:p>
        </p:txBody>
      </p:sp>
      <p:sp>
        <p:nvSpPr>
          <p:cNvPr id="4" name="Slide Number Placeholder 3"/>
          <p:cNvSpPr>
            <a:spLocks noGrp="1"/>
          </p:cNvSpPr>
          <p:nvPr>
            <p:ph type="sldNum" sz="quarter" idx="5"/>
          </p:nvPr>
        </p:nvSpPr>
        <p:spPr/>
        <p:txBody>
          <a:bodyPr/>
          <a:lstStyle/>
          <a:p>
            <a:fld id="{E213BCF3-0D6E-47DB-BC16-9F1FE4A449AD}" type="slidenum">
              <a:t>12</a:t>
            </a:fld>
            <a:endParaRPr lang="en-US"/>
          </a:p>
        </p:txBody>
      </p:sp>
    </p:spTree>
    <p:extLst>
      <p:ext uri="{BB962C8B-B14F-4D97-AF65-F5344CB8AC3E}">
        <p14:creationId xmlns:p14="http://schemas.microsoft.com/office/powerpoint/2010/main" val="1411521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Collaboration benefits of Excel and Power BI integration</a:t>
            </a:r>
          </a:p>
        </p:txBody>
      </p:sp>
      <p:sp>
        <p:nvSpPr>
          <p:cNvPr id="4" name="Slide Number Placeholder 3"/>
          <p:cNvSpPr>
            <a:spLocks noGrp="1"/>
          </p:cNvSpPr>
          <p:nvPr>
            <p:ph type="sldNum" sz="quarter" idx="5"/>
          </p:nvPr>
        </p:nvSpPr>
        <p:spPr/>
        <p:txBody>
          <a:bodyPr/>
          <a:lstStyle/>
          <a:p>
            <a:fld id="{E213BCF3-0D6E-47DB-BC16-9F1FE4A449AD}" type="slidenum">
              <a:t>13</a:t>
            </a:fld>
            <a:endParaRPr lang="en-US"/>
          </a:p>
        </p:txBody>
      </p:sp>
    </p:spTree>
    <p:extLst>
      <p:ext uri="{BB962C8B-B14F-4D97-AF65-F5344CB8AC3E}">
        <p14:creationId xmlns:p14="http://schemas.microsoft.com/office/powerpoint/2010/main" val="884139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integration between Excel and Power BI significantly streamlines the data analysis process and enhances collaboration across teams. Centralized Power BI datasets reduce duplication and ensure that all teams work from consistent data. Shared workspaces and dashboards promote transparency and alignment, enabling stakeholders to access insights without requesting manual reports. Excel users can connect directly to Power BI datasets, allowing them to perform detailed analysis without compromising governance. Automated refreshes eliminate repetitive reporting tasks, freeing analysts to focus on higher-value insights. This collaborative ecosystem improves communication between finance, operations, sales, and leadership, ultimately leading to faster and more informed decision-making.</a:t>
            </a:r>
          </a:p>
        </p:txBody>
      </p:sp>
      <p:sp>
        <p:nvSpPr>
          <p:cNvPr id="4" name="Slide Number Placeholder 3"/>
          <p:cNvSpPr>
            <a:spLocks noGrp="1"/>
          </p:cNvSpPr>
          <p:nvPr>
            <p:ph type="sldNum" sz="quarter" idx="5"/>
          </p:nvPr>
        </p:nvSpPr>
        <p:spPr/>
        <p:txBody>
          <a:bodyPr/>
          <a:lstStyle/>
          <a:p>
            <a:fld id="{E213BCF3-0D6E-47DB-BC16-9F1FE4A449AD}" type="slidenum">
              <a:t>14</a:t>
            </a:fld>
            <a:endParaRPr lang="en-US"/>
          </a:p>
        </p:txBody>
      </p:sp>
    </p:spTree>
    <p:extLst>
      <p:ext uri="{BB962C8B-B14F-4D97-AF65-F5344CB8AC3E}">
        <p14:creationId xmlns:p14="http://schemas.microsoft.com/office/powerpoint/2010/main" val="12330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and business impact</a:t>
            </a:r>
          </a:p>
        </p:txBody>
      </p:sp>
      <p:sp>
        <p:nvSpPr>
          <p:cNvPr id="4" name="Slide Number Placeholder 3"/>
          <p:cNvSpPr>
            <a:spLocks noGrp="1"/>
          </p:cNvSpPr>
          <p:nvPr>
            <p:ph type="sldNum" sz="quarter" idx="5"/>
          </p:nvPr>
        </p:nvSpPr>
        <p:spPr/>
        <p:txBody>
          <a:bodyPr/>
          <a:lstStyle/>
          <a:p>
            <a:fld id="{E213BCF3-0D6E-47DB-BC16-9F1FE4A449AD}" type="slidenum">
              <a:t>15</a:t>
            </a:fld>
            <a:endParaRPr lang="en-US"/>
          </a:p>
        </p:txBody>
      </p:sp>
    </p:spTree>
    <p:extLst>
      <p:ext uri="{BB962C8B-B14F-4D97-AF65-F5344CB8AC3E}">
        <p14:creationId xmlns:p14="http://schemas.microsoft.com/office/powerpoint/2010/main" val="5536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Excel and Power BI together form a powerful and complementary analytics ecosystem. When supported by strong governance, clear policies, and effective training, the integration enhances data accuracy, scalability, and collaboration. Organizations that successfully combine these tools can preserve the flexibility analysts value while delivering consistent, enterprise-grade insights. Ultimately, this integrated approach improves analytical efficiency, strengthens decision-making, and supports sustainable business growth across industries.</a:t>
            </a:r>
          </a:p>
        </p:txBody>
      </p:sp>
      <p:sp>
        <p:nvSpPr>
          <p:cNvPr id="4" name="Slide Number Placeholder 3"/>
          <p:cNvSpPr>
            <a:spLocks noGrp="1"/>
          </p:cNvSpPr>
          <p:nvPr>
            <p:ph type="sldNum" sz="quarter" idx="5"/>
          </p:nvPr>
        </p:nvSpPr>
        <p:spPr/>
        <p:txBody>
          <a:bodyPr/>
          <a:lstStyle/>
          <a:p>
            <a:fld id="{E213BCF3-0D6E-47DB-BC16-9F1FE4A449AD}" type="slidenum">
              <a:t>16</a:t>
            </a:fld>
            <a:endParaRPr lang="en-US"/>
          </a:p>
        </p:txBody>
      </p:sp>
    </p:spTree>
    <p:extLst>
      <p:ext uri="{BB962C8B-B14F-4D97-AF65-F5344CB8AC3E}">
        <p14:creationId xmlns:p14="http://schemas.microsoft.com/office/powerpoint/2010/main" val="959142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3/9/2026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3/9/2026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3/9/2026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3/9/2026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3/9/2026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3/9/2026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3/9/2026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3/9/2026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3/9/2026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3/9/2026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3/9/2026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3/9/2026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3/9/2026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3/9/2026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3/9/2026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3/9/2026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3/9/2026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3/9/2026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3/9/2026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3/9/2026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3/9/2026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3/9/2026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3/9/2026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3/9/2026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3/9/2026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3/9/2026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3/9/2026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3/9/2026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58.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58.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EFC9-863A-10E7-DBE4-478DBB7754A5}"/>
              </a:ext>
            </a:extLst>
          </p:cNvPr>
          <p:cNvSpPr>
            <a:spLocks noGrp="1"/>
          </p:cNvSpPr>
          <p:nvPr>
            <p:ph type="ctrTitle"/>
          </p:nvPr>
        </p:nvSpPr>
        <p:spPr>
          <a:xfrm>
            <a:off x="154206" y="216426"/>
            <a:ext cx="4064673" cy="3934950"/>
          </a:xfrm>
        </p:spPr>
        <p:txBody>
          <a:bodyPr anchor="t">
            <a:normAutofit/>
          </a:bodyPr>
          <a:lstStyle/>
          <a:p>
            <a:r>
              <a:rPr lang="en-US"/>
              <a:t>Excel and Power BI Integration for Business Analytics</a:t>
            </a:r>
          </a:p>
        </p:txBody>
      </p:sp>
      <p:sp>
        <p:nvSpPr>
          <p:cNvPr id="3" name="Subtitle 2">
            <a:extLst>
              <a:ext uri="{FF2B5EF4-FFF2-40B4-BE49-F238E27FC236}">
                <a16:creationId xmlns:a16="http://schemas.microsoft.com/office/drawing/2014/main" id="{FB5E9ED5-284F-7FC1-F294-D59DD7284062}"/>
              </a:ext>
            </a:extLst>
          </p:cNvPr>
          <p:cNvSpPr>
            <a:spLocks noGrp="1"/>
          </p:cNvSpPr>
          <p:nvPr>
            <p:ph type="subTitle" idx="1"/>
          </p:nvPr>
        </p:nvSpPr>
        <p:spPr>
          <a:xfrm>
            <a:off x="182880" y="4846320"/>
            <a:ext cx="4035999" cy="1380744"/>
          </a:xfrm>
        </p:spPr>
        <p:txBody>
          <a:bodyPr anchor="b">
            <a:normAutofit/>
          </a:bodyPr>
          <a:lstStyle/>
          <a:p>
            <a:r>
              <a:rPr lang="en-US"/>
              <a:t>Combining tools to enhance data-driven business insights</a:t>
            </a:r>
          </a:p>
        </p:txBody>
      </p:sp>
      <p:pic>
        <p:nvPicPr>
          <p:cNvPr id="4" name="Picture 3" descr="Financial graphs on a dark display">
            <a:extLst>
              <a:ext uri="{FF2B5EF4-FFF2-40B4-BE49-F238E27FC236}">
                <a16:creationId xmlns:a16="http://schemas.microsoft.com/office/drawing/2014/main" id="{940140F4-D377-4513-AA20-497812ED9627}"/>
              </a:ext>
            </a:extLst>
          </p:cNvPr>
          <p:cNvPicPr>
            <a:picLocks noChangeAspect="1"/>
          </p:cNvPicPr>
          <p:nvPr/>
        </p:nvPicPr>
        <p:blipFill>
          <a:blip r:embed="rId3"/>
          <a:srcRect l="12731" r="18026" b="2"/>
          <a:stretch>
            <a:fillRect/>
          </a:stretch>
        </p:blipFill>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p:spPr>
      </p:pic>
    </p:spTree>
    <p:extLst>
      <p:ext uri="{BB962C8B-B14F-4D97-AF65-F5344CB8AC3E}">
        <p14:creationId xmlns:p14="http://schemas.microsoft.com/office/powerpoint/2010/main" val="13366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9000">
              <a:srgbClr val="FFC000"/>
            </a:gs>
            <a:gs pos="59500">
              <a:srgbClr val="92D050"/>
            </a:gs>
            <a:gs pos="100000">
              <a:srgbClr val="00B05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1A04B-E414-1961-F754-7947ADF6C5C6}"/>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Purpose and value of combining Excel and Power BI</a:t>
            </a:r>
          </a:p>
        </p:txBody>
      </p:sp>
      <p:sp>
        <p:nvSpPr>
          <p:cNvPr id="5" name="TextBox 4">
            <a:extLst>
              <a:ext uri="{FF2B5EF4-FFF2-40B4-BE49-F238E27FC236}">
                <a16:creationId xmlns:a16="http://schemas.microsoft.com/office/drawing/2014/main" id="{A8E61C00-F414-47FE-8798-8BEED57DBA8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1524000"/>
            <a:ext cx="4545696" cy="4747818"/>
          </a:xfrm>
          <a:prstGeom prst="rect">
            <a:avLst/>
          </a:prstGeom>
        </p:spPr>
        <p:txBody>
          <a:bodyPr>
            <a:noAutofit/>
          </a:bodyPr>
          <a:lstStyle/>
          <a:p>
            <a:pPr marL="0" indent="0">
              <a:lnSpc>
                <a:spcPct val="90000"/>
              </a:lnSpc>
              <a:spcBef>
                <a:spcPts val="2500"/>
              </a:spcBef>
              <a:spcAft>
                <a:spcPts val="600"/>
              </a:spcAft>
              <a:buNone/>
            </a:pPr>
            <a:r>
              <a:rPr lang="en-US" b="1" dirty="0"/>
              <a:t>Excel's Role in Analytics</a:t>
            </a:r>
          </a:p>
          <a:p>
            <a:pPr marL="0" lvl="1" indent="0">
              <a:lnSpc>
                <a:spcPct val="90000"/>
              </a:lnSpc>
              <a:spcBef>
                <a:spcPts val="1000"/>
              </a:spcBef>
              <a:spcAft>
                <a:spcPts val="600"/>
              </a:spcAft>
              <a:buNone/>
            </a:pPr>
            <a:r>
              <a:rPr lang="en-US" dirty="0"/>
              <a:t>Excel offers flexibility for ad hoc analysis, data entry, and financial modeling familiar to many analysts.</a:t>
            </a:r>
          </a:p>
          <a:p>
            <a:pPr marL="0" indent="0">
              <a:lnSpc>
                <a:spcPct val="90000"/>
              </a:lnSpc>
              <a:spcBef>
                <a:spcPts val="2500"/>
              </a:spcBef>
              <a:spcAft>
                <a:spcPts val="600"/>
              </a:spcAft>
              <a:buNone/>
            </a:pPr>
            <a:r>
              <a:rPr lang="en-US" b="1" dirty="0"/>
              <a:t>Power BI's Advanced Capabilities</a:t>
            </a:r>
          </a:p>
          <a:p>
            <a:pPr marL="0" lvl="1" indent="0">
              <a:lnSpc>
                <a:spcPct val="90000"/>
              </a:lnSpc>
              <a:spcBef>
                <a:spcPts val="1000"/>
              </a:spcBef>
              <a:spcAft>
                <a:spcPts val="600"/>
              </a:spcAft>
              <a:buNone/>
            </a:pPr>
            <a:r>
              <a:rPr lang="en-US" dirty="0"/>
              <a:t>Power BI provides advanced visualization, centralized datasets, and interactive dashboards for scalable reporting.</a:t>
            </a:r>
          </a:p>
          <a:p>
            <a:pPr marL="0" indent="0">
              <a:lnSpc>
                <a:spcPct val="90000"/>
              </a:lnSpc>
              <a:spcBef>
                <a:spcPts val="2500"/>
              </a:spcBef>
              <a:spcAft>
                <a:spcPts val="600"/>
              </a:spcAft>
              <a:buNone/>
            </a:pPr>
            <a:r>
              <a:rPr lang="en-US" b="1" dirty="0"/>
              <a:t>Seamless Integration Benefits</a:t>
            </a:r>
          </a:p>
          <a:p>
            <a:pPr marL="0" lvl="1" indent="0">
              <a:lnSpc>
                <a:spcPct val="90000"/>
              </a:lnSpc>
              <a:spcBef>
                <a:spcPts val="1000"/>
              </a:spcBef>
              <a:spcAft>
                <a:spcPts val="600"/>
              </a:spcAft>
              <a:buNone/>
            </a:pPr>
            <a:r>
              <a:rPr lang="en-US" dirty="0"/>
              <a:t>Combining Excel and Power BI enables smoother analytics lifecycle, reduces redundancy, and enhances enterprise reporting.</a:t>
            </a:r>
          </a:p>
        </p:txBody>
      </p:sp>
      <p:pic>
        <p:nvPicPr>
          <p:cNvPr id="4" name="Content Placeholder 3" descr="Shoulder view of an unrecognizable woman holding a digital pen and using it for tablet in front of her. Whole touch screen is visible.">
            <a:extLst>
              <a:ext uri="{FF2B5EF4-FFF2-40B4-BE49-F238E27FC236}">
                <a16:creationId xmlns:a16="http://schemas.microsoft.com/office/drawing/2014/main" id="{2D1370B5-2C18-447C-B34F-99D1B7D98007}"/>
              </a:ext>
            </a:extLst>
          </p:cNvPr>
          <p:cNvPicPr>
            <a:picLocks noGrp="1" noChangeAspect="1"/>
          </p:cNvPicPr>
          <p:nvPr>
            <p:ph idx="1"/>
          </p:nvPr>
        </p:nvPicPr>
        <p:blipFill>
          <a:blip r:embed="rId3"/>
          <a:srcRect l="22193" r="4471" b="1"/>
          <a:stretch>
            <a:fillRect/>
          </a:stretch>
        </p:blipFill>
        <p:spPr>
          <a:xfrm>
            <a:off x="4914900" y="218114"/>
            <a:ext cx="6688836" cy="6088068"/>
          </a:xfrm>
        </p:spPr>
      </p:pic>
    </p:spTree>
    <p:extLst>
      <p:ext uri="{BB962C8B-B14F-4D97-AF65-F5344CB8AC3E}">
        <p14:creationId xmlns:p14="http://schemas.microsoft.com/office/powerpoint/2010/main" val="3090454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37A7-7664-DF3D-6109-E240182A8E9A}"/>
              </a:ext>
            </a:extLst>
          </p:cNvPr>
          <p:cNvSpPr>
            <a:spLocks noGrp="1"/>
          </p:cNvSpPr>
          <p:nvPr>
            <p:ph type="title"/>
          </p:nvPr>
        </p:nvSpPr>
        <p:spPr>
          <a:xfrm>
            <a:off x="157729" y="3200400"/>
            <a:ext cx="9002895" cy="3582184"/>
          </a:xfrm>
        </p:spPr>
        <p:txBody>
          <a:bodyPr anchor="b">
            <a:normAutofit/>
          </a:bodyPr>
          <a:lstStyle/>
          <a:p>
            <a:r>
              <a:rPr lang="en-US"/>
              <a:t>Maintaining Data Accuracy and Consistency</a:t>
            </a:r>
          </a:p>
        </p:txBody>
      </p:sp>
    </p:spTree>
    <p:extLst>
      <p:ext uri="{BB962C8B-B14F-4D97-AF65-F5344CB8AC3E}">
        <p14:creationId xmlns:p14="http://schemas.microsoft.com/office/powerpoint/2010/main" val="2181242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913C4-0339-6CC5-493C-8301A2383350}"/>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Key considerations when moving data between Excel and Power BI</a:t>
            </a:r>
          </a:p>
        </p:txBody>
      </p:sp>
      <p:sp>
        <p:nvSpPr>
          <p:cNvPr id="5" name="TextBox 4">
            <a:extLst>
              <a:ext uri="{FF2B5EF4-FFF2-40B4-BE49-F238E27FC236}">
                <a16:creationId xmlns:a16="http://schemas.microsoft.com/office/drawing/2014/main" id="{2BA333B7-BF84-43A7-A6BD-152E9DE283F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1828800"/>
            <a:ext cx="4621896" cy="4443018"/>
          </a:xfrm>
          <a:prstGeom prst="rect">
            <a:avLst/>
          </a:prstGeom>
        </p:spPr>
        <p:txBody>
          <a:bodyPr>
            <a:noAutofit/>
          </a:bodyPr>
          <a:lstStyle/>
          <a:p>
            <a:pPr marL="0" indent="0">
              <a:lnSpc>
                <a:spcPct val="90000"/>
              </a:lnSpc>
              <a:spcBef>
                <a:spcPts val="2500"/>
              </a:spcBef>
              <a:spcAft>
                <a:spcPts val="600"/>
              </a:spcAft>
              <a:buNone/>
            </a:pPr>
            <a:r>
              <a:rPr lang="en-US" sz="1400" b="1" dirty="0"/>
              <a:t>Single Source of Truth</a:t>
            </a:r>
          </a:p>
          <a:p>
            <a:pPr marL="0" lvl="1" indent="0">
              <a:lnSpc>
                <a:spcPct val="90000"/>
              </a:lnSpc>
              <a:spcBef>
                <a:spcPts val="1000"/>
              </a:spcBef>
              <a:spcAft>
                <a:spcPts val="600"/>
              </a:spcAft>
              <a:buNone/>
            </a:pPr>
            <a:r>
              <a:rPr lang="en-US" sz="1400" dirty="0"/>
              <a:t>Ensure Power BI connects to authoritative data sources instead of disconnected Excel files to maintain consistency.</a:t>
            </a:r>
          </a:p>
          <a:p>
            <a:pPr marL="0" indent="0">
              <a:lnSpc>
                <a:spcPct val="90000"/>
              </a:lnSpc>
              <a:spcBef>
                <a:spcPts val="2500"/>
              </a:spcBef>
              <a:spcAft>
                <a:spcPts val="600"/>
              </a:spcAft>
              <a:buNone/>
            </a:pPr>
            <a:r>
              <a:rPr lang="en-US" sz="1400" b="1" dirty="0"/>
              <a:t>Transparent Data Transformation</a:t>
            </a:r>
          </a:p>
          <a:p>
            <a:pPr marL="0" lvl="1" indent="0">
              <a:lnSpc>
                <a:spcPct val="90000"/>
              </a:lnSpc>
              <a:spcBef>
                <a:spcPts val="1000"/>
              </a:spcBef>
              <a:spcAft>
                <a:spcPts val="600"/>
              </a:spcAft>
              <a:buNone/>
            </a:pPr>
            <a:r>
              <a:rPr lang="en-US" sz="1400" dirty="0"/>
              <a:t>Use Power Query for documented, repeatable data transformations to reduce manual errors.</a:t>
            </a:r>
          </a:p>
          <a:p>
            <a:pPr marL="0" indent="0">
              <a:lnSpc>
                <a:spcPct val="90000"/>
              </a:lnSpc>
              <a:spcBef>
                <a:spcPts val="2500"/>
              </a:spcBef>
              <a:spcAft>
                <a:spcPts val="600"/>
              </a:spcAft>
              <a:buNone/>
            </a:pPr>
            <a:r>
              <a:rPr lang="en-US" sz="1400" b="1" dirty="0"/>
              <a:t>Consistent Data Standards</a:t>
            </a:r>
          </a:p>
          <a:p>
            <a:pPr marL="0" lvl="1" indent="0">
              <a:lnSpc>
                <a:spcPct val="90000"/>
              </a:lnSpc>
              <a:spcBef>
                <a:spcPts val="1000"/>
              </a:spcBef>
              <a:spcAft>
                <a:spcPts val="600"/>
              </a:spcAft>
              <a:buNone/>
            </a:pPr>
            <a:r>
              <a:rPr lang="en-US" sz="1400" dirty="0"/>
              <a:t>Enforce consistent data types, naming conventions, and date formats to avoid refresh and model issues.</a:t>
            </a:r>
          </a:p>
          <a:p>
            <a:pPr marL="0" indent="0">
              <a:lnSpc>
                <a:spcPct val="90000"/>
              </a:lnSpc>
              <a:spcBef>
                <a:spcPts val="2500"/>
              </a:spcBef>
              <a:spcAft>
                <a:spcPts val="600"/>
              </a:spcAft>
              <a:buNone/>
            </a:pPr>
            <a:r>
              <a:rPr lang="en-US" sz="1400" b="1" dirty="0"/>
              <a:t>Aligned Refresh Schedules</a:t>
            </a:r>
          </a:p>
          <a:p>
            <a:pPr marL="0" lvl="1" indent="0">
              <a:lnSpc>
                <a:spcPct val="90000"/>
              </a:lnSpc>
              <a:spcBef>
                <a:spcPts val="1000"/>
              </a:spcBef>
              <a:spcAft>
                <a:spcPts val="600"/>
              </a:spcAft>
              <a:buNone/>
            </a:pPr>
            <a:r>
              <a:rPr lang="en-US" sz="1400" dirty="0"/>
              <a:t>Coordinate refresh times between Excel inputs and Power BI datasets to ensure up-to-date analysis.</a:t>
            </a:r>
          </a:p>
        </p:txBody>
      </p:sp>
      <p:pic>
        <p:nvPicPr>
          <p:cNvPr id="4" name="Content Placeholder 3" descr="Credit score report">
            <a:extLst>
              <a:ext uri="{FF2B5EF4-FFF2-40B4-BE49-F238E27FC236}">
                <a16:creationId xmlns:a16="http://schemas.microsoft.com/office/drawing/2014/main" id="{0DD7113B-00D9-40E0-9BB6-3D741475B4B9}"/>
              </a:ext>
            </a:extLst>
          </p:cNvPr>
          <p:cNvPicPr>
            <a:picLocks noGrp="1" noChangeAspect="1"/>
          </p:cNvPicPr>
          <p:nvPr>
            <p:ph idx="1"/>
          </p:nvPr>
        </p:nvPicPr>
        <p:blipFill>
          <a:blip r:embed="rId4"/>
          <a:stretch>
            <a:fillRect/>
          </a:stretch>
        </p:blipFill>
        <p:spPr>
          <a:xfrm>
            <a:off x="4914900" y="753834"/>
            <a:ext cx="6688836" cy="5016627"/>
          </a:xfrm>
        </p:spPr>
      </p:pic>
    </p:spTree>
    <p:extLst>
      <p:ext uri="{BB962C8B-B14F-4D97-AF65-F5344CB8AC3E}">
        <p14:creationId xmlns:p14="http://schemas.microsoft.com/office/powerpoint/2010/main" val="901571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1C091-7D06-B6DA-C261-AC0C878954D4}"/>
              </a:ext>
            </a:extLst>
          </p:cNvPr>
          <p:cNvSpPr>
            <a:spLocks noGrp="1"/>
          </p:cNvSpPr>
          <p:nvPr>
            <p:ph type="title"/>
          </p:nvPr>
        </p:nvSpPr>
        <p:spPr>
          <a:xfrm>
            <a:off x="157729" y="3200400"/>
            <a:ext cx="9002895" cy="3582184"/>
          </a:xfrm>
        </p:spPr>
        <p:txBody>
          <a:bodyPr anchor="b">
            <a:normAutofit/>
          </a:bodyPr>
          <a:lstStyle/>
          <a:p>
            <a:r>
              <a:rPr lang="en-US" sz="6400"/>
              <a:t>Policies and Procedures to Mitigate Data Discrepancies</a:t>
            </a:r>
          </a:p>
        </p:txBody>
      </p:sp>
    </p:spTree>
    <p:extLst>
      <p:ext uri="{BB962C8B-B14F-4D97-AF65-F5344CB8AC3E}">
        <p14:creationId xmlns:p14="http://schemas.microsoft.com/office/powerpoint/2010/main" val="3655864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639D-EB79-9FC1-FC81-BBFF37D9DB63}"/>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Governance practices to reduce inconsistencies</a:t>
            </a:r>
          </a:p>
        </p:txBody>
      </p:sp>
      <p:pic>
        <p:nvPicPr>
          <p:cNvPr id="4" name="Content Placeholder 3" descr="Laptop computer screen show graph information of network traffic">
            <a:extLst>
              <a:ext uri="{FF2B5EF4-FFF2-40B4-BE49-F238E27FC236}">
                <a16:creationId xmlns:a16="http://schemas.microsoft.com/office/drawing/2014/main" id="{CAAA4E01-0C46-4FFA-B443-00807EC6DF9D}"/>
              </a:ext>
            </a:extLst>
          </p:cNvPr>
          <p:cNvPicPr>
            <a:picLocks noGrp="1" noChangeAspect="1"/>
          </p:cNvPicPr>
          <p:nvPr>
            <p:ph type="pic" sz="quarter" idx="13"/>
          </p:nvPr>
        </p:nvPicPr>
        <p:blipFill>
          <a:blip r:embed="rId4"/>
          <a:srcRect l="21753" r="31613" b="1"/>
          <a:stretch>
            <a:fillRect/>
          </a:stretch>
        </p:blipFill>
        <p:spPr>
          <a:xfrm>
            <a:off x="274320" y="268573"/>
            <a:ext cx="4419600" cy="6325969"/>
          </a:xfrm>
        </p:spPr>
      </p:pic>
      <p:sp>
        <p:nvSpPr>
          <p:cNvPr id="5" name="TextBox 4">
            <a:extLst>
              <a:ext uri="{FF2B5EF4-FFF2-40B4-BE49-F238E27FC236}">
                <a16:creationId xmlns:a16="http://schemas.microsoft.com/office/drawing/2014/main" id="{DB6BEBAE-92E1-4BD5-B8E8-C74014248AE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93920" y="1066800"/>
            <a:ext cx="7345680" cy="571500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Standardized Data Definitions</a:t>
            </a:r>
          </a:p>
          <a:p>
            <a:pPr marL="0" lvl="1" indent="0">
              <a:spcBef>
                <a:spcPts val="1000"/>
              </a:spcBef>
              <a:spcAft>
                <a:spcPts val="600"/>
              </a:spcAft>
              <a:buFont typeface="Arial" panose="020B0604020202020204" pitchFamily="34" charset="0"/>
              <a:buNone/>
            </a:pPr>
            <a:r>
              <a:rPr lang="en-US" dirty="0"/>
              <a:t>Establish shared dictionaries for data definitions, metrics, and naming conventions to ensure report consistency.</a:t>
            </a:r>
          </a:p>
          <a:p>
            <a:pPr marL="0" indent="0">
              <a:spcBef>
                <a:spcPts val="2500"/>
              </a:spcBef>
              <a:spcAft>
                <a:spcPts val="600"/>
              </a:spcAft>
              <a:buFont typeface="Arial" panose="020B0604020202020204" pitchFamily="34" charset="0"/>
              <a:buNone/>
            </a:pPr>
            <a:r>
              <a:rPr lang="en-US" b="1" dirty="0"/>
              <a:t>Version Control Practices</a:t>
            </a:r>
          </a:p>
          <a:p>
            <a:pPr marL="0" lvl="1" indent="0">
              <a:spcBef>
                <a:spcPts val="1000"/>
              </a:spcBef>
              <a:spcAft>
                <a:spcPts val="600"/>
              </a:spcAft>
              <a:buFont typeface="Arial" panose="020B0604020202020204" pitchFamily="34" charset="0"/>
              <a:buNone/>
            </a:pPr>
            <a:r>
              <a:rPr lang="en-US" dirty="0"/>
              <a:t>Use controlled repositories like SharePoint or OneDrive to avoid outdated or conflicting Excel files.</a:t>
            </a:r>
          </a:p>
          <a:p>
            <a:pPr marL="0" indent="0">
              <a:spcBef>
                <a:spcPts val="2500"/>
              </a:spcBef>
              <a:spcAft>
                <a:spcPts val="600"/>
              </a:spcAft>
              <a:buFont typeface="Arial" panose="020B0604020202020204" pitchFamily="34" charset="0"/>
              <a:buNone/>
            </a:pPr>
            <a:r>
              <a:rPr lang="en-US" b="1" dirty="0"/>
              <a:t>Automated Refresh Policies</a:t>
            </a:r>
          </a:p>
          <a:p>
            <a:pPr marL="0" lvl="1" indent="0">
              <a:spcBef>
                <a:spcPts val="1000"/>
              </a:spcBef>
              <a:spcAft>
                <a:spcPts val="600"/>
              </a:spcAft>
              <a:buFont typeface="Arial" panose="020B0604020202020204" pitchFamily="34" charset="0"/>
              <a:buNone/>
            </a:pPr>
            <a:r>
              <a:rPr lang="en-US" dirty="0"/>
              <a:t>Implement scheduled and automated refresh in Power BI to reduce manual updates and human error.</a:t>
            </a:r>
          </a:p>
          <a:p>
            <a:pPr marL="0" indent="0">
              <a:spcBef>
                <a:spcPts val="2500"/>
              </a:spcBef>
              <a:spcAft>
                <a:spcPts val="600"/>
              </a:spcAft>
              <a:buFont typeface="Arial" panose="020B0604020202020204" pitchFamily="34" charset="0"/>
              <a:buNone/>
            </a:pPr>
            <a:r>
              <a:rPr lang="en-US" b="1" dirty="0"/>
              <a:t>Access Controls and Documentation</a:t>
            </a:r>
          </a:p>
          <a:p>
            <a:pPr marL="0" lvl="1" indent="0">
              <a:spcBef>
                <a:spcPts val="1000"/>
              </a:spcBef>
              <a:spcAft>
                <a:spcPts val="600"/>
              </a:spcAft>
              <a:buFont typeface="Arial" panose="020B0604020202020204" pitchFamily="34" charset="0"/>
              <a:buNone/>
            </a:pPr>
            <a:r>
              <a:rPr lang="en-US" dirty="0"/>
              <a:t>Apply role-based permissions and document transformation steps to ensure auditability and secure data management.</a:t>
            </a:r>
          </a:p>
        </p:txBody>
      </p:sp>
    </p:spTree>
    <p:extLst>
      <p:ext uri="{BB962C8B-B14F-4D97-AF65-F5344CB8AC3E}">
        <p14:creationId xmlns:p14="http://schemas.microsoft.com/office/powerpoint/2010/main" val="3099750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25D9-F16A-1D71-50DE-65CB2E01A8EA}"/>
              </a:ext>
            </a:extLst>
          </p:cNvPr>
          <p:cNvSpPr>
            <a:spLocks noGrp="1"/>
          </p:cNvSpPr>
          <p:nvPr>
            <p:ph type="title"/>
          </p:nvPr>
        </p:nvSpPr>
        <p:spPr>
          <a:xfrm>
            <a:off x="157729" y="3200400"/>
            <a:ext cx="9002895" cy="3582184"/>
          </a:xfrm>
        </p:spPr>
        <p:txBody>
          <a:bodyPr anchor="b">
            <a:normAutofit/>
          </a:bodyPr>
          <a:lstStyle/>
          <a:p>
            <a:r>
              <a:rPr lang="en-US" sz="6400"/>
              <a:t>Business Scenarios Where Excel and Power BI Excel Together</a:t>
            </a:r>
          </a:p>
        </p:txBody>
      </p:sp>
    </p:spTree>
    <p:extLst>
      <p:ext uri="{BB962C8B-B14F-4D97-AF65-F5344CB8AC3E}">
        <p14:creationId xmlns:p14="http://schemas.microsoft.com/office/powerpoint/2010/main" val="4247153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6CA6-9DD7-076D-B05B-B192939C7461}"/>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Use cases that benefit most from combined usage</a:t>
            </a:r>
          </a:p>
        </p:txBody>
      </p:sp>
      <p:sp>
        <p:nvSpPr>
          <p:cNvPr id="5" name="TextBox 4">
            <a:extLst>
              <a:ext uri="{FF2B5EF4-FFF2-40B4-BE49-F238E27FC236}">
                <a16:creationId xmlns:a16="http://schemas.microsoft.com/office/drawing/2014/main" id="{F9386A80-DDC7-49BF-A813-6A32709D020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8"/>
            <a:ext cx="7208520" cy="5553471"/>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Financial Planning and Analysis</a:t>
            </a:r>
          </a:p>
          <a:p>
            <a:pPr marL="0" lvl="1" indent="0">
              <a:spcBef>
                <a:spcPts val="1000"/>
              </a:spcBef>
              <a:spcAft>
                <a:spcPts val="600"/>
              </a:spcAft>
              <a:buFont typeface="Arial" panose="020B0604020202020204" pitchFamily="34" charset="0"/>
              <a:buNone/>
            </a:pPr>
            <a:r>
              <a:rPr lang="en-US" dirty="0"/>
              <a:t>Excel is used for budgeting, forecasting, and modeling, while Power BI creates executive dashboards.</a:t>
            </a:r>
          </a:p>
          <a:p>
            <a:pPr marL="0" indent="0">
              <a:spcBef>
                <a:spcPts val="2500"/>
              </a:spcBef>
              <a:spcAft>
                <a:spcPts val="600"/>
              </a:spcAft>
              <a:buFont typeface="Arial" panose="020B0604020202020204" pitchFamily="34" charset="0"/>
              <a:buNone/>
            </a:pPr>
            <a:r>
              <a:rPr lang="en-US" b="1" dirty="0"/>
              <a:t>Supply Chain and Operations</a:t>
            </a:r>
          </a:p>
          <a:p>
            <a:pPr marL="0" lvl="1" indent="0">
              <a:spcBef>
                <a:spcPts val="1000"/>
              </a:spcBef>
              <a:spcAft>
                <a:spcPts val="600"/>
              </a:spcAft>
              <a:buFont typeface="Arial" panose="020B0604020202020204" pitchFamily="34" charset="0"/>
              <a:buNone/>
            </a:pPr>
            <a:r>
              <a:rPr lang="en-US" dirty="0"/>
              <a:t>Excel enables detailed planning and exception analysis; Power BI provides real-time inventory and performance insights.</a:t>
            </a:r>
          </a:p>
          <a:p>
            <a:pPr marL="0" indent="0">
              <a:spcBef>
                <a:spcPts val="2500"/>
              </a:spcBef>
              <a:spcAft>
                <a:spcPts val="600"/>
              </a:spcAft>
              <a:buFont typeface="Arial" panose="020B0604020202020204" pitchFamily="34" charset="0"/>
              <a:buNone/>
            </a:pPr>
            <a:r>
              <a:rPr lang="en-US" b="1" dirty="0"/>
              <a:t>Healthcare Data Management</a:t>
            </a:r>
          </a:p>
          <a:p>
            <a:pPr marL="0" lvl="1" indent="0">
              <a:spcBef>
                <a:spcPts val="1000"/>
              </a:spcBef>
              <a:spcAft>
                <a:spcPts val="600"/>
              </a:spcAft>
              <a:buFont typeface="Arial" panose="020B0604020202020204" pitchFamily="34" charset="0"/>
              <a:buNone/>
            </a:pPr>
            <a:r>
              <a:rPr lang="en-US" dirty="0"/>
              <a:t>Excel handles data validation and calculations; Power BI delivers interactive patient outcome dashboards.</a:t>
            </a:r>
          </a:p>
          <a:p>
            <a:pPr marL="0" indent="0">
              <a:spcBef>
                <a:spcPts val="2500"/>
              </a:spcBef>
              <a:spcAft>
                <a:spcPts val="600"/>
              </a:spcAft>
              <a:buFont typeface="Arial" panose="020B0604020202020204" pitchFamily="34" charset="0"/>
              <a:buNone/>
            </a:pPr>
            <a:r>
              <a:rPr lang="en-US" b="1" dirty="0"/>
              <a:t>Retail and Sales Analysis</a:t>
            </a:r>
          </a:p>
          <a:p>
            <a:pPr marL="0" lvl="1" indent="0">
              <a:spcBef>
                <a:spcPts val="1000"/>
              </a:spcBef>
              <a:spcAft>
                <a:spcPts val="600"/>
              </a:spcAft>
              <a:buFont typeface="Arial" panose="020B0604020202020204" pitchFamily="34" charset="0"/>
              <a:buNone/>
            </a:pPr>
            <a:r>
              <a:rPr lang="en-US" dirty="0"/>
              <a:t>Excel analyzes historical data and scenarios; Power BI monitors trends and key performance indicators.</a:t>
            </a:r>
          </a:p>
        </p:txBody>
      </p:sp>
      <p:pic>
        <p:nvPicPr>
          <p:cNvPr id="4" name="Content Placeholder 3" descr="An anonymous businessman reading business report on a laptop computer and document while sitting at desk in the office.">
            <a:extLst>
              <a:ext uri="{FF2B5EF4-FFF2-40B4-BE49-F238E27FC236}">
                <a16:creationId xmlns:a16="http://schemas.microsoft.com/office/drawing/2014/main" id="{5BE19D62-855F-4667-95D5-B0380121A61C}"/>
              </a:ext>
            </a:extLst>
          </p:cNvPr>
          <p:cNvPicPr>
            <a:picLocks noGrp="1" noChangeAspect="1"/>
          </p:cNvPicPr>
          <p:nvPr>
            <p:ph type="pic" sz="quarter" idx="13"/>
          </p:nvPr>
        </p:nvPicPr>
        <p:blipFill>
          <a:blip r:embed="rId4"/>
          <a:srcRect l="37298" r="16058" b="2"/>
          <a:stretch>
            <a:fillRect/>
          </a:stretch>
        </p:blipFill>
        <p:spPr>
          <a:xfrm>
            <a:off x="7505700" y="266700"/>
            <a:ext cx="4419600" cy="6324600"/>
          </a:xfrm>
        </p:spPr>
      </p:pic>
    </p:spTree>
    <p:extLst>
      <p:ext uri="{BB962C8B-B14F-4D97-AF65-F5344CB8AC3E}">
        <p14:creationId xmlns:p14="http://schemas.microsoft.com/office/powerpoint/2010/main" val="1949805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2C3D-F687-6528-33BD-49C2EF9DF29D}"/>
              </a:ext>
            </a:extLst>
          </p:cNvPr>
          <p:cNvSpPr>
            <a:spLocks noGrp="1"/>
          </p:cNvSpPr>
          <p:nvPr>
            <p:ph type="title"/>
          </p:nvPr>
        </p:nvSpPr>
        <p:spPr>
          <a:xfrm>
            <a:off x="157729" y="3200400"/>
            <a:ext cx="9002895" cy="3582184"/>
          </a:xfrm>
        </p:spPr>
        <p:txBody>
          <a:bodyPr anchor="b">
            <a:normAutofit/>
          </a:bodyPr>
          <a:lstStyle/>
          <a:p>
            <a:r>
              <a:rPr lang="en-US"/>
              <a:t>Industry Examples</a:t>
            </a:r>
          </a:p>
        </p:txBody>
      </p:sp>
    </p:spTree>
    <p:extLst>
      <p:ext uri="{BB962C8B-B14F-4D97-AF65-F5344CB8AC3E}">
        <p14:creationId xmlns:p14="http://schemas.microsoft.com/office/powerpoint/2010/main" val="457884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9000">
              <a:srgbClr val="FFC000"/>
            </a:gs>
            <a:gs pos="59500">
              <a:srgbClr val="92D050"/>
            </a:gs>
            <a:gs pos="100000">
              <a:srgbClr val="00B05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E267-EA27-4885-8751-583D233B1205}"/>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Finance, healthcare, retail, and manufacturing analytics</a:t>
            </a:r>
          </a:p>
        </p:txBody>
      </p:sp>
      <p:pic>
        <p:nvPicPr>
          <p:cNvPr id="4" name="Content Placeholder 3" descr="http://teekid.com/istockphoto/banner/banner3.jpg">
            <a:extLst>
              <a:ext uri="{FF2B5EF4-FFF2-40B4-BE49-F238E27FC236}">
                <a16:creationId xmlns:a16="http://schemas.microsoft.com/office/drawing/2014/main" id="{911A55AB-B91D-4080-9121-66D24077A418}"/>
              </a:ext>
            </a:extLst>
          </p:cNvPr>
          <p:cNvPicPr>
            <a:picLocks noGrp="1" noChangeAspect="1"/>
          </p:cNvPicPr>
          <p:nvPr>
            <p:ph type="pic" sz="quarter" idx="13"/>
          </p:nvPr>
        </p:nvPicPr>
        <p:blipFill>
          <a:blip r:embed="rId3"/>
          <a:srcRect l="24401" r="5735"/>
          <a:stretch>
            <a:fillRect/>
          </a:stretch>
        </p:blipFill>
        <p:spPr>
          <a:xfrm>
            <a:off x="274320" y="268573"/>
            <a:ext cx="4419600" cy="6325969"/>
          </a:xfrm>
        </p:spPr>
      </p:pic>
      <p:sp>
        <p:nvSpPr>
          <p:cNvPr id="5" name="TextBox 4">
            <a:extLst>
              <a:ext uri="{FF2B5EF4-FFF2-40B4-BE49-F238E27FC236}">
                <a16:creationId xmlns:a16="http://schemas.microsoft.com/office/drawing/2014/main" id="{313CCF3B-A6AA-414D-917B-92E26A0B668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7120074" cy="5496338"/>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Finance Analytics</a:t>
            </a:r>
          </a:p>
          <a:p>
            <a:pPr marL="0" lvl="1" indent="0">
              <a:spcBef>
                <a:spcPts val="1000"/>
              </a:spcBef>
              <a:spcAft>
                <a:spcPts val="600"/>
              </a:spcAft>
              <a:buFont typeface="Arial" panose="020B0604020202020204" pitchFamily="34" charset="0"/>
              <a:buNone/>
            </a:pPr>
            <a:r>
              <a:rPr lang="en-US" dirty="0"/>
              <a:t>Excel is used for financial models and scenario analysis; Power BI provides KPI dashboards and variance analysis for leadership.</a:t>
            </a:r>
          </a:p>
          <a:p>
            <a:pPr marL="0" indent="0">
              <a:spcBef>
                <a:spcPts val="2500"/>
              </a:spcBef>
              <a:spcAft>
                <a:spcPts val="600"/>
              </a:spcAft>
              <a:buFont typeface="Arial" panose="020B0604020202020204" pitchFamily="34" charset="0"/>
              <a:buNone/>
            </a:pPr>
            <a:r>
              <a:rPr lang="en-US" b="1" dirty="0"/>
              <a:t>Healthcare Analytics</a:t>
            </a:r>
          </a:p>
          <a:p>
            <a:pPr marL="0" lvl="1" indent="0">
              <a:spcBef>
                <a:spcPts val="1000"/>
              </a:spcBef>
              <a:spcAft>
                <a:spcPts val="600"/>
              </a:spcAft>
              <a:buFont typeface="Arial" panose="020B0604020202020204" pitchFamily="34" charset="0"/>
              <a:buNone/>
            </a:pPr>
            <a:r>
              <a:rPr lang="en-US" dirty="0"/>
              <a:t>Excel manages structured data entry and validation; Power BI visualizes patient metrics and operational efficiency.</a:t>
            </a:r>
          </a:p>
          <a:p>
            <a:pPr marL="0" indent="0">
              <a:spcBef>
                <a:spcPts val="2500"/>
              </a:spcBef>
              <a:spcAft>
                <a:spcPts val="600"/>
              </a:spcAft>
              <a:buFont typeface="Arial" panose="020B0604020202020204" pitchFamily="34" charset="0"/>
              <a:buNone/>
            </a:pPr>
            <a:r>
              <a:rPr lang="en-US" b="1" dirty="0"/>
              <a:t>Retail Analytics</a:t>
            </a:r>
          </a:p>
          <a:p>
            <a:pPr marL="0" lvl="1" indent="0">
              <a:spcBef>
                <a:spcPts val="1000"/>
              </a:spcBef>
              <a:spcAft>
                <a:spcPts val="600"/>
              </a:spcAft>
              <a:buFont typeface="Arial" panose="020B0604020202020204" pitchFamily="34" charset="0"/>
              <a:buNone/>
            </a:pPr>
            <a:r>
              <a:rPr lang="en-US" dirty="0"/>
              <a:t>Excel supports sales analysis and demand planning; Power BI tracks product performance and customer behavior.</a:t>
            </a:r>
          </a:p>
          <a:p>
            <a:pPr marL="0" indent="0">
              <a:spcBef>
                <a:spcPts val="2500"/>
              </a:spcBef>
              <a:spcAft>
                <a:spcPts val="600"/>
              </a:spcAft>
              <a:buFont typeface="Arial" panose="020B0604020202020204" pitchFamily="34" charset="0"/>
              <a:buNone/>
            </a:pPr>
            <a:r>
              <a:rPr lang="en-US" b="1" dirty="0"/>
              <a:t>Manufacturing Analytics</a:t>
            </a:r>
          </a:p>
          <a:p>
            <a:pPr marL="0" lvl="1" indent="0">
              <a:spcBef>
                <a:spcPts val="1000"/>
              </a:spcBef>
              <a:spcAft>
                <a:spcPts val="600"/>
              </a:spcAft>
              <a:buFont typeface="Arial" panose="020B0604020202020204" pitchFamily="34" charset="0"/>
              <a:buNone/>
            </a:pPr>
            <a:r>
              <a:rPr lang="en-US" dirty="0"/>
              <a:t>Excel logs quality control and production plans; Power BI monitors efficiency, downtime, and yield across plants.</a:t>
            </a:r>
          </a:p>
        </p:txBody>
      </p:sp>
    </p:spTree>
    <p:extLst>
      <p:ext uri="{BB962C8B-B14F-4D97-AF65-F5344CB8AC3E}">
        <p14:creationId xmlns:p14="http://schemas.microsoft.com/office/powerpoint/2010/main" val="363911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5EC95-68FA-B86A-3B05-014EC21C99B0}"/>
              </a:ext>
            </a:extLst>
          </p:cNvPr>
          <p:cNvSpPr>
            <a:spLocks noGrp="1"/>
          </p:cNvSpPr>
          <p:nvPr>
            <p:ph type="title"/>
          </p:nvPr>
        </p:nvSpPr>
        <p:spPr>
          <a:xfrm>
            <a:off x="157729" y="3200400"/>
            <a:ext cx="9002895" cy="3582184"/>
          </a:xfrm>
        </p:spPr>
        <p:txBody>
          <a:bodyPr anchor="b">
            <a:normAutofit/>
          </a:bodyPr>
          <a:lstStyle/>
          <a:p>
            <a:r>
              <a:rPr lang="en-US"/>
              <a:t>Training and Transitioning Excel Users to Power BI</a:t>
            </a:r>
          </a:p>
        </p:txBody>
      </p:sp>
    </p:spTree>
    <p:extLst>
      <p:ext uri="{BB962C8B-B14F-4D97-AF65-F5344CB8AC3E}">
        <p14:creationId xmlns:p14="http://schemas.microsoft.com/office/powerpoint/2010/main" val="23286566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7589B-C9A0-6CAB-ABDB-4D83A6DDD1F2}"/>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Strategies for effective user adoption</a:t>
            </a:r>
          </a:p>
        </p:txBody>
      </p:sp>
      <p:pic>
        <p:nvPicPr>
          <p:cNvPr id="4" name="Content Placeholder 3" descr="The man pointing at laptop screen and talking to woman">
            <a:extLst>
              <a:ext uri="{FF2B5EF4-FFF2-40B4-BE49-F238E27FC236}">
                <a16:creationId xmlns:a16="http://schemas.microsoft.com/office/drawing/2014/main" id="{CDE0E03C-6223-43BE-B1F9-8352FF702695}"/>
              </a:ext>
            </a:extLst>
          </p:cNvPr>
          <p:cNvPicPr>
            <a:picLocks noGrp="1" noChangeAspect="1"/>
          </p:cNvPicPr>
          <p:nvPr>
            <p:ph type="pic" sz="quarter" idx="13"/>
          </p:nvPr>
        </p:nvPicPr>
        <p:blipFill>
          <a:blip r:embed="rId4"/>
          <a:srcRect l="24616" r="28750" b="1"/>
          <a:stretch>
            <a:fillRect/>
          </a:stretch>
        </p:blipFill>
        <p:spPr>
          <a:xfrm>
            <a:off x="274320" y="268573"/>
            <a:ext cx="4419600" cy="6325969"/>
          </a:xfrm>
        </p:spPr>
      </p:pic>
      <p:sp>
        <p:nvSpPr>
          <p:cNvPr id="5" name="TextBox 4">
            <a:extLst>
              <a:ext uri="{FF2B5EF4-FFF2-40B4-BE49-F238E27FC236}">
                <a16:creationId xmlns:a16="http://schemas.microsoft.com/office/drawing/2014/main" id="{80929D28-C574-4F34-B087-01E7B9D1FD5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93920" y="762000"/>
            <a:ext cx="7345680" cy="594360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b="1" dirty="0"/>
              <a:t>Role-Based Training</a:t>
            </a:r>
          </a:p>
          <a:p>
            <a:pPr marL="0" lvl="1" indent="0">
              <a:spcBef>
                <a:spcPts val="1000"/>
              </a:spcBef>
              <a:spcAft>
                <a:spcPts val="600"/>
              </a:spcAft>
              <a:buFont typeface="Arial" panose="020B0604020202020204" pitchFamily="34" charset="0"/>
              <a:buNone/>
            </a:pPr>
            <a:r>
              <a:rPr lang="en-US" dirty="0"/>
              <a:t>Provide training tailored to user roles linking Power BI features to familiar Excel tasks for smoother transition.</a:t>
            </a:r>
          </a:p>
          <a:p>
            <a:pPr marL="0" indent="0">
              <a:spcBef>
                <a:spcPts val="2500"/>
              </a:spcBef>
              <a:spcAft>
                <a:spcPts val="600"/>
              </a:spcAft>
              <a:buFont typeface="Arial" panose="020B0604020202020204" pitchFamily="34" charset="0"/>
              <a:buNone/>
            </a:pPr>
            <a:r>
              <a:rPr lang="en-US" b="1" dirty="0"/>
              <a:t>Hands-On Workshops</a:t>
            </a:r>
          </a:p>
          <a:p>
            <a:pPr marL="0" lvl="1" indent="0">
              <a:spcBef>
                <a:spcPts val="1000"/>
              </a:spcBef>
              <a:spcAft>
                <a:spcPts val="600"/>
              </a:spcAft>
              <a:buFont typeface="Arial" panose="020B0604020202020204" pitchFamily="34" charset="0"/>
              <a:buNone/>
            </a:pPr>
            <a:r>
              <a:rPr lang="en-US" dirty="0"/>
              <a:t>Use familiar datasets in workshops to reduce resistance and boost user confidence with Power BI skills.</a:t>
            </a:r>
          </a:p>
          <a:p>
            <a:pPr marL="0" indent="0">
              <a:spcBef>
                <a:spcPts val="2500"/>
              </a:spcBef>
              <a:spcAft>
                <a:spcPts val="600"/>
              </a:spcAft>
              <a:buFont typeface="Arial" panose="020B0604020202020204" pitchFamily="34" charset="0"/>
              <a:buNone/>
            </a:pPr>
            <a:r>
              <a:rPr lang="en-US" b="1" dirty="0"/>
              <a:t>Mentorship and Communities</a:t>
            </a:r>
          </a:p>
          <a:p>
            <a:pPr marL="0" lvl="1" indent="0">
              <a:spcBef>
                <a:spcPts val="1000"/>
              </a:spcBef>
              <a:spcAft>
                <a:spcPts val="600"/>
              </a:spcAft>
              <a:buFont typeface="Arial" panose="020B0604020202020204" pitchFamily="34" charset="0"/>
              <a:buNone/>
            </a:pPr>
            <a:r>
              <a:rPr lang="en-US" dirty="0"/>
              <a:t>Establish mentorship programs and communities of practice to encourage ongoing learning and knowledge sharing.</a:t>
            </a:r>
          </a:p>
          <a:p>
            <a:pPr marL="0" indent="0">
              <a:spcBef>
                <a:spcPts val="2500"/>
              </a:spcBef>
              <a:spcAft>
                <a:spcPts val="600"/>
              </a:spcAft>
              <a:buFont typeface="Arial" panose="020B0604020202020204" pitchFamily="34" charset="0"/>
              <a:buNone/>
            </a:pPr>
            <a:r>
              <a:rPr lang="en-US" b="1" dirty="0"/>
              <a:t>Highlighting Quick Wins</a:t>
            </a:r>
          </a:p>
          <a:p>
            <a:pPr marL="0" lvl="1" indent="0">
              <a:spcBef>
                <a:spcPts val="1000"/>
              </a:spcBef>
              <a:spcAft>
                <a:spcPts val="600"/>
              </a:spcAft>
              <a:buFont typeface="Arial" panose="020B0604020202020204" pitchFamily="34" charset="0"/>
              <a:buNone/>
            </a:pPr>
            <a:r>
              <a:rPr lang="en-US" dirty="0"/>
              <a:t>Showcase tangible benefits like automated refreshes and interactive dashboards to encourage adoption.</a:t>
            </a:r>
          </a:p>
        </p:txBody>
      </p:sp>
    </p:spTree>
    <p:extLst>
      <p:ext uri="{BB962C8B-B14F-4D97-AF65-F5344CB8AC3E}">
        <p14:creationId xmlns:p14="http://schemas.microsoft.com/office/powerpoint/2010/main" val="4112817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88DF1-BEEF-F87E-1FE8-BF5058FBF8F1}"/>
              </a:ext>
            </a:extLst>
          </p:cNvPr>
          <p:cNvSpPr>
            <a:spLocks noGrp="1"/>
          </p:cNvSpPr>
          <p:nvPr>
            <p:ph type="title"/>
          </p:nvPr>
        </p:nvSpPr>
        <p:spPr>
          <a:xfrm>
            <a:off x="157729" y="3200400"/>
            <a:ext cx="9002895" cy="3582184"/>
          </a:xfrm>
        </p:spPr>
        <p:txBody>
          <a:bodyPr anchor="b">
            <a:normAutofit/>
          </a:bodyPr>
          <a:lstStyle/>
          <a:p>
            <a:r>
              <a:rPr lang="en-US"/>
              <a:t>Streamlining Analysis and Improving Collaboration</a:t>
            </a:r>
          </a:p>
        </p:txBody>
      </p:sp>
    </p:spTree>
    <p:extLst>
      <p:ext uri="{BB962C8B-B14F-4D97-AF65-F5344CB8AC3E}">
        <p14:creationId xmlns:p14="http://schemas.microsoft.com/office/powerpoint/2010/main" val="2368518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1795-9768-6AEE-801E-BA2F3832A2EB}"/>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Collaboration benefits of Excel and Power BI integration</a:t>
            </a:r>
          </a:p>
        </p:txBody>
      </p:sp>
      <p:sp>
        <p:nvSpPr>
          <p:cNvPr id="5" name="TextBox 4">
            <a:extLst>
              <a:ext uri="{FF2B5EF4-FFF2-40B4-BE49-F238E27FC236}">
                <a16:creationId xmlns:a16="http://schemas.microsoft.com/office/drawing/2014/main" id="{A649B0F6-6AAA-445E-8ABB-4398D52C57A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1905000"/>
            <a:ext cx="4545696" cy="4366818"/>
          </a:xfrm>
          <a:prstGeom prst="rect">
            <a:avLst/>
          </a:prstGeom>
        </p:spPr>
        <p:txBody>
          <a:bodyPr>
            <a:noAutofit/>
          </a:bodyPr>
          <a:lstStyle/>
          <a:p>
            <a:pPr marL="0" indent="0">
              <a:lnSpc>
                <a:spcPct val="90000"/>
              </a:lnSpc>
              <a:spcBef>
                <a:spcPts val="2500"/>
              </a:spcBef>
              <a:spcAft>
                <a:spcPts val="600"/>
              </a:spcAft>
              <a:buNone/>
            </a:pPr>
            <a:r>
              <a:rPr lang="en-US" sz="1400" b="1" dirty="0"/>
              <a:t>Centralized Data Consistency</a:t>
            </a:r>
          </a:p>
          <a:p>
            <a:pPr marL="0" lvl="1" indent="0">
              <a:lnSpc>
                <a:spcPct val="90000"/>
              </a:lnSpc>
              <a:spcBef>
                <a:spcPts val="1000"/>
              </a:spcBef>
              <a:spcAft>
                <a:spcPts val="600"/>
              </a:spcAft>
              <a:buNone/>
            </a:pPr>
            <a:r>
              <a:rPr lang="en-US" sz="1400" dirty="0"/>
              <a:t>Power BI datasets centralize data, reducing duplication and ensuring consistent information for all teams.</a:t>
            </a:r>
          </a:p>
          <a:p>
            <a:pPr marL="0" indent="0">
              <a:lnSpc>
                <a:spcPct val="90000"/>
              </a:lnSpc>
              <a:spcBef>
                <a:spcPts val="2500"/>
              </a:spcBef>
              <a:spcAft>
                <a:spcPts val="600"/>
              </a:spcAft>
              <a:buNone/>
            </a:pPr>
            <a:r>
              <a:rPr lang="en-US" sz="1400" b="1" dirty="0"/>
              <a:t>Shared Workspaces and Transparency</a:t>
            </a:r>
          </a:p>
          <a:p>
            <a:pPr marL="0" lvl="1" indent="0">
              <a:lnSpc>
                <a:spcPct val="90000"/>
              </a:lnSpc>
              <a:spcBef>
                <a:spcPts val="1000"/>
              </a:spcBef>
              <a:spcAft>
                <a:spcPts val="600"/>
              </a:spcAft>
              <a:buNone/>
            </a:pPr>
            <a:r>
              <a:rPr lang="en-US" sz="1400" dirty="0"/>
              <a:t>Shared dashboards and workspaces promote transparency and enable stakeholders to access insights easily.</a:t>
            </a:r>
          </a:p>
          <a:p>
            <a:pPr marL="0" indent="0">
              <a:lnSpc>
                <a:spcPct val="90000"/>
              </a:lnSpc>
              <a:spcBef>
                <a:spcPts val="2500"/>
              </a:spcBef>
              <a:spcAft>
                <a:spcPts val="600"/>
              </a:spcAft>
              <a:buNone/>
            </a:pPr>
            <a:r>
              <a:rPr lang="en-US" sz="1400" b="1" dirty="0"/>
              <a:t>Direct Excel-Power BI Connection</a:t>
            </a:r>
          </a:p>
          <a:p>
            <a:pPr marL="0" lvl="1" indent="0">
              <a:lnSpc>
                <a:spcPct val="90000"/>
              </a:lnSpc>
              <a:spcBef>
                <a:spcPts val="1000"/>
              </a:spcBef>
              <a:spcAft>
                <a:spcPts val="600"/>
              </a:spcAft>
              <a:buNone/>
            </a:pPr>
            <a:r>
              <a:rPr lang="en-US" sz="1400" dirty="0"/>
              <a:t>Excel users connect directly to Power BI datasets for detailed analysis without compromising governance.</a:t>
            </a:r>
          </a:p>
          <a:p>
            <a:pPr marL="0" indent="0">
              <a:lnSpc>
                <a:spcPct val="90000"/>
              </a:lnSpc>
              <a:spcBef>
                <a:spcPts val="2500"/>
              </a:spcBef>
              <a:spcAft>
                <a:spcPts val="600"/>
              </a:spcAft>
              <a:buNone/>
            </a:pPr>
            <a:r>
              <a:rPr lang="en-US" sz="1400" b="1" dirty="0"/>
              <a:t>Automated Refresh and Efficiency</a:t>
            </a:r>
          </a:p>
          <a:p>
            <a:pPr marL="0" lvl="1" indent="0">
              <a:lnSpc>
                <a:spcPct val="90000"/>
              </a:lnSpc>
              <a:spcBef>
                <a:spcPts val="1000"/>
              </a:spcBef>
              <a:spcAft>
                <a:spcPts val="600"/>
              </a:spcAft>
              <a:buNone/>
            </a:pPr>
            <a:r>
              <a:rPr lang="en-US" sz="1400" dirty="0"/>
              <a:t>Automated data refreshes eliminate repetitive tasks, allowing analysts to focus on strategic insights.</a:t>
            </a:r>
          </a:p>
        </p:txBody>
      </p:sp>
      <p:pic>
        <p:nvPicPr>
          <p:cNvPr id="4" name="Content Placeholder 3" descr="No People at the meeting room after the meeting.">
            <a:extLst>
              <a:ext uri="{FF2B5EF4-FFF2-40B4-BE49-F238E27FC236}">
                <a16:creationId xmlns:a16="http://schemas.microsoft.com/office/drawing/2014/main" id="{22BD6599-FFC0-4563-81BA-EC158751AD0C}"/>
              </a:ext>
            </a:extLst>
          </p:cNvPr>
          <p:cNvPicPr>
            <a:picLocks noGrp="1" noChangeAspect="1"/>
          </p:cNvPicPr>
          <p:nvPr>
            <p:ph idx="1"/>
          </p:nvPr>
        </p:nvPicPr>
        <p:blipFill>
          <a:blip r:embed="rId4"/>
          <a:srcRect l="11848" r="14816" b="1"/>
          <a:stretch>
            <a:fillRect/>
          </a:stretch>
        </p:blipFill>
        <p:spPr>
          <a:xfrm>
            <a:off x="4914900" y="218114"/>
            <a:ext cx="6688836" cy="6088068"/>
          </a:xfrm>
        </p:spPr>
      </p:pic>
    </p:spTree>
    <p:extLst>
      <p:ext uri="{BB962C8B-B14F-4D97-AF65-F5344CB8AC3E}">
        <p14:creationId xmlns:p14="http://schemas.microsoft.com/office/powerpoint/2010/main" val="4185283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A27D-DCD4-DD0E-7A45-BFD091DFF552}"/>
              </a:ext>
            </a:extLst>
          </p:cNvPr>
          <p:cNvSpPr>
            <a:spLocks noGrp="1"/>
          </p:cNvSpPr>
          <p:nvPr>
            <p:ph type="title"/>
          </p:nvPr>
        </p:nvSpPr>
        <p:spPr>
          <a:xfrm>
            <a:off x="157729" y="3200400"/>
            <a:ext cx="9002895" cy="3582184"/>
          </a:xfrm>
        </p:spPr>
        <p:txBody>
          <a:bodyPr anchor="b">
            <a:normAutofit/>
          </a:bodyPr>
          <a:lstStyle/>
          <a:p>
            <a:r>
              <a:rPr lang="en-US"/>
              <a:t>Conclusion</a:t>
            </a:r>
          </a:p>
        </p:txBody>
      </p:sp>
    </p:spTree>
    <p:extLst>
      <p:ext uri="{BB962C8B-B14F-4D97-AF65-F5344CB8AC3E}">
        <p14:creationId xmlns:p14="http://schemas.microsoft.com/office/powerpoint/2010/main" val="3716907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9000">
              <a:srgbClr val="FFC000"/>
            </a:gs>
            <a:gs pos="59500">
              <a:srgbClr val="0070C0"/>
            </a:gs>
            <a:gs pos="100000">
              <a:srgbClr val="7030A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ACDD5-E79A-D348-BE79-B5588B9EB47B}"/>
              </a:ext>
            </a:extLst>
          </p:cNvPr>
          <p:cNvSpPr>
            <a:spLocks noGrp="1"/>
          </p:cNvSpPr>
          <p:nvPr>
            <p:ph type="title"/>
          </p:nvPr>
        </p:nvSpPr>
        <p:spPr>
          <a:xfrm>
            <a:off x="182880" y="219456"/>
            <a:ext cx="10835640" cy="969264"/>
          </a:xfrm>
        </p:spPr>
        <p:txBody>
          <a:bodyPr anchor="t">
            <a:normAutofit/>
          </a:bodyPr>
          <a:lstStyle/>
          <a:p>
            <a:r>
              <a:rPr lang="en-US"/>
              <a:t>Key takeaways and business impact</a:t>
            </a:r>
          </a:p>
        </p:txBody>
      </p:sp>
      <p:graphicFrame>
        <p:nvGraphicFramePr>
          <p:cNvPr id="4" name="Content Placeholder 3">
            <a:extLst>
              <a:ext uri="{FF2B5EF4-FFF2-40B4-BE49-F238E27FC236}">
                <a16:creationId xmlns:a16="http://schemas.microsoft.com/office/drawing/2014/main" id="{8E60A354-0BD6-4C29-9052-F01E48E85C3F}"/>
              </a:ext>
            </a:extLst>
          </p:cNvPr>
          <p:cNvGraphicFramePr>
            <a:graphicFrameLocks noGrp="1"/>
          </p:cNvGraphicFramePr>
          <p:nvPr>
            <p:ph idx="1"/>
            <p:extLst>
              <p:ext uri="{D42A27DB-BD31-4B8C-83A1-F6EECF244321}">
                <p14:modId xmlns:p14="http://schemas.microsoft.com/office/powerpoint/2010/main" val="149824024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82880" y="1183206"/>
          <a:ext cx="11826240" cy="5522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3606262"/>
      </p:ext>
    </p:extLst>
  </p:cSld>
  <p:clrMapOvr>
    <a:masterClrMapping/>
  </p:clrMapOvr>
  <p:transition>
    <p:fade/>
  </p:transition>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9C16DF-FD5D-45EB-A5D0-4ED61432363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BD7DE58-0BE1-4C71-B87C-2A79B7BE4426}">
  <ds:schemaRefs>
    <ds:schemaRef ds:uri="http://schemas.microsoft.com/sharepoint/v3/contenttype/forms"/>
  </ds:schemaRefs>
</ds:datastoreItem>
</file>

<file path=customXml/itemProps3.xml><?xml version="1.0" encoding="utf-8"?>
<ds:datastoreItem xmlns:ds="http://schemas.openxmlformats.org/officeDocument/2006/customXml" ds:itemID="{8C940ACA-6755-480B-98F2-5699A89626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Dune</Template>
  <TotalTime>11</TotalTime>
  <Words>1893</Words>
  <Application>Microsoft Office PowerPoint</Application>
  <PresentationFormat>Widescreen</PresentationFormat>
  <Paragraphs>109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Neue Haas Grotesk Text Pro</vt:lpstr>
      <vt:lpstr>Dune</vt:lpstr>
      <vt:lpstr>Excel and Power BI Integration for Business Analytics</vt:lpstr>
      <vt:lpstr>Purpose and value of combining Excel and Power BI</vt:lpstr>
      <vt:lpstr>Maintaining Data Accuracy and Consistency</vt:lpstr>
      <vt:lpstr>Key considerations when moving data between Excel and Power BI</vt:lpstr>
      <vt:lpstr>Policies and Procedures to Mitigate Data Discrepancies</vt:lpstr>
      <vt:lpstr>Governance practices to reduce inconsistencies</vt:lpstr>
      <vt:lpstr>Business Scenarios Where Excel and Power BI Excel Together</vt:lpstr>
      <vt:lpstr>Use cases that benefit most from combined usage</vt:lpstr>
      <vt:lpstr>Industry Examples</vt:lpstr>
      <vt:lpstr>Finance, healthcare, retail, and manufacturing analytics</vt:lpstr>
      <vt:lpstr>Training and Transitioning Excel Users to Power BI</vt:lpstr>
      <vt:lpstr>Strategies for effective user adoption</vt:lpstr>
      <vt:lpstr>Streamlining Analysis and Improving Collaboration</vt:lpstr>
      <vt:lpstr>Collaboration benefits of Excel and Power BI integration</vt:lpstr>
      <vt:lpstr>Conclusion</vt:lpstr>
      <vt:lpstr>Key takeaways and business impact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VB-Zimmerman-Gibson, Joshua (Virginia Beach)</cp:lastModifiedBy>
  <cp:revision>5</cp:revision>
  <dcterms:created xsi:type="dcterms:W3CDTF">2025-08-21T23:11:21Z</dcterms:created>
  <dcterms:modified xsi:type="dcterms:W3CDTF">2026-03-09T21:11:12Z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