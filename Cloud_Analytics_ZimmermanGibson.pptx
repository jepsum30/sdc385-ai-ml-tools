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44D137-716E-4A44-AD45-BC92AB152733}" v="27" dt="2026-03-23T20:47:38.1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188" autoAdjust="0"/>
  </p:normalViewPr>
  <p:slideViewPr>
    <p:cSldViewPr snapToGrid="0" snapToObjects="1">
      <p:cViewPr varScale="1">
        <p:scale>
          <a:sx n="74" d="100"/>
          <a:sy n="74" d="100"/>
        </p:scale>
        <p:origin x="178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B-Zimmerman-Gibson, Joshua (Virginia Beach)" userId="d08658ba-7f2c-4f82-b12e-30c210e6c7f4" providerId="ADAL" clId="{B7577925-A160-4B5F-A00D-882CCE4A7982}"/>
    <pc:docChg chg="undo custSel modSld">
      <pc:chgData name="VB-Zimmerman-Gibson, Joshua (Virginia Beach)" userId="d08658ba-7f2c-4f82-b12e-30c210e6c7f4" providerId="ADAL" clId="{B7577925-A160-4B5F-A00D-882CCE4A7982}" dt="2026-03-23T20:47:50.932" v="90" actId="1076"/>
      <pc:docMkLst>
        <pc:docMk/>
      </pc:docMkLst>
      <pc:sldChg chg="modSp mod modNotesTx">
        <pc:chgData name="VB-Zimmerman-Gibson, Joshua (Virginia Beach)" userId="d08658ba-7f2c-4f82-b12e-30c210e6c7f4" providerId="ADAL" clId="{B7577925-A160-4B5F-A00D-882CCE4A7982}" dt="2026-03-23T20:47:38.176" v="89" actId="27636"/>
        <pc:sldMkLst>
          <pc:docMk/>
          <pc:sldMk cId="0" sldId="256"/>
        </pc:sldMkLst>
        <pc:spChg chg="mod">
          <ac:chgData name="VB-Zimmerman-Gibson, Joshua (Virginia Beach)" userId="d08658ba-7f2c-4f82-b12e-30c210e6c7f4" providerId="ADAL" clId="{B7577925-A160-4B5F-A00D-882CCE4A7982}" dt="2026-03-23T20:47:38.176" v="89" actId="27636"/>
          <ac:spMkLst>
            <pc:docMk/>
            <pc:sldMk cId="0" sldId="256"/>
            <ac:spMk id="2" creationId="{00000000-0000-0000-0000-000000000000}"/>
          </ac:spMkLst>
        </pc:spChg>
        <pc:spChg chg="mod">
          <ac:chgData name="VB-Zimmerman-Gibson, Joshua (Virginia Beach)" userId="d08658ba-7f2c-4f82-b12e-30c210e6c7f4" providerId="ADAL" clId="{B7577925-A160-4B5F-A00D-882CCE4A7982}" dt="2026-03-23T20:47:38.110" v="88"/>
          <ac:spMkLst>
            <pc:docMk/>
            <pc:sldMk cId="0" sldId="256"/>
            <ac:spMk id="3" creationId="{00000000-0000-0000-0000-000000000000}"/>
          </ac:spMkLst>
        </pc:spChg>
      </pc:sldChg>
      <pc:sldChg chg="modSp modNotesTx">
        <pc:chgData name="VB-Zimmerman-Gibson, Joshua (Virginia Beach)" userId="d08658ba-7f2c-4f82-b12e-30c210e6c7f4" providerId="ADAL" clId="{B7577925-A160-4B5F-A00D-882CCE4A7982}" dt="2026-03-23T20:47:38.110" v="88"/>
        <pc:sldMkLst>
          <pc:docMk/>
          <pc:sldMk cId="0" sldId="257"/>
        </pc:sldMkLst>
        <pc:spChg chg="mod">
          <ac:chgData name="VB-Zimmerman-Gibson, Joshua (Virginia Beach)" userId="d08658ba-7f2c-4f82-b12e-30c210e6c7f4" providerId="ADAL" clId="{B7577925-A160-4B5F-A00D-882CCE4A7982}" dt="2026-03-23T20:47:38.110" v="88"/>
          <ac:spMkLst>
            <pc:docMk/>
            <pc:sldMk cId="0" sldId="257"/>
            <ac:spMk id="2" creationId="{00000000-0000-0000-0000-000000000000}"/>
          </ac:spMkLst>
        </pc:spChg>
        <pc:spChg chg="mod">
          <ac:chgData name="VB-Zimmerman-Gibson, Joshua (Virginia Beach)" userId="d08658ba-7f2c-4f82-b12e-30c210e6c7f4" providerId="ADAL" clId="{B7577925-A160-4B5F-A00D-882CCE4A7982}" dt="2026-03-23T20:47:38.110" v="88"/>
          <ac:spMkLst>
            <pc:docMk/>
            <pc:sldMk cId="0" sldId="257"/>
            <ac:spMk id="3" creationId="{00000000-0000-0000-0000-000000000000}"/>
          </ac:spMkLst>
        </pc:spChg>
      </pc:sldChg>
      <pc:sldChg chg="modSp modNotesTx">
        <pc:chgData name="VB-Zimmerman-Gibson, Joshua (Virginia Beach)" userId="d08658ba-7f2c-4f82-b12e-30c210e6c7f4" providerId="ADAL" clId="{B7577925-A160-4B5F-A00D-882CCE4A7982}" dt="2026-03-23T20:47:38.110" v="88"/>
        <pc:sldMkLst>
          <pc:docMk/>
          <pc:sldMk cId="0" sldId="258"/>
        </pc:sldMkLst>
        <pc:spChg chg="mod">
          <ac:chgData name="VB-Zimmerman-Gibson, Joshua (Virginia Beach)" userId="d08658ba-7f2c-4f82-b12e-30c210e6c7f4" providerId="ADAL" clId="{B7577925-A160-4B5F-A00D-882CCE4A7982}" dt="2026-03-23T20:47:38.110" v="88"/>
          <ac:spMkLst>
            <pc:docMk/>
            <pc:sldMk cId="0" sldId="258"/>
            <ac:spMk id="2" creationId="{00000000-0000-0000-0000-000000000000}"/>
          </ac:spMkLst>
        </pc:spChg>
        <pc:spChg chg="mod">
          <ac:chgData name="VB-Zimmerman-Gibson, Joshua (Virginia Beach)" userId="d08658ba-7f2c-4f82-b12e-30c210e6c7f4" providerId="ADAL" clId="{B7577925-A160-4B5F-A00D-882CCE4A7982}" dt="2026-03-23T20:47:38.110" v="88"/>
          <ac:spMkLst>
            <pc:docMk/>
            <pc:sldMk cId="0" sldId="258"/>
            <ac:spMk id="3" creationId="{00000000-0000-0000-0000-000000000000}"/>
          </ac:spMkLst>
        </pc:spChg>
      </pc:sldChg>
      <pc:sldChg chg="modSp modNotesTx">
        <pc:chgData name="VB-Zimmerman-Gibson, Joshua (Virginia Beach)" userId="d08658ba-7f2c-4f82-b12e-30c210e6c7f4" providerId="ADAL" clId="{B7577925-A160-4B5F-A00D-882CCE4A7982}" dt="2026-03-23T20:47:38.110" v="88"/>
        <pc:sldMkLst>
          <pc:docMk/>
          <pc:sldMk cId="0" sldId="259"/>
        </pc:sldMkLst>
        <pc:spChg chg="mod">
          <ac:chgData name="VB-Zimmerman-Gibson, Joshua (Virginia Beach)" userId="d08658ba-7f2c-4f82-b12e-30c210e6c7f4" providerId="ADAL" clId="{B7577925-A160-4B5F-A00D-882CCE4A7982}" dt="2026-03-23T20:47:38.110" v="88"/>
          <ac:spMkLst>
            <pc:docMk/>
            <pc:sldMk cId="0" sldId="259"/>
            <ac:spMk id="2" creationId="{00000000-0000-0000-0000-000000000000}"/>
          </ac:spMkLst>
        </pc:spChg>
        <pc:spChg chg="mod">
          <ac:chgData name="VB-Zimmerman-Gibson, Joshua (Virginia Beach)" userId="d08658ba-7f2c-4f82-b12e-30c210e6c7f4" providerId="ADAL" clId="{B7577925-A160-4B5F-A00D-882CCE4A7982}" dt="2026-03-23T20:47:38.110" v="88"/>
          <ac:spMkLst>
            <pc:docMk/>
            <pc:sldMk cId="0" sldId="259"/>
            <ac:spMk id="3" creationId="{00000000-0000-0000-0000-000000000000}"/>
          </ac:spMkLst>
        </pc:spChg>
      </pc:sldChg>
      <pc:sldChg chg="modSp modNotesTx">
        <pc:chgData name="VB-Zimmerman-Gibson, Joshua (Virginia Beach)" userId="d08658ba-7f2c-4f82-b12e-30c210e6c7f4" providerId="ADAL" clId="{B7577925-A160-4B5F-A00D-882CCE4A7982}" dt="2026-03-23T20:47:38.110" v="88"/>
        <pc:sldMkLst>
          <pc:docMk/>
          <pc:sldMk cId="0" sldId="260"/>
        </pc:sldMkLst>
        <pc:spChg chg="mod">
          <ac:chgData name="VB-Zimmerman-Gibson, Joshua (Virginia Beach)" userId="d08658ba-7f2c-4f82-b12e-30c210e6c7f4" providerId="ADAL" clId="{B7577925-A160-4B5F-A00D-882CCE4A7982}" dt="2026-03-23T20:47:38.110" v="88"/>
          <ac:spMkLst>
            <pc:docMk/>
            <pc:sldMk cId="0" sldId="260"/>
            <ac:spMk id="2" creationId="{00000000-0000-0000-0000-000000000000}"/>
          </ac:spMkLst>
        </pc:spChg>
        <pc:spChg chg="mod">
          <ac:chgData name="VB-Zimmerman-Gibson, Joshua (Virginia Beach)" userId="d08658ba-7f2c-4f82-b12e-30c210e6c7f4" providerId="ADAL" clId="{B7577925-A160-4B5F-A00D-882CCE4A7982}" dt="2026-03-23T20:47:38.110" v="88"/>
          <ac:spMkLst>
            <pc:docMk/>
            <pc:sldMk cId="0" sldId="260"/>
            <ac:spMk id="3" creationId="{00000000-0000-0000-0000-000000000000}"/>
          </ac:spMkLst>
        </pc:spChg>
      </pc:sldChg>
      <pc:sldChg chg="modSp mod modNotesTx">
        <pc:chgData name="VB-Zimmerman-Gibson, Joshua (Virginia Beach)" userId="d08658ba-7f2c-4f82-b12e-30c210e6c7f4" providerId="ADAL" clId="{B7577925-A160-4B5F-A00D-882CCE4A7982}" dt="2026-03-23T20:47:38.110" v="88"/>
        <pc:sldMkLst>
          <pc:docMk/>
          <pc:sldMk cId="0" sldId="261"/>
        </pc:sldMkLst>
        <pc:spChg chg="mod">
          <ac:chgData name="VB-Zimmerman-Gibson, Joshua (Virginia Beach)" userId="d08658ba-7f2c-4f82-b12e-30c210e6c7f4" providerId="ADAL" clId="{B7577925-A160-4B5F-A00D-882CCE4A7982}" dt="2026-03-23T20:47:38.110" v="88"/>
          <ac:spMkLst>
            <pc:docMk/>
            <pc:sldMk cId="0" sldId="261"/>
            <ac:spMk id="2" creationId="{00000000-0000-0000-0000-000000000000}"/>
          </ac:spMkLst>
        </pc:spChg>
        <pc:spChg chg="mod">
          <ac:chgData name="VB-Zimmerman-Gibson, Joshua (Virginia Beach)" userId="d08658ba-7f2c-4f82-b12e-30c210e6c7f4" providerId="ADAL" clId="{B7577925-A160-4B5F-A00D-882CCE4A7982}" dt="2026-03-23T20:47:38.110" v="88"/>
          <ac:spMkLst>
            <pc:docMk/>
            <pc:sldMk cId="0" sldId="261"/>
            <ac:spMk id="3" creationId="{00000000-0000-0000-0000-000000000000}"/>
          </ac:spMkLst>
        </pc:spChg>
      </pc:sldChg>
      <pc:sldChg chg="addSp delSp modSp mod setBg delDesignElem">
        <pc:chgData name="VB-Zimmerman-Gibson, Joshua (Virginia Beach)" userId="d08658ba-7f2c-4f82-b12e-30c210e6c7f4" providerId="ADAL" clId="{B7577925-A160-4B5F-A00D-882CCE4A7982}" dt="2026-03-23T20:47:50.932" v="90" actId="1076"/>
        <pc:sldMkLst>
          <pc:docMk/>
          <pc:sldMk cId="0" sldId="262"/>
        </pc:sldMkLst>
        <pc:spChg chg="mod">
          <ac:chgData name="VB-Zimmerman-Gibson, Joshua (Virginia Beach)" userId="d08658ba-7f2c-4f82-b12e-30c210e6c7f4" providerId="ADAL" clId="{B7577925-A160-4B5F-A00D-882CCE4A7982}" dt="2026-03-23T20:43:46.429" v="69" actId="20577"/>
          <ac:spMkLst>
            <pc:docMk/>
            <pc:sldMk cId="0" sldId="262"/>
            <ac:spMk id="2" creationId="{00000000-0000-0000-0000-000000000000}"/>
          </ac:spMkLst>
        </pc:spChg>
        <pc:spChg chg="del mod">
          <ac:chgData name="VB-Zimmerman-Gibson, Joshua (Virginia Beach)" userId="d08658ba-7f2c-4f82-b12e-30c210e6c7f4" providerId="ADAL" clId="{B7577925-A160-4B5F-A00D-882CCE4A7982}" dt="2026-03-23T20:39:59.170" v="58"/>
          <ac:spMkLst>
            <pc:docMk/>
            <pc:sldMk cId="0" sldId="262"/>
            <ac:spMk id="3" creationId="{00000000-0000-0000-0000-000000000000}"/>
          </ac:spMkLst>
        </pc:spChg>
        <pc:spChg chg="add del">
          <ac:chgData name="VB-Zimmerman-Gibson, Joshua (Virginia Beach)" userId="d08658ba-7f2c-4f82-b12e-30c210e6c7f4" providerId="ADAL" clId="{B7577925-A160-4B5F-A00D-882CCE4A7982}" dt="2026-03-23T20:41:10.183" v="66" actId="26606"/>
          <ac:spMkLst>
            <pc:docMk/>
            <pc:sldMk cId="0" sldId="262"/>
            <ac:spMk id="12" creationId="{19D32F93-50AC-4C46-A5DB-291C60DDB7BD}"/>
          </ac:spMkLst>
        </pc:spChg>
        <pc:spChg chg="add del">
          <ac:chgData name="VB-Zimmerman-Gibson, Joshua (Virginia Beach)" userId="d08658ba-7f2c-4f82-b12e-30c210e6c7f4" providerId="ADAL" clId="{B7577925-A160-4B5F-A00D-882CCE4A7982}" dt="2026-03-23T20:41:10.183" v="66" actId="26606"/>
          <ac:spMkLst>
            <pc:docMk/>
            <pc:sldMk cId="0" sldId="262"/>
            <ac:spMk id="14" creationId="{827DC2C4-B485-428A-BF4A-472D2967F47F}"/>
          </ac:spMkLst>
        </pc:spChg>
        <pc:spChg chg="add del">
          <ac:chgData name="VB-Zimmerman-Gibson, Joshua (Virginia Beach)" userId="d08658ba-7f2c-4f82-b12e-30c210e6c7f4" providerId="ADAL" clId="{B7577925-A160-4B5F-A00D-882CCE4A7982}" dt="2026-03-23T20:41:10.183" v="66" actId="26606"/>
          <ac:spMkLst>
            <pc:docMk/>
            <pc:sldMk cId="0" sldId="262"/>
            <ac:spMk id="16" creationId="{EE04B5EB-F158-4507-90DD-BD23620C7CC9}"/>
          </ac:spMkLst>
        </pc:spChg>
        <pc:spChg chg="add del">
          <ac:chgData name="VB-Zimmerman-Gibson, Joshua (Virginia Beach)" userId="d08658ba-7f2c-4f82-b12e-30c210e6c7f4" providerId="ADAL" clId="{B7577925-A160-4B5F-A00D-882CCE4A7982}" dt="2026-03-23T20:47:38.110" v="88"/>
          <ac:spMkLst>
            <pc:docMk/>
            <pc:sldMk cId="0" sldId="262"/>
            <ac:spMk id="18" creationId="{924D84CD-5280-4B52-B96E-8EDAA2B20C51}"/>
          </ac:spMkLst>
        </pc:spChg>
        <pc:spChg chg="add del">
          <ac:chgData name="VB-Zimmerman-Gibson, Joshua (Virginia Beach)" userId="d08658ba-7f2c-4f82-b12e-30c210e6c7f4" providerId="ADAL" clId="{B7577925-A160-4B5F-A00D-882CCE4A7982}" dt="2026-03-23T20:47:38.110" v="88"/>
          <ac:spMkLst>
            <pc:docMk/>
            <pc:sldMk cId="0" sldId="262"/>
            <ac:spMk id="19" creationId="{3E65D517-46E4-8037-A63D-629DE1253A89}"/>
          </ac:spMkLst>
        </pc:spChg>
        <pc:graphicFrameChg chg="add mod">
          <ac:chgData name="VB-Zimmerman-Gibson, Joshua (Virginia Beach)" userId="d08658ba-7f2c-4f82-b12e-30c210e6c7f4" providerId="ADAL" clId="{B7577925-A160-4B5F-A00D-882CCE4A7982}" dt="2026-03-23T20:38:46.578" v="46"/>
          <ac:graphicFrameMkLst>
            <pc:docMk/>
            <pc:sldMk cId="0" sldId="262"/>
            <ac:graphicFrameMk id="4" creationId="{2FE3B3C1-551C-4616-10AD-A533E44C8896}"/>
          </ac:graphicFrameMkLst>
        </pc:graphicFrameChg>
        <pc:graphicFrameChg chg="add del mod">
          <ac:chgData name="VB-Zimmerman-Gibson, Joshua (Virginia Beach)" userId="d08658ba-7f2c-4f82-b12e-30c210e6c7f4" providerId="ADAL" clId="{B7577925-A160-4B5F-A00D-882CCE4A7982}" dt="2026-03-23T20:39:02.449" v="53" actId="478"/>
          <ac:graphicFrameMkLst>
            <pc:docMk/>
            <pc:sldMk cId="0" sldId="262"/>
            <ac:graphicFrameMk id="5" creationId="{C3E81547-556A-5147-9DE4-374345F1DA93}"/>
          </ac:graphicFrameMkLst>
        </pc:graphicFrameChg>
        <pc:graphicFrameChg chg="add del mod">
          <ac:chgData name="VB-Zimmerman-Gibson, Joshua (Virginia Beach)" userId="d08658ba-7f2c-4f82-b12e-30c210e6c7f4" providerId="ADAL" clId="{B7577925-A160-4B5F-A00D-882CCE4A7982}" dt="2026-03-23T20:39:21.387" v="56" actId="478"/>
          <ac:graphicFrameMkLst>
            <pc:docMk/>
            <pc:sldMk cId="0" sldId="262"/>
            <ac:graphicFrameMk id="6" creationId="{BD008FB3-BCDC-402A-5334-46542D9613BF}"/>
          </ac:graphicFrameMkLst>
        </pc:graphicFrameChg>
        <pc:graphicFrameChg chg="add mod modGraphic">
          <ac:chgData name="VB-Zimmerman-Gibson, Joshua (Virginia Beach)" userId="d08658ba-7f2c-4f82-b12e-30c210e6c7f4" providerId="ADAL" clId="{B7577925-A160-4B5F-A00D-882CCE4A7982}" dt="2026-03-23T20:47:50.932" v="90" actId="1076"/>
          <ac:graphicFrameMkLst>
            <pc:docMk/>
            <pc:sldMk cId="0" sldId="262"/>
            <ac:graphicFrameMk id="7" creationId="{6A18EDC1-69CB-48B4-1814-10CE0B40AD2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0918C-8E3C-402B-99A9-28CDEA876240}" type="datetimeFigureOut">
              <a:rPr lang="en-US" smtClean="0"/>
              <a:t>3/23/2026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3B837-4CAD-4ACC-860B-769F50429E00}" type="slidenum">
              <a:rPr lang="en-US" smtClean="0"/>
              <a:t>‹#›</a:t>
            </a:fld>
            <a:endParaRPr lang="en-US"/>
          </a:p>
        </p:txBody>
      </p:sp>
    </p:spTree>
    <p:extLst>
      <p:ext uri="{BB962C8B-B14F-4D97-AF65-F5344CB8AC3E}">
        <p14:creationId xmlns:p14="http://schemas.microsoft.com/office/powerpoint/2010/main" val="1708811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Welcome everyone. Today we’ll be introducing how cloud computing supports data analytics. We’ll look at the three major cloud service models, IaaS, PaaS, and SaaS, and explore real-world examples of how companies use them. We’ll also discuss how the cloud makes data processing faster and more scalable than traditional on‑premises systems. By the end, you’ll understand why the cloud is such a powerful tool for modern analytics and how organizations choose the right cloud approach.</a:t>
            </a:r>
          </a:p>
          <a:p>
            <a:endParaRPr lang="en-US" dirty="0"/>
          </a:p>
        </p:txBody>
      </p:sp>
      <p:sp>
        <p:nvSpPr>
          <p:cNvPr id="4" name="Slide Number Placeholder 3"/>
          <p:cNvSpPr>
            <a:spLocks noGrp="1"/>
          </p:cNvSpPr>
          <p:nvPr>
            <p:ph type="sldNum" sz="quarter" idx="5"/>
          </p:nvPr>
        </p:nvSpPr>
        <p:spPr/>
        <p:txBody>
          <a:bodyPr/>
          <a:lstStyle/>
          <a:p>
            <a:fld id="{B4F3B837-4CAD-4ACC-860B-769F50429E00}" type="slidenum">
              <a:rPr lang="en-US" smtClean="0"/>
              <a:t>1</a:t>
            </a:fld>
            <a:endParaRPr lang="en-US"/>
          </a:p>
        </p:txBody>
      </p:sp>
    </p:spTree>
    <p:extLst>
      <p:ext uri="{BB962C8B-B14F-4D97-AF65-F5344CB8AC3E}">
        <p14:creationId xmlns:p14="http://schemas.microsoft.com/office/powerpoint/2010/main" val="333029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This slide introduces the three main cloud service models:</a:t>
            </a:r>
          </a:p>
          <a:p>
            <a:pPr fontAlgn="t"/>
            <a:r>
              <a:rPr lang="en-US" sz="1200" b="0" i="0" kern="1200" dirty="0">
                <a:solidFill>
                  <a:schemeClr val="tx1"/>
                </a:solidFill>
                <a:effectLst/>
                <a:latin typeface="+mn-lt"/>
                <a:ea typeface="+mn-ea"/>
                <a:cs typeface="+mn-cs"/>
              </a:rPr>
              <a:t>IaaS provides virtual machines, storage, and networking. It's like renting computing hardware. A real example is companies like Netflix, which uses AWS EC2 and storage services for its streaming and analytics workloads.</a:t>
            </a:r>
          </a:p>
          <a:p>
            <a:pPr fontAlgn="t"/>
            <a:r>
              <a:rPr lang="en-US" sz="1200" b="0" i="0" kern="1200" dirty="0">
                <a:solidFill>
                  <a:schemeClr val="tx1"/>
                </a:solidFill>
                <a:effectLst/>
                <a:latin typeface="+mn-lt"/>
                <a:ea typeface="+mn-ea"/>
                <a:cs typeface="+mn-cs"/>
              </a:rPr>
              <a:t>PaaS offers a managed platform to build and run applications without managing infrastructure. For example, Google BigQuery lets analysts run large SQL queries without setting up servers.</a:t>
            </a:r>
          </a:p>
          <a:p>
            <a:pPr fontAlgn="t"/>
            <a:r>
              <a:rPr lang="en-US" sz="1200" b="0" i="0" kern="1200" dirty="0">
                <a:solidFill>
                  <a:schemeClr val="tx1"/>
                </a:solidFill>
                <a:effectLst/>
                <a:latin typeface="+mn-lt"/>
                <a:ea typeface="+mn-ea"/>
                <a:cs typeface="+mn-cs"/>
              </a:rPr>
              <a:t>SaaS provides fully managed applications. Tools like Tableau Cloud or Power BI Cloud allow organizations to visualize and explore their data directly in the browser.</a:t>
            </a:r>
          </a:p>
          <a:p>
            <a:pPr fontAlgn="t"/>
            <a:r>
              <a:rPr lang="en-US" sz="1200" b="0" i="0" kern="1200" dirty="0">
                <a:solidFill>
                  <a:schemeClr val="tx1"/>
                </a:solidFill>
                <a:effectLst/>
                <a:latin typeface="+mn-lt"/>
                <a:ea typeface="+mn-ea"/>
                <a:cs typeface="+mn-cs"/>
              </a:rPr>
              <a:t>Each layer offers a different level of control and convenience.</a:t>
            </a:r>
          </a:p>
          <a:p>
            <a:endParaRPr lang="en-US" dirty="0"/>
          </a:p>
        </p:txBody>
      </p:sp>
      <p:sp>
        <p:nvSpPr>
          <p:cNvPr id="4" name="Slide Number Placeholder 3"/>
          <p:cNvSpPr>
            <a:spLocks noGrp="1"/>
          </p:cNvSpPr>
          <p:nvPr>
            <p:ph type="sldNum" sz="quarter" idx="5"/>
          </p:nvPr>
        </p:nvSpPr>
        <p:spPr/>
        <p:txBody>
          <a:bodyPr/>
          <a:lstStyle/>
          <a:p>
            <a:fld id="{B4F3B837-4CAD-4ACC-860B-769F50429E00}" type="slidenum">
              <a:rPr lang="en-US" smtClean="0"/>
              <a:t>2</a:t>
            </a:fld>
            <a:endParaRPr lang="en-US"/>
          </a:p>
        </p:txBody>
      </p:sp>
    </p:spTree>
    <p:extLst>
      <p:ext uri="{BB962C8B-B14F-4D97-AF65-F5344CB8AC3E}">
        <p14:creationId xmlns:p14="http://schemas.microsoft.com/office/powerpoint/2010/main" val="3324962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The cloud is especially valuable for large-scale analytics:</a:t>
            </a:r>
          </a:p>
          <a:p>
            <a:pPr fontAlgn="t"/>
            <a:r>
              <a:rPr lang="en-US" sz="1200" b="0" i="0" kern="1200" dirty="0">
                <a:solidFill>
                  <a:schemeClr val="tx1"/>
                </a:solidFill>
                <a:effectLst/>
                <a:latin typeface="+mn-lt"/>
                <a:ea typeface="+mn-ea"/>
                <a:cs typeface="+mn-cs"/>
              </a:rPr>
              <a:t>Cloud platforms offer scalability, meaning you can handle huge datasets without buying more hardware. For example, Netflix processes petabytes of viewer data using AWS analytics tools.</a:t>
            </a:r>
          </a:p>
          <a:p>
            <a:pPr fontAlgn="t"/>
            <a:r>
              <a:rPr lang="en-US" sz="1200" b="0" i="0" kern="1200" dirty="0">
                <a:solidFill>
                  <a:schemeClr val="tx1"/>
                </a:solidFill>
                <a:effectLst/>
                <a:latin typeface="+mn-lt"/>
                <a:ea typeface="+mn-ea"/>
                <a:cs typeface="+mn-cs"/>
              </a:rPr>
              <a:t>Companies like Walmart depend on Azure to analyze millions of retail transactions per day.</a:t>
            </a:r>
          </a:p>
          <a:p>
            <a:pPr fontAlgn="t"/>
            <a:r>
              <a:rPr lang="en-US" sz="1200" b="0" i="0" kern="1200" dirty="0">
                <a:solidFill>
                  <a:schemeClr val="tx1"/>
                </a:solidFill>
                <a:effectLst/>
                <a:latin typeface="+mn-lt"/>
                <a:ea typeface="+mn-ea"/>
                <a:cs typeface="+mn-cs"/>
              </a:rPr>
              <a:t>Cloud systems also reduce ownership costs because you only pay for what you use.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These capabilities allow organizations to generate insights faster and more efficiently compared to traditional data centers.</a:t>
            </a:r>
          </a:p>
          <a:p>
            <a:endParaRPr lang="en-US" dirty="0"/>
          </a:p>
        </p:txBody>
      </p:sp>
      <p:sp>
        <p:nvSpPr>
          <p:cNvPr id="4" name="Slide Number Placeholder 3"/>
          <p:cNvSpPr>
            <a:spLocks noGrp="1"/>
          </p:cNvSpPr>
          <p:nvPr>
            <p:ph type="sldNum" sz="quarter" idx="5"/>
          </p:nvPr>
        </p:nvSpPr>
        <p:spPr/>
        <p:txBody>
          <a:bodyPr/>
          <a:lstStyle/>
          <a:p>
            <a:fld id="{B4F3B837-4CAD-4ACC-860B-769F50429E00}" type="slidenum">
              <a:rPr lang="en-US" smtClean="0"/>
              <a:t>3</a:t>
            </a:fld>
            <a:endParaRPr lang="en-US"/>
          </a:p>
        </p:txBody>
      </p:sp>
    </p:spTree>
    <p:extLst>
      <p:ext uri="{BB962C8B-B14F-4D97-AF65-F5344CB8AC3E}">
        <p14:creationId xmlns:p14="http://schemas.microsoft.com/office/powerpoint/2010/main" val="980524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One key benefit of cloud computing is flexibility. Workload demands can change daily or seasonally:</a:t>
            </a:r>
          </a:p>
          <a:p>
            <a:pPr fontAlgn="t"/>
            <a:r>
              <a:rPr lang="en-US" sz="1200" b="0" i="0" kern="1200" dirty="0">
                <a:solidFill>
                  <a:schemeClr val="tx1"/>
                </a:solidFill>
                <a:effectLst/>
                <a:latin typeface="+mn-lt"/>
                <a:ea typeface="+mn-ea"/>
                <a:cs typeface="+mn-cs"/>
              </a:rPr>
              <a:t>Expedia scales its cloud resources up during travel peaks and down when traffic decreases, using AWS auto-scaling.</a:t>
            </a:r>
          </a:p>
          <a:p>
            <a:pPr fontAlgn="t"/>
            <a:r>
              <a:rPr lang="en-US" sz="1200" b="0" i="0" kern="1200" dirty="0">
                <a:solidFill>
                  <a:schemeClr val="tx1"/>
                </a:solidFill>
                <a:effectLst/>
                <a:latin typeface="+mn-lt"/>
                <a:ea typeface="+mn-ea"/>
                <a:cs typeface="+mn-cs"/>
              </a:rPr>
              <a:t>Services like serverless computing trigger resources automatically only when needed.</a:t>
            </a:r>
          </a:p>
          <a:p>
            <a:pPr fontAlgn="t"/>
            <a:r>
              <a:rPr lang="en-US" sz="1200" b="0" i="0" kern="1200" dirty="0">
                <a:solidFill>
                  <a:schemeClr val="tx1"/>
                </a:solidFill>
                <a:effectLst/>
                <a:latin typeface="+mn-lt"/>
                <a:ea typeface="+mn-ea"/>
                <a:cs typeface="+mn-cs"/>
              </a:rPr>
              <a:t>Spotify uses event-driven pipelines so that when many users stream songs, more analytics tasks automatically run in the background.</a:t>
            </a:r>
          </a:p>
          <a:p>
            <a:pPr fontAlgn="t"/>
            <a:r>
              <a:rPr lang="en-US" sz="1200" b="0" i="0" kern="1200" dirty="0">
                <a:solidFill>
                  <a:schemeClr val="tx1"/>
                </a:solidFill>
                <a:effectLst/>
                <a:latin typeface="+mn-lt"/>
                <a:ea typeface="+mn-ea"/>
                <a:cs typeface="+mn-cs"/>
              </a:rPr>
              <a:t>This flexibility ensures performance while reducing cost when demand is low.</a:t>
            </a:r>
          </a:p>
          <a:p>
            <a:endParaRPr lang="en-US" dirty="0"/>
          </a:p>
        </p:txBody>
      </p:sp>
      <p:sp>
        <p:nvSpPr>
          <p:cNvPr id="4" name="Slide Number Placeholder 3"/>
          <p:cNvSpPr>
            <a:spLocks noGrp="1"/>
          </p:cNvSpPr>
          <p:nvPr>
            <p:ph type="sldNum" sz="quarter" idx="5"/>
          </p:nvPr>
        </p:nvSpPr>
        <p:spPr/>
        <p:txBody>
          <a:bodyPr/>
          <a:lstStyle/>
          <a:p>
            <a:fld id="{B4F3B837-4CAD-4ACC-860B-769F50429E00}" type="slidenum">
              <a:rPr lang="en-US" smtClean="0"/>
              <a:t>4</a:t>
            </a:fld>
            <a:endParaRPr lang="en-US"/>
          </a:p>
        </p:txBody>
      </p:sp>
    </p:spTree>
    <p:extLst>
      <p:ext uri="{BB962C8B-B14F-4D97-AF65-F5344CB8AC3E}">
        <p14:creationId xmlns:p14="http://schemas.microsoft.com/office/powerpoint/2010/main" val="765558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Not every organization can move all their data to the cloud. Some need to store sensitive data on‑premises, for example, financial institutions following strict regulations.</a:t>
            </a:r>
          </a:p>
          <a:p>
            <a:pPr fontAlgn="t"/>
            <a:r>
              <a:rPr lang="en-US" sz="1200" b="0" i="0" kern="1200" dirty="0">
                <a:solidFill>
                  <a:schemeClr val="tx1"/>
                </a:solidFill>
                <a:effectLst/>
                <a:latin typeface="+mn-lt"/>
                <a:ea typeface="+mn-ea"/>
                <a:cs typeface="+mn-cs"/>
              </a:rPr>
              <a:t>A hybrid cloud blends on‑premises systems with public cloud services.</a:t>
            </a:r>
          </a:p>
          <a:p>
            <a:pPr fontAlgn="t"/>
            <a:r>
              <a:rPr lang="en-US" sz="1200" b="0" i="0" kern="1200" dirty="0">
                <a:solidFill>
                  <a:schemeClr val="tx1"/>
                </a:solidFill>
                <a:effectLst/>
                <a:latin typeface="+mn-lt"/>
                <a:ea typeface="+mn-ea"/>
                <a:cs typeface="+mn-cs"/>
              </a:rPr>
              <a:t>IBM reports that many enterprises use hybrid approaches so they can perform advanced analytics in the cloud while keeping sensitive data local.</a:t>
            </a:r>
          </a:p>
          <a:p>
            <a:pPr fontAlgn="t"/>
            <a:r>
              <a:rPr lang="en-US" sz="1200" b="0" i="0" kern="1200" dirty="0">
                <a:solidFill>
                  <a:schemeClr val="tx1"/>
                </a:solidFill>
                <a:effectLst/>
                <a:latin typeface="+mn-lt"/>
                <a:ea typeface="+mn-ea"/>
                <a:cs typeface="+mn-cs"/>
              </a:rPr>
              <a:t>Companies like General Electric integrate factory or industrial systems with Azure analytics tools.</a:t>
            </a:r>
          </a:p>
          <a:p>
            <a:pPr fontAlgn="t"/>
            <a:r>
              <a:rPr lang="en-US" sz="1200" b="0" i="0" kern="1200" dirty="0">
                <a:solidFill>
                  <a:schemeClr val="tx1"/>
                </a:solidFill>
                <a:effectLst/>
                <a:latin typeface="+mn-lt"/>
                <a:ea typeface="+mn-ea"/>
                <a:cs typeface="+mn-cs"/>
              </a:rPr>
              <a:t>Challenges include managing data consistency, latency, and security, but the flexibility often outweighs the complexity.</a:t>
            </a:r>
          </a:p>
          <a:p>
            <a:endParaRPr lang="en-US" dirty="0"/>
          </a:p>
        </p:txBody>
      </p:sp>
      <p:sp>
        <p:nvSpPr>
          <p:cNvPr id="4" name="Slide Number Placeholder 3"/>
          <p:cNvSpPr>
            <a:spLocks noGrp="1"/>
          </p:cNvSpPr>
          <p:nvPr>
            <p:ph type="sldNum" sz="quarter" idx="5"/>
          </p:nvPr>
        </p:nvSpPr>
        <p:spPr/>
        <p:txBody>
          <a:bodyPr/>
          <a:lstStyle/>
          <a:p>
            <a:fld id="{B4F3B837-4CAD-4ACC-860B-769F50429E00}" type="slidenum">
              <a:rPr lang="en-US" smtClean="0"/>
              <a:t>5</a:t>
            </a:fld>
            <a:endParaRPr lang="en-US"/>
          </a:p>
        </p:txBody>
      </p:sp>
    </p:spTree>
    <p:extLst>
      <p:ext uri="{BB962C8B-B14F-4D97-AF65-F5344CB8AC3E}">
        <p14:creationId xmlns:p14="http://schemas.microsoft.com/office/powerpoint/2010/main" val="2570129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Choosing the right cloud provider requires evaluating several factors:</a:t>
            </a:r>
          </a:p>
          <a:p>
            <a:pPr fontAlgn="t"/>
            <a:r>
              <a:rPr lang="en-US" sz="1200" b="0" i="0" kern="1200" dirty="0">
                <a:solidFill>
                  <a:schemeClr val="tx1"/>
                </a:solidFill>
                <a:effectLst/>
                <a:latin typeface="+mn-lt"/>
                <a:ea typeface="+mn-ea"/>
                <a:cs typeface="+mn-cs"/>
              </a:rPr>
              <a:t>Organizations look at security, compliance, and the range of analytics tools offered.</a:t>
            </a:r>
          </a:p>
          <a:p>
            <a:pPr fontAlgn="t"/>
            <a:r>
              <a:rPr lang="en-US" sz="1200" b="0" i="0" kern="1200" dirty="0">
                <a:solidFill>
                  <a:schemeClr val="tx1"/>
                </a:solidFill>
                <a:effectLst/>
                <a:latin typeface="+mn-lt"/>
                <a:ea typeface="+mn-ea"/>
                <a:cs typeface="+mn-cs"/>
              </a:rPr>
              <a:t>They also consider pricing models, performance guarantees, and regional availability. According to Gartner, AWS, Microsoft, and Google lead the cloud market in capabilities and reliability.</a:t>
            </a:r>
          </a:p>
          <a:p>
            <a:pPr fontAlgn="t"/>
            <a:r>
              <a:rPr lang="en-US" sz="1200" b="0" i="0" kern="1200" dirty="0">
                <a:solidFill>
                  <a:schemeClr val="tx1"/>
                </a:solidFill>
                <a:effectLst/>
                <a:latin typeface="+mn-lt"/>
                <a:ea typeface="+mn-ea"/>
                <a:cs typeface="+mn-cs"/>
              </a:rPr>
              <a:t>Real-world example: Airbnb manages its spending in AWS using dashboards that track usage and automate cost‑saving recommendations.</a:t>
            </a:r>
          </a:p>
          <a:p>
            <a:pPr fontAlgn="t"/>
            <a:r>
              <a:rPr lang="en-US" sz="1200" b="0" i="0" kern="1200" dirty="0">
                <a:solidFill>
                  <a:schemeClr val="tx1"/>
                </a:solidFill>
                <a:effectLst/>
                <a:latin typeface="+mn-lt"/>
                <a:ea typeface="+mn-ea"/>
                <a:cs typeface="+mn-cs"/>
              </a:rPr>
              <a:t>Good cost management helps companies scale confidently without overspending.</a:t>
            </a:r>
          </a:p>
          <a:p>
            <a:endParaRPr lang="en-US" dirty="0"/>
          </a:p>
        </p:txBody>
      </p:sp>
      <p:sp>
        <p:nvSpPr>
          <p:cNvPr id="4" name="Slide Number Placeholder 3"/>
          <p:cNvSpPr>
            <a:spLocks noGrp="1"/>
          </p:cNvSpPr>
          <p:nvPr>
            <p:ph type="sldNum" sz="quarter" idx="5"/>
          </p:nvPr>
        </p:nvSpPr>
        <p:spPr/>
        <p:txBody>
          <a:bodyPr/>
          <a:lstStyle/>
          <a:p>
            <a:fld id="{B4F3B837-4CAD-4ACC-860B-769F50429E00}" type="slidenum">
              <a:rPr lang="en-US" smtClean="0"/>
              <a:t>6</a:t>
            </a:fld>
            <a:endParaRPr lang="en-US"/>
          </a:p>
        </p:txBody>
      </p:sp>
    </p:spTree>
    <p:extLst>
      <p:ext uri="{BB962C8B-B14F-4D97-AF65-F5344CB8AC3E}">
        <p14:creationId xmlns:p14="http://schemas.microsoft.com/office/powerpoint/2010/main" val="1935013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final slide lists the sources used throughout the presentation. These include official documentation from AWS, Google Cloud, Microsoft, Salesforce/Tableau, IBM, and research from Gartner. Encourage students or team members to review these links if they want to explore cloud analytics tools or case studies in more depth.</a:t>
            </a:r>
          </a:p>
          <a:p>
            <a:endParaRPr lang="en-US" dirty="0"/>
          </a:p>
        </p:txBody>
      </p:sp>
      <p:sp>
        <p:nvSpPr>
          <p:cNvPr id="4" name="Slide Number Placeholder 3"/>
          <p:cNvSpPr>
            <a:spLocks noGrp="1"/>
          </p:cNvSpPr>
          <p:nvPr>
            <p:ph type="sldNum" sz="quarter" idx="5"/>
          </p:nvPr>
        </p:nvSpPr>
        <p:spPr/>
        <p:txBody>
          <a:bodyPr/>
          <a:lstStyle/>
          <a:p>
            <a:fld id="{B4F3B837-4CAD-4ACC-860B-769F50429E00}" type="slidenum">
              <a:rPr lang="en-US" smtClean="0"/>
              <a:t>7</a:t>
            </a:fld>
            <a:endParaRPr lang="en-US"/>
          </a:p>
        </p:txBody>
      </p:sp>
    </p:spTree>
    <p:extLst>
      <p:ext uri="{BB962C8B-B14F-4D97-AF65-F5344CB8AC3E}">
        <p14:creationId xmlns:p14="http://schemas.microsoft.com/office/powerpoint/2010/main" val="34817513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8" name="Picture 7" descr="Brickwork-SD-R1acrop.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3" name="Freeform 12"/>
          <p:cNvSpPr/>
          <p:nvPr/>
        </p:nvSpPr>
        <p:spPr>
          <a:xfrm>
            <a:off x="-8467" y="-16933"/>
            <a:ext cx="8754534" cy="6451600"/>
          </a:xfrm>
          <a:custGeom>
            <a:avLst/>
            <a:gdLst/>
            <a:ahLst/>
            <a:cxnLst/>
            <a:rect l="l" t="t" r="r" b="b"/>
            <a:pathLst>
              <a:path w="8754534" h="6451600">
                <a:moveTo>
                  <a:pt x="8373534" y="0"/>
                </a:moveTo>
                <a:lnTo>
                  <a:pt x="8754534" y="5994400"/>
                </a:lnTo>
                <a:lnTo>
                  <a:pt x="0" y="6451600"/>
                </a:lnTo>
                <a:lnTo>
                  <a:pt x="0" y="0"/>
                </a:lnTo>
                <a:lnTo>
                  <a:pt x="8373534" y="0"/>
                </a:lnTo>
                <a:close/>
              </a:path>
            </a:pathLst>
          </a:cu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10379" y="4445000"/>
            <a:ext cx="8464695" cy="1715811"/>
          </a:xfrm>
          <a:custGeom>
            <a:avLst/>
            <a:gdLst/>
            <a:ahLst/>
            <a:cxnLst/>
            <a:rect l="l" t="t" r="r" b="b"/>
            <a:pathLst>
              <a:path w="8428428" h="1878553">
                <a:moveTo>
                  <a:pt x="0" y="438229"/>
                </a:moveTo>
                <a:lnTo>
                  <a:pt x="8343246" y="0"/>
                </a:lnTo>
                <a:lnTo>
                  <a:pt x="8428428" y="1424838"/>
                </a:lnTo>
                <a:lnTo>
                  <a:pt x="7515" y="1878553"/>
                </a:lnTo>
                <a:lnTo>
                  <a:pt x="0" y="438229"/>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9" name="Freeform 28"/>
          <p:cNvSpPr/>
          <p:nvPr/>
        </p:nvSpPr>
        <p:spPr>
          <a:xfrm>
            <a:off x="-2864" y="0"/>
            <a:ext cx="5811235" cy="321615"/>
          </a:xfrm>
          <a:custGeom>
            <a:avLst/>
            <a:gdLst/>
            <a:ahLst/>
            <a:cxnLst/>
            <a:rect l="l" t="t" r="r" b="b"/>
            <a:pathLst>
              <a:path w="5811235" h="321615">
                <a:moveTo>
                  <a:pt x="0" y="0"/>
                </a:moveTo>
                <a:lnTo>
                  <a:pt x="5811235" y="0"/>
                </a:lnTo>
                <a:lnTo>
                  <a:pt x="1" y="321615"/>
                </a:lnTo>
                <a:cubicBezTo>
                  <a:pt x="1" y="214410"/>
                  <a:pt x="0" y="107205"/>
                  <a:pt x="0" y="0"/>
                </a:cubicBez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30" name="Freeform 29"/>
          <p:cNvSpPr/>
          <p:nvPr/>
        </p:nvSpPr>
        <p:spPr>
          <a:xfrm rot="21420000">
            <a:off x="-170768" y="213023"/>
            <a:ext cx="8480534" cy="5746008"/>
          </a:xfrm>
          <a:custGeom>
            <a:avLst/>
            <a:gdLst/>
            <a:ahLst/>
            <a:cxnLst/>
            <a:rect l="l" t="t" r="r" b="b"/>
            <a:pathLst>
              <a:path w="11307378" h="5746008">
                <a:moveTo>
                  <a:pt x="11270997" y="0"/>
                </a:moveTo>
                <a:lnTo>
                  <a:pt x="11307378" y="5746008"/>
                </a:lnTo>
                <a:lnTo>
                  <a:pt x="1" y="574313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451416" y="668338"/>
            <a:ext cx="7533524" cy="2766528"/>
          </a:xfrm>
        </p:spPr>
        <p:txBody>
          <a:bodyPr anchor="b">
            <a:normAutofit/>
          </a:bodyPr>
          <a:lstStyle>
            <a:lvl1pPr algn="r">
              <a:defRPr sz="7200"/>
            </a:lvl1pPr>
          </a:lstStyle>
          <a:p>
            <a:r>
              <a:rPr lang="en-US"/>
              <a:t>Click to edit Master title style</a:t>
            </a:r>
            <a:endParaRPr lang="en-US" dirty="0"/>
          </a:p>
        </p:txBody>
      </p:sp>
      <p:sp>
        <p:nvSpPr>
          <p:cNvPr id="3" name="Subtitle 2"/>
          <p:cNvSpPr>
            <a:spLocks noGrp="1"/>
          </p:cNvSpPr>
          <p:nvPr>
            <p:ph type="subTitle" idx="1"/>
          </p:nvPr>
        </p:nvSpPr>
        <p:spPr>
          <a:xfrm rot="21420000">
            <a:off x="554462" y="3446830"/>
            <a:ext cx="7512060" cy="550333"/>
          </a:xfrm>
        </p:spPr>
        <p:txBody>
          <a:bodyPr anchor="t">
            <a:noAutofit/>
          </a:bodyPr>
          <a:lstStyle>
            <a:lvl1pPr marL="0" indent="0" algn="r">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3669071" y="4714242"/>
            <a:ext cx="4607740" cy="942356"/>
          </a:xfrm>
        </p:spPr>
        <p:txBody>
          <a:bodyPr/>
          <a:lstStyle>
            <a:lvl1pPr algn="ctr">
              <a:defRPr sz="4200">
                <a:solidFill>
                  <a:schemeClr val="accent1">
                    <a:lumMod val="50000"/>
                  </a:schemeClr>
                </a:solidFill>
              </a:defRPr>
            </a:lvl1p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a:xfrm rot="21420000">
            <a:off x="-12134" y="4954635"/>
            <a:ext cx="2987069" cy="918361"/>
          </a:xfrm>
        </p:spPr>
        <p:txBody>
          <a:bodyPr vert="horz" lIns="91440" tIns="45720" rIns="91440" bIns="45720" rtlCol="0" anchor="ctr"/>
          <a:lstStyle>
            <a:lvl1pPr algn="r">
              <a:defRPr lang="en-US" sz="4200" dirty="0"/>
            </a:lvl1pPr>
          </a:lstStyle>
          <a:p>
            <a:endParaRPr lang="en-US"/>
          </a:p>
        </p:txBody>
      </p:sp>
      <p:sp>
        <p:nvSpPr>
          <p:cNvPr id="6" name="Slide Number Placeholder 5"/>
          <p:cNvSpPr>
            <a:spLocks noGrp="1"/>
          </p:cNvSpPr>
          <p:nvPr>
            <p:ph type="sldNum" sz="quarter" idx="12"/>
          </p:nvPr>
        </p:nvSpPr>
        <p:spPr>
          <a:xfrm rot="21420000">
            <a:off x="7401518" y="3819948"/>
            <a:ext cx="680390" cy="498470"/>
          </a:xfrm>
        </p:spPr>
        <p:txBody>
          <a:bodyPr/>
          <a:lstStyle>
            <a:lvl1pPr>
              <a:defRPr sz="2400">
                <a:solidFill>
                  <a:schemeClr val="tx1">
                    <a:lumMod val="75000"/>
                    <a:lumOff val="25000"/>
                  </a:schemeClr>
                </a:solidFill>
              </a:defRPr>
            </a:lvl1pPr>
          </a:lstStyle>
          <a:p>
            <a:fld id="{C1FF6DA9-008F-8B48-92A6-B652298478BF}" type="slidenum">
              <a:rPr lang="en-US" smtClean="0"/>
              <a:t>‹#›</a:t>
            </a:fld>
            <a:endParaRPr lang="en-US"/>
          </a:p>
        </p:txBody>
      </p:sp>
      <p:sp>
        <p:nvSpPr>
          <p:cNvPr id="33" name="5-Point Star 32"/>
          <p:cNvSpPr/>
          <p:nvPr/>
        </p:nvSpPr>
        <p:spPr>
          <a:xfrm rot="21420000">
            <a:off x="3121951" y="5057183"/>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74175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4351" y="2063396"/>
            <a:ext cx="7796030"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2746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4351" y="685801"/>
            <a:ext cx="7796030"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514351" y="3742267"/>
            <a:ext cx="7796030"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65248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514351" y="685800"/>
            <a:ext cx="779766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4350" y="2063396"/>
            <a:ext cx="3816536"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495478" y="2063396"/>
            <a:ext cx="381490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3500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514351" y="685800"/>
            <a:ext cx="7796030"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739569" y="2063396"/>
            <a:ext cx="3591317"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514352" y="2861733"/>
            <a:ext cx="3816534"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15340" y="2063396"/>
            <a:ext cx="359667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495477" y="2861733"/>
            <a:ext cx="3816535"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4795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8979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580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232" y="685800"/>
            <a:ext cx="3095145"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3784600" y="685801"/>
            <a:ext cx="4525781"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232" y="2709053"/>
            <a:ext cx="3095146"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4431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1" y="685800"/>
            <a:ext cx="440817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47740" y="1"/>
            <a:ext cx="3162641"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14351" y="2709053"/>
            <a:ext cx="440817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0568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4106333"/>
            <a:ext cx="7796031"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4351" y="685800"/>
            <a:ext cx="7794385"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14335" y="4702923"/>
            <a:ext cx="7796046"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3585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1" y="685801"/>
            <a:ext cx="7797677"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514335" y="4106333"/>
            <a:ext cx="7796047"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4041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99" y="685800"/>
            <a:ext cx="7143765"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162698" y="3610032"/>
            <a:ext cx="6500967"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14351" y="4106334"/>
            <a:ext cx="779766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0" name="TextBox 9"/>
          <p:cNvSpPr txBox="1"/>
          <p:nvPr/>
        </p:nvSpPr>
        <p:spPr>
          <a:xfrm>
            <a:off x="404280" y="88785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1" name="TextBox 10"/>
          <p:cNvSpPr txBox="1"/>
          <p:nvPr/>
        </p:nvSpPr>
        <p:spPr>
          <a:xfrm>
            <a:off x="7897147" y="290648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896835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4351" y="1723855"/>
            <a:ext cx="7796030"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514351" y="4247468"/>
            <a:ext cx="7796030"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0668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514351" y="685801"/>
            <a:ext cx="7796030"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514352" y="2063395"/>
            <a:ext cx="2482596"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14352" y="2639658"/>
            <a:ext cx="2482596"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175967" y="2063395"/>
            <a:ext cx="2482596"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175966" y="2639658"/>
            <a:ext cx="2482596"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27785" y="2063395"/>
            <a:ext cx="2482596"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27785" y="2639658"/>
            <a:ext cx="2482596"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54259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514351" y="685801"/>
            <a:ext cx="779766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518880" y="3813025"/>
            <a:ext cx="2482596"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14335" y="2063396"/>
            <a:ext cx="2482596"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18880" y="4389288"/>
            <a:ext cx="2482596"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178058" y="3813025"/>
            <a:ext cx="2482596"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176999" y="2063396"/>
            <a:ext cx="2482596"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176998" y="4389286"/>
            <a:ext cx="2483655"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26708" y="3813025"/>
            <a:ext cx="2482596"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26614" y="2063394"/>
            <a:ext cx="2482596"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826614" y="4389284"/>
            <a:ext cx="2482596"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2897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514351" y="2063396"/>
            <a:ext cx="7796030"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47110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1896" y="685801"/>
            <a:ext cx="1698485"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514351" y="685801"/>
            <a:ext cx="5928323"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16578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9659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8" name="Picture 7" descr="Brickwork-SD-R1acrop.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grpSp>
        <p:nvGrpSpPr>
          <p:cNvPr id="10" name="Group 9"/>
          <p:cNvGrpSpPr/>
          <p:nvPr/>
        </p:nvGrpSpPr>
        <p:grpSpPr>
          <a:xfrm>
            <a:off x="-19048" y="1"/>
            <a:ext cx="9004013"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grpSp>
      <p:sp>
        <p:nvSpPr>
          <p:cNvPr id="2" name="Title Placeholder 1"/>
          <p:cNvSpPr>
            <a:spLocks noGrp="1"/>
          </p:cNvSpPr>
          <p:nvPr>
            <p:ph type="title"/>
          </p:nvPr>
        </p:nvSpPr>
        <p:spPr>
          <a:xfrm>
            <a:off x="514351" y="685801"/>
            <a:ext cx="7797662" cy="11519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514351" y="2063396"/>
            <a:ext cx="7797662"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73562" y="5757334"/>
            <a:ext cx="2838450" cy="498470"/>
          </a:xfrm>
          <a:prstGeom prst="rect">
            <a:avLst/>
          </a:prstGeom>
        </p:spPr>
        <p:txBody>
          <a:bodyPr vert="horz" lIns="91440" tIns="45720" rIns="91440" bIns="45720" rtlCol="0" anchor="ctr"/>
          <a:lstStyle>
            <a:lvl1pPr algn="r">
              <a:defRPr sz="2800" cap="all" baseline="0">
                <a:solidFill>
                  <a:schemeClr val="accent1">
                    <a:lumMod val="50000"/>
                  </a:schemeClr>
                </a:solidFill>
              </a:defRPr>
            </a:lvl1pPr>
          </a:lstStyle>
          <a:p>
            <a:fld id="{5BCAD085-E8A6-8845-BD4E-CB4CCA059FC4}" type="datetimeFigureOut">
              <a:rPr lang="en-US" smtClean="0"/>
              <a:t>3/23/2026</a:t>
            </a:fld>
            <a:endParaRPr lang="en-US"/>
          </a:p>
        </p:txBody>
      </p:sp>
      <p:sp>
        <p:nvSpPr>
          <p:cNvPr id="5" name="Footer Placeholder 4"/>
          <p:cNvSpPr>
            <a:spLocks noGrp="1"/>
          </p:cNvSpPr>
          <p:nvPr>
            <p:ph type="ftr" sz="quarter" idx="3"/>
          </p:nvPr>
        </p:nvSpPr>
        <p:spPr>
          <a:xfrm>
            <a:off x="514351" y="5757334"/>
            <a:ext cx="4124789" cy="498470"/>
          </a:xfrm>
          <a:prstGeom prst="rect">
            <a:avLst/>
          </a:prstGeom>
        </p:spPr>
        <p:txBody>
          <a:bodyPr vert="horz" lIns="91440" tIns="45720" rIns="91440" bIns="45720" rtlCol="0" anchor="ctr"/>
          <a:lstStyle>
            <a:lvl1pPr algn="l">
              <a:defRPr sz="2800" cap="all" baseline="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4715341" y="5757334"/>
            <a:ext cx="680390" cy="498470"/>
          </a:xfrm>
          <a:prstGeom prst="rect">
            <a:avLst/>
          </a:prstGeom>
        </p:spPr>
        <p:txBody>
          <a:bodyPr vert="horz" lIns="91440" tIns="45720" rIns="91440" bIns="45720" rtlCol="0" anchor="ctr"/>
          <a:lstStyle>
            <a:lvl1pPr algn="ctr">
              <a:defRPr sz="2800" cap="all" baseline="0">
                <a:solidFill>
                  <a:schemeClr val="accent1">
                    <a:lumMod val="5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930839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hyperlink" Target="https://www.gartner.com/en/newsroom/press-releases/2025-08-06-gartner-says-worldwide-iaas-public-cloud-services-market-grew-22-point-5-percent-in-2024" TargetMode="External"/><Relationship Id="rId3" Type="http://schemas.openxmlformats.org/officeDocument/2006/relationships/hyperlink" Target="https://docs.aws.amazon.com/whitepapers/latest/aws-overview/introduction.html" TargetMode="External"/><Relationship Id="rId7" Type="http://schemas.openxmlformats.org/officeDocument/2006/relationships/hyperlink" Target="https://www.ibm.com/products/cloud/case-studies" TargetMode="External"/><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hyperlink" Target="https://www.salesforce.com/analytics/tableau/" TargetMode="External"/><Relationship Id="rId5" Type="http://schemas.openxmlformats.org/officeDocument/2006/relationships/hyperlink" Target="https://learn.microsoft.com/en-us/azure/" TargetMode="External"/><Relationship Id="rId4" Type="http://schemas.openxmlformats.org/officeDocument/2006/relationships/hyperlink" Target="https://docs.cloud.google.com/docs/dat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t>Cloud Service Models for Data Analytics</a:t>
            </a:r>
          </a:p>
        </p:txBody>
      </p:sp>
      <p:sp>
        <p:nvSpPr>
          <p:cNvPr id="3" name="Subtitle 2"/>
          <p:cNvSpPr>
            <a:spLocks noGrp="1"/>
          </p:cNvSpPr>
          <p:nvPr>
            <p:ph type="subTitle" idx="1"/>
          </p:nvPr>
        </p:nvSpPr>
        <p:spPr/>
        <p:txBody>
          <a:bodyPr/>
          <a:lstStyle/>
          <a:p>
            <a:r>
              <a:rPr lang="en-US" dirty="0"/>
              <a:t>By: Joshua Zimmerman-Gibson</a:t>
            </a:r>
          </a:p>
          <a:p>
            <a:r>
              <a:rPr lang="en-US" dirty="0"/>
              <a:t>3/23/2026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Cloud Service Models</a:t>
            </a:r>
          </a:p>
        </p:txBody>
      </p:sp>
      <p:sp>
        <p:nvSpPr>
          <p:cNvPr id="3" name="Content Placeholder 2"/>
          <p:cNvSpPr>
            <a:spLocks noGrp="1"/>
          </p:cNvSpPr>
          <p:nvPr>
            <p:ph idx="1"/>
          </p:nvPr>
        </p:nvSpPr>
        <p:spPr/>
        <p:txBody>
          <a:bodyPr/>
          <a:lstStyle/>
          <a:p>
            <a:r>
              <a:rPr dirty="0"/>
              <a:t>IaaS: Azure VMs or AWS EC2 used for scalable compute clusters (Microsoft, 2023).</a:t>
            </a:r>
          </a:p>
          <a:p>
            <a:r>
              <a:rPr dirty="0"/>
              <a:t>PaaS: Google BigQuery enables serverless SQL analytics (Google Cloud, 2023).</a:t>
            </a:r>
          </a:p>
          <a:p>
            <a:r>
              <a:rPr dirty="0"/>
              <a:t>SaaS: Tableau Online and Power BI Cloud for visualization (Salesforce, 2024).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Cloud Advantages</a:t>
            </a:r>
          </a:p>
        </p:txBody>
      </p:sp>
      <p:sp>
        <p:nvSpPr>
          <p:cNvPr id="3" name="Content Placeholder 2"/>
          <p:cNvSpPr>
            <a:spLocks noGrp="1"/>
          </p:cNvSpPr>
          <p:nvPr>
            <p:ph idx="1"/>
          </p:nvPr>
        </p:nvSpPr>
        <p:spPr/>
        <p:txBody>
          <a:bodyPr/>
          <a:lstStyle/>
          <a:p>
            <a:r>
              <a:t>Netflix processes petabytes of viewer analytics via AWS (Amazon Web Services, 2024).</a:t>
            </a:r>
          </a:p>
          <a:p>
            <a:r>
              <a:t>Walmart uses cloud scale to analyze millions of transactions daily (Microsoft, 2023).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Managing Fluctuating Workloads</a:t>
            </a:r>
          </a:p>
        </p:txBody>
      </p:sp>
      <p:sp>
        <p:nvSpPr>
          <p:cNvPr id="3" name="Content Placeholder 2"/>
          <p:cNvSpPr>
            <a:spLocks noGrp="1"/>
          </p:cNvSpPr>
          <p:nvPr>
            <p:ph idx="1"/>
          </p:nvPr>
        </p:nvSpPr>
        <p:spPr/>
        <p:txBody>
          <a:bodyPr/>
          <a:lstStyle/>
          <a:p>
            <a:r>
              <a:t>Expedia scales analytics workloads seasonally using AWS auto‑scaling (AWS, 2024).</a:t>
            </a:r>
          </a:p>
          <a:p>
            <a:r>
              <a:t>Spotify uses serverless pipelines for event-based analytics (Google Cloud, 2023).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Hybrid Cloud &amp; Integration</a:t>
            </a:r>
          </a:p>
        </p:txBody>
      </p:sp>
      <p:sp>
        <p:nvSpPr>
          <p:cNvPr id="3" name="Content Placeholder 2"/>
          <p:cNvSpPr>
            <a:spLocks noGrp="1"/>
          </p:cNvSpPr>
          <p:nvPr>
            <p:ph idx="1"/>
          </p:nvPr>
        </p:nvSpPr>
        <p:spPr/>
        <p:txBody>
          <a:bodyPr/>
          <a:lstStyle/>
          <a:p>
            <a:r>
              <a:t>Financial institutions use hybrid cloud to keep sensitive data on‑prem while using cloud ML tools (IBM, 2024).</a:t>
            </a:r>
          </a:p>
          <a:p>
            <a:r>
              <a:t>General Electric integrates on‑prem systems with Azure analytics (Microsoft, 2023).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Choosing Providers &amp; Managing Costs</a:t>
            </a:r>
          </a:p>
        </p:txBody>
      </p:sp>
      <p:sp>
        <p:nvSpPr>
          <p:cNvPr id="3" name="Content Placeholder 2"/>
          <p:cNvSpPr>
            <a:spLocks noGrp="1"/>
          </p:cNvSpPr>
          <p:nvPr>
            <p:ph idx="1"/>
          </p:nvPr>
        </p:nvSpPr>
        <p:spPr/>
        <p:txBody>
          <a:bodyPr/>
          <a:lstStyle/>
          <a:p>
            <a:r>
              <a:t>Factors include security, pricing, compliance, performance, and analytic tool support (Gartner, 2024).</a:t>
            </a:r>
          </a:p>
          <a:p>
            <a:r>
              <a:t>Airbnb uses cost‑monitoring dashboards to optimize AWS spending (AWS, 2024).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9214" y="276198"/>
            <a:ext cx="7858200" cy="1157242"/>
          </a:xfrm>
        </p:spPr>
        <p:txBody>
          <a:bodyPr>
            <a:normAutofit/>
          </a:bodyPr>
          <a:lstStyle/>
          <a:p>
            <a:r>
              <a:rPr lang="en-US" sz="3500" dirty="0"/>
              <a:t>References</a:t>
            </a:r>
          </a:p>
        </p:txBody>
      </p:sp>
      <p:graphicFrame>
        <p:nvGraphicFramePr>
          <p:cNvPr id="7" name="Content Placeholder 6">
            <a:extLst>
              <a:ext uri="{FF2B5EF4-FFF2-40B4-BE49-F238E27FC236}">
                <a16:creationId xmlns:a16="http://schemas.microsoft.com/office/drawing/2014/main" id="{6A18EDC1-69CB-48B4-1814-10CE0B40AD21}"/>
              </a:ext>
            </a:extLst>
          </p:cNvPr>
          <p:cNvGraphicFramePr>
            <a:graphicFrameLocks noGrp="1"/>
          </p:cNvGraphicFramePr>
          <p:nvPr>
            <p:ph idx="1"/>
            <p:extLst>
              <p:ext uri="{D42A27DB-BD31-4B8C-83A1-F6EECF244321}">
                <p14:modId xmlns:p14="http://schemas.microsoft.com/office/powerpoint/2010/main" val="1481693666"/>
              </p:ext>
            </p:extLst>
          </p:nvPr>
        </p:nvGraphicFramePr>
        <p:xfrm>
          <a:off x="872828" y="1421881"/>
          <a:ext cx="7250972" cy="4014238"/>
        </p:xfrm>
        <a:graphic>
          <a:graphicData uri="http://schemas.openxmlformats.org/drawingml/2006/table">
            <a:tbl>
              <a:tblPr firstRow="1" bandRow="1"/>
              <a:tblGrid>
                <a:gridCol w="7250972">
                  <a:extLst>
                    <a:ext uri="{9D8B030D-6E8A-4147-A177-3AD203B41FA5}">
                      <a16:colId xmlns:a16="http://schemas.microsoft.com/office/drawing/2014/main" val="1140903463"/>
                    </a:ext>
                  </a:extLst>
                </a:gridCol>
              </a:tblGrid>
              <a:tr h="634796">
                <a:tc>
                  <a:txBody>
                    <a:bodyPr/>
                    <a:lstStyle/>
                    <a:p>
                      <a:pPr marL="285750" indent="-285750" fontAlgn="t">
                        <a:lnSpc>
                          <a:spcPts val="1500"/>
                        </a:lnSpc>
                        <a:buFont typeface="Arial" panose="020B0604020202020204" pitchFamily="34" charset="0"/>
                        <a:buChar char="•"/>
                      </a:pPr>
                      <a:r>
                        <a:rPr lang="en-US" sz="1600" b="0" i="0" dirty="0">
                          <a:effectLst/>
                          <a:latin typeface="Segoe UI" panose="020B0502040204020203" pitchFamily="34" charset="0"/>
                        </a:rPr>
                        <a:t>Amazon Web Services. (2024). </a:t>
                      </a:r>
                      <a:r>
                        <a:rPr lang="en-US" sz="1600" b="0" i="1" dirty="0">
                          <a:effectLst/>
                          <a:latin typeface="Segoe UI" panose="020B0502040204020203" pitchFamily="34" charset="0"/>
                        </a:rPr>
                        <a:t>Overview of Amazon Web Services</a:t>
                      </a:r>
                      <a:r>
                        <a:rPr lang="en-US" sz="1600" b="0" i="0" dirty="0">
                          <a:effectLst/>
                          <a:latin typeface="Segoe UI" panose="020B0502040204020203" pitchFamily="34" charset="0"/>
                        </a:rPr>
                        <a:t>.</a:t>
                      </a:r>
                      <a:br>
                        <a:rPr lang="en-US" sz="1600" b="0" i="0" dirty="0">
                          <a:effectLst/>
                          <a:latin typeface="Segoe UI" panose="020B0502040204020203" pitchFamily="34" charset="0"/>
                        </a:rPr>
                      </a:br>
                      <a:r>
                        <a:rPr lang="en-US" sz="1600" b="0" i="0" dirty="0">
                          <a:effectLst/>
                          <a:latin typeface="Segoe UI" panose="020B0502040204020203" pitchFamily="34" charset="0"/>
                          <a:hlinkClick r:id="rId3"/>
                        </a:rPr>
                        <a:t>https://docs.aws.amazon.com/whitepapers/latest/aws-overview/introduction.html</a:t>
                      </a:r>
                      <a:endParaRPr lang="en-US" sz="1600" b="0" i="0" dirty="0">
                        <a:effectLst/>
                        <a:latin typeface="Segoe UI" panose="020B0502040204020203" pitchFamily="34" charset="0"/>
                      </a:endParaRPr>
                    </a:p>
                  </a:txBody>
                  <a:tcPr marL="80566" marR="80566" marT="40283" marB="40283">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480507644"/>
                  </a:ext>
                </a:extLst>
              </a:tr>
              <a:tr h="466950">
                <a:tc>
                  <a:txBody>
                    <a:bodyPr/>
                    <a:lstStyle/>
                    <a:p>
                      <a:pPr marL="285750" indent="-285750" fontAlgn="t">
                        <a:lnSpc>
                          <a:spcPts val="1500"/>
                        </a:lnSpc>
                        <a:buFont typeface="Arial" panose="020B0604020202020204" pitchFamily="34" charset="0"/>
                        <a:buChar char="•"/>
                      </a:pPr>
                      <a:r>
                        <a:rPr lang="en-US" sz="1600" b="0" i="0" dirty="0">
                          <a:effectLst/>
                          <a:latin typeface="Segoe UI" panose="020B0502040204020203" pitchFamily="34" charset="0"/>
                        </a:rPr>
                        <a:t>Google Cloud. (2023). </a:t>
                      </a:r>
                      <a:r>
                        <a:rPr lang="en-US" sz="1600" b="0" i="1" dirty="0">
                          <a:effectLst/>
                          <a:latin typeface="Segoe UI" panose="020B0502040204020203" pitchFamily="34" charset="0"/>
                        </a:rPr>
                        <a:t>Data analytics: Documentation and resources</a:t>
                      </a:r>
                      <a:r>
                        <a:rPr lang="en-US" sz="1600" b="0" i="0" dirty="0">
                          <a:effectLst/>
                          <a:latin typeface="Segoe UI" panose="020B0502040204020203" pitchFamily="34" charset="0"/>
                        </a:rPr>
                        <a:t>.</a:t>
                      </a:r>
                      <a:br>
                        <a:rPr lang="en-US" sz="1600" b="0" i="0" dirty="0">
                          <a:effectLst/>
                          <a:latin typeface="Segoe UI" panose="020B0502040204020203" pitchFamily="34" charset="0"/>
                        </a:rPr>
                      </a:br>
                      <a:r>
                        <a:rPr lang="en-US" sz="1600" b="0" i="0" dirty="0">
                          <a:effectLst/>
                          <a:latin typeface="Segoe UI" panose="020B0502040204020203" pitchFamily="34" charset="0"/>
                          <a:hlinkClick r:id="rId4"/>
                        </a:rPr>
                        <a:t>https://docs.cloud.google.com/docs/data</a:t>
                      </a:r>
                      <a:endParaRPr lang="en-US" sz="1600" b="0" i="0" dirty="0">
                        <a:effectLst/>
                        <a:latin typeface="Segoe UI" panose="020B0502040204020203" pitchFamily="34" charset="0"/>
                      </a:endParaRPr>
                    </a:p>
                  </a:txBody>
                  <a:tcPr marL="80566" marR="80566" marT="40283" marB="40283">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450403811"/>
                  </a:ext>
                </a:extLst>
              </a:tr>
              <a:tr h="466950">
                <a:tc>
                  <a:txBody>
                    <a:bodyPr/>
                    <a:lstStyle/>
                    <a:p>
                      <a:pPr marL="285750" indent="-285750" fontAlgn="t">
                        <a:lnSpc>
                          <a:spcPts val="1500"/>
                        </a:lnSpc>
                        <a:buFont typeface="Arial" panose="020B0604020202020204" pitchFamily="34" charset="0"/>
                        <a:buChar char="•"/>
                      </a:pPr>
                      <a:r>
                        <a:rPr lang="nn-NO" sz="1600" b="0" i="0" dirty="0">
                          <a:effectLst/>
                          <a:latin typeface="Segoe UI" panose="020B0502040204020203" pitchFamily="34" charset="0"/>
                        </a:rPr>
                        <a:t>Microsoft. (2023). </a:t>
                      </a:r>
                      <a:r>
                        <a:rPr lang="nn-NO" sz="1600" b="0" i="1" dirty="0">
                          <a:effectLst/>
                          <a:latin typeface="Segoe UI" panose="020B0502040204020203" pitchFamily="34" charset="0"/>
                        </a:rPr>
                        <a:t>Azure documentation</a:t>
                      </a:r>
                      <a:r>
                        <a:rPr lang="nn-NO" sz="1600" b="0" i="0" dirty="0">
                          <a:effectLst/>
                          <a:latin typeface="Segoe UI" panose="020B0502040204020203" pitchFamily="34" charset="0"/>
                        </a:rPr>
                        <a:t>.</a:t>
                      </a:r>
                      <a:br>
                        <a:rPr lang="nn-NO" sz="1600" b="0" i="0" dirty="0">
                          <a:effectLst/>
                          <a:latin typeface="Segoe UI" panose="020B0502040204020203" pitchFamily="34" charset="0"/>
                        </a:rPr>
                      </a:br>
                      <a:r>
                        <a:rPr lang="nn-NO" sz="1600" b="0" i="0" dirty="0">
                          <a:effectLst/>
                          <a:latin typeface="Segoe UI" panose="020B0502040204020203" pitchFamily="34" charset="0"/>
                          <a:hlinkClick r:id="rId5"/>
                        </a:rPr>
                        <a:t>https://learn.microsoft.com/en-us/azure/</a:t>
                      </a:r>
                      <a:endParaRPr lang="nn-NO" sz="1600" b="0" i="0" dirty="0">
                        <a:effectLst/>
                        <a:latin typeface="Segoe UI" panose="020B0502040204020203" pitchFamily="34" charset="0"/>
                      </a:endParaRPr>
                    </a:p>
                  </a:txBody>
                  <a:tcPr marL="80566" marR="80566" marT="40283" marB="40283">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939245214"/>
                  </a:ext>
                </a:extLst>
              </a:tr>
              <a:tr h="466950">
                <a:tc>
                  <a:txBody>
                    <a:bodyPr/>
                    <a:lstStyle/>
                    <a:p>
                      <a:pPr marL="285750" indent="-285750" fontAlgn="t">
                        <a:lnSpc>
                          <a:spcPts val="1500"/>
                        </a:lnSpc>
                        <a:buFont typeface="Arial" panose="020B0604020202020204" pitchFamily="34" charset="0"/>
                        <a:buChar char="•"/>
                      </a:pPr>
                      <a:r>
                        <a:rPr lang="en-US" sz="1600" b="0" i="0" dirty="0">
                          <a:effectLst/>
                          <a:latin typeface="Segoe UI" panose="020B0502040204020203" pitchFamily="34" charset="0"/>
                        </a:rPr>
                        <a:t>Salesforce. (2024). </a:t>
                      </a:r>
                      <a:r>
                        <a:rPr lang="en-US" sz="1600" b="0" i="1" dirty="0">
                          <a:effectLst/>
                          <a:latin typeface="Segoe UI" panose="020B0502040204020203" pitchFamily="34" charset="0"/>
                        </a:rPr>
                        <a:t>Tableau: Data visualization software</a:t>
                      </a:r>
                      <a:r>
                        <a:rPr lang="en-US" sz="1600" b="0" i="0" dirty="0">
                          <a:effectLst/>
                          <a:latin typeface="Segoe UI" panose="020B0502040204020203" pitchFamily="34" charset="0"/>
                        </a:rPr>
                        <a:t>.</a:t>
                      </a:r>
                      <a:br>
                        <a:rPr lang="en-US" sz="1600" b="0" i="0" dirty="0">
                          <a:effectLst/>
                          <a:latin typeface="Segoe UI" panose="020B0502040204020203" pitchFamily="34" charset="0"/>
                        </a:rPr>
                      </a:br>
                      <a:r>
                        <a:rPr lang="en-US" sz="1600" b="0" i="0" dirty="0">
                          <a:effectLst/>
                          <a:latin typeface="Segoe UI" panose="020B0502040204020203" pitchFamily="34" charset="0"/>
                          <a:hlinkClick r:id="rId6"/>
                        </a:rPr>
                        <a:t>https://www.salesforce.com/analytics/tableau/</a:t>
                      </a:r>
                      <a:endParaRPr lang="en-US" sz="1600" b="0" i="0" dirty="0">
                        <a:effectLst/>
                        <a:latin typeface="Segoe UI" panose="020B0502040204020203" pitchFamily="34" charset="0"/>
                      </a:endParaRPr>
                    </a:p>
                  </a:txBody>
                  <a:tcPr marL="80566" marR="80566" marT="40283" marB="40283">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420240762"/>
                  </a:ext>
                </a:extLst>
              </a:tr>
              <a:tr h="466950">
                <a:tc>
                  <a:txBody>
                    <a:bodyPr/>
                    <a:lstStyle/>
                    <a:p>
                      <a:pPr marL="285750" indent="-285750" fontAlgn="t">
                        <a:lnSpc>
                          <a:spcPts val="1500"/>
                        </a:lnSpc>
                        <a:buFont typeface="Arial" panose="020B0604020202020204" pitchFamily="34" charset="0"/>
                        <a:buChar char="•"/>
                      </a:pPr>
                      <a:r>
                        <a:rPr lang="en-US" sz="1600" b="0" i="0" dirty="0">
                          <a:effectLst/>
                          <a:latin typeface="Segoe UI" panose="020B0502040204020203" pitchFamily="34" charset="0"/>
                        </a:rPr>
                        <a:t>IBM. (2024). </a:t>
                      </a:r>
                      <a:r>
                        <a:rPr lang="en-US" sz="1600" b="0" i="1" dirty="0">
                          <a:effectLst/>
                          <a:latin typeface="Segoe UI" panose="020B0502040204020203" pitchFamily="34" charset="0"/>
                        </a:rPr>
                        <a:t>IBM Cloud case studies</a:t>
                      </a:r>
                      <a:r>
                        <a:rPr lang="en-US" sz="1600" b="0" i="0" dirty="0">
                          <a:effectLst/>
                          <a:latin typeface="Segoe UI" panose="020B0502040204020203" pitchFamily="34" charset="0"/>
                        </a:rPr>
                        <a:t>.</a:t>
                      </a:r>
                      <a:br>
                        <a:rPr lang="en-US" sz="1600" b="0" i="0" dirty="0">
                          <a:effectLst/>
                          <a:latin typeface="Segoe UI" panose="020B0502040204020203" pitchFamily="34" charset="0"/>
                        </a:rPr>
                      </a:br>
                      <a:r>
                        <a:rPr lang="en-US" sz="1600" b="0" i="0" dirty="0">
                          <a:effectLst/>
                          <a:latin typeface="Segoe UI" panose="020B0502040204020203" pitchFamily="34" charset="0"/>
                          <a:hlinkClick r:id="rId7"/>
                        </a:rPr>
                        <a:t>https://www.ibm.com/products/cloud/case-studies</a:t>
                      </a:r>
                      <a:endParaRPr lang="en-US" sz="1600" b="0" i="0" dirty="0">
                        <a:effectLst/>
                        <a:latin typeface="Segoe UI" panose="020B0502040204020203" pitchFamily="34" charset="0"/>
                      </a:endParaRPr>
                    </a:p>
                  </a:txBody>
                  <a:tcPr marL="80566" marR="80566" marT="40283" marB="40283">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437222920"/>
                  </a:ext>
                </a:extLst>
              </a:tr>
              <a:tr h="970489">
                <a:tc>
                  <a:txBody>
                    <a:bodyPr/>
                    <a:lstStyle/>
                    <a:p>
                      <a:pPr marL="285750" indent="-285750" fontAlgn="t">
                        <a:lnSpc>
                          <a:spcPts val="1500"/>
                        </a:lnSpc>
                        <a:buFont typeface="Arial" panose="020B0604020202020204" pitchFamily="34" charset="0"/>
                        <a:buChar char="•"/>
                      </a:pPr>
                      <a:r>
                        <a:rPr lang="en-US" sz="1600" b="0" i="0" dirty="0">
                          <a:effectLst/>
                          <a:latin typeface="Segoe UI" panose="020B0502040204020203" pitchFamily="34" charset="0"/>
                        </a:rPr>
                        <a:t>Gartner. (2025). </a:t>
                      </a:r>
                      <a:r>
                        <a:rPr lang="en-US" sz="1600" b="0" i="1" dirty="0">
                          <a:effectLst/>
                          <a:latin typeface="Segoe UI" panose="020B0502040204020203" pitchFamily="34" charset="0"/>
                        </a:rPr>
                        <a:t>Gartner says worldwide IaaS public cloud services market grew 22.5% in 2024</a:t>
                      </a:r>
                      <a:r>
                        <a:rPr lang="en-US" sz="1600" b="0" i="0" dirty="0">
                          <a:effectLst/>
                          <a:latin typeface="Segoe UI" panose="020B0502040204020203" pitchFamily="34" charset="0"/>
                        </a:rPr>
                        <a:t>.</a:t>
                      </a:r>
                      <a:br>
                        <a:rPr lang="en-US" sz="1600" b="0" i="0" dirty="0">
                          <a:effectLst/>
                          <a:latin typeface="Segoe UI" panose="020B0502040204020203" pitchFamily="34" charset="0"/>
                        </a:rPr>
                      </a:br>
                      <a:r>
                        <a:rPr lang="en-US" sz="1600" b="0" i="0" dirty="0">
                          <a:effectLst/>
                          <a:latin typeface="Segoe UI" panose="020B0502040204020203" pitchFamily="34" charset="0"/>
                          <a:hlinkClick r:id="rId8"/>
                        </a:rPr>
                        <a:t>https://www.gartner.com/en/newsroom/press-releases/2025-08-06-gartner-says-worldwide-iaas-public-cloud-services-market-grew-22-point-5-percent-in-2024</a:t>
                      </a:r>
                      <a:endParaRPr lang="en-US" sz="1600" b="0" i="0" dirty="0">
                        <a:effectLst/>
                        <a:latin typeface="Segoe UI" panose="020B0502040204020203" pitchFamily="34" charset="0"/>
                      </a:endParaRPr>
                    </a:p>
                  </a:txBody>
                  <a:tcPr marL="80566" marR="80566" marT="40283" marB="40283">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933485084"/>
                  </a:ext>
                </a:extLst>
              </a:tr>
              <a:tr h="402832">
                <a:tc>
                  <a:txBody>
                    <a:bodyPr/>
                    <a:lstStyle/>
                    <a:p>
                      <a:pPr marL="285750" indent="-285750">
                        <a:buFont typeface="Arial" panose="020B0604020202020204" pitchFamily="34" charset="0"/>
                        <a:buChar char="•"/>
                      </a:pPr>
                      <a:endParaRPr lang="en-US" sz="1600" dirty="0"/>
                    </a:p>
                  </a:txBody>
                  <a:tcPr marL="80566" marR="80566" marT="40283" marB="40283">
                    <a:lnT w="9525"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2967782018"/>
                  </a:ext>
                </a:extLst>
              </a:tr>
            </a:tbl>
          </a:graphicData>
        </a:graphic>
      </p:graphicFrame>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0656f6f-463c-4054-9fc2-6f4071c6e7fc}" enabled="0" method="" siteId="{50656f6f-463c-4054-9fc2-6f4071c6e7fc}" removed="1"/>
</clbl:labelList>
</file>

<file path=docProps/app.xml><?xml version="1.0" encoding="utf-8"?>
<Properties xmlns="http://schemas.openxmlformats.org/officeDocument/2006/extended-properties" xmlns:vt="http://schemas.openxmlformats.org/officeDocument/2006/docPropsVTypes">
  <Template>TM04033927[[fn=Main Event]]</Template>
  <TotalTime>14</TotalTime>
  <Words>991</Words>
  <Application>Microsoft Office PowerPoint</Application>
  <PresentationFormat>On-screen Show (4:3)</PresentationFormat>
  <Paragraphs>59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Impact</vt:lpstr>
      <vt:lpstr>Segoe UI</vt:lpstr>
      <vt:lpstr>Main Event</vt:lpstr>
      <vt:lpstr>Cloud Service Models for Data Analytics</vt:lpstr>
      <vt:lpstr>Cloud Service Models</vt:lpstr>
      <vt:lpstr>Cloud Advantages</vt:lpstr>
      <vt:lpstr>Managing Fluctuating Workloads</vt:lpstr>
      <vt:lpstr>Hybrid Cloud &amp; Integration</vt:lpstr>
      <vt:lpstr>Choosing Providers &amp; Managing Costs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VB-Zimmerman-Gibson, Joshua (Virginia Beach)</cp:lastModifiedBy>
  <cp:revision>1</cp:revision>
  <dcterms:created xsi:type="dcterms:W3CDTF">2013-01-27T09:14:16Z</dcterms:created>
  <dcterms:modified xsi:type="dcterms:W3CDTF">2026-03-23T20:47:52Z</dcterms:modified>
  <cp:category/>
</cp:coreProperties>
</file>